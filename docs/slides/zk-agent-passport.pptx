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制約数</c:v>
                </c:pt>
              </c:strCache>
            </c:strRef>
          </c:tx>
          <c:spPr>
            <a:solidFill>
              <a:srgbClr val="5257AE"/>
            </a:solidFill>
            <a:effectLst/>
          </c:spPr>
          <c:invertIfNegative val="0"/>
          <c:dLbls>
            <c:numFmt formatCode="#,##0" sourceLinked="0"/>
            <c:txPr>
              <a:bodyPr/>
              <a:lstStyle/>
              <a:p>
                <a:pPr>
                  <a:defRPr b="1" i="0" strike="noStrike" sz="1200" u="none">
                    <a:solidFill>
                      <a:srgbClr val="2B2F77"/>
                    </a:solidFill>
                    <a:latin typeface="Arial"/>
                  </a:defRPr>
                </a:pPr>
              </a:p>
            </c:txPr>
            <c:showLegendKey val="0"/>
            <c:showVal val="1"/>
            <c:showCatName val="0"/>
            <c:showSerName val="0"/>
            <c:showPercent val="0"/>
            <c:showBubbleSize val="0"/>
            <c:showLeaderLines val="0"/>
          </c:dLbls>
          <c:cat>
            <c:multiLvlStrRef>
              <c:f>Sheet1!$A$2:$A$4</c:f>
              <c:multiLvlStrCache>
                <c:ptCount val="3"/>
                <c:lvl>
                  <c:pt idx="0">
                    <c:v>閾値証明のみ</c:v>
                  </c:pt>
                  <c:pt idx="1">
                    <c:v>+ Version Policy</c:v>
                  </c:pt>
                  <c:pt idx="2">
                    <c:v>+ 証明書を隠す</c:v>
                  </c:pt>
                </c:lvl>
              </c:multiLvlStrCache>
            </c:multiLvlStrRef>
          </c:cat>
          <c:val>
            <c:numRef>
              <c:f>Sheet1!$B$2:$B$4</c:f>
              <c:numCache>
                <c:formatCode>General</c:formatCode>
                <c:ptCount val="3"/>
                <c:pt idx="0">
                  <c:v>3829</c:v>
                </c:pt>
                <c:pt idx="1">
                  <c:v>12570</c:v>
                </c:pt>
                <c:pt idx="2">
                  <c:v>28596</c:v>
                </c:pt>
              </c:numCache>
            </c:numRef>
          </c:val>
        </c:ser>
        <c:dLbls>
          <c:numFmt formatCode="#,##0" sourceLinked="0"/>
          <c:txPr>
            <a:bodyPr/>
            <a:lstStyle/>
            <a:p>
              <a:pPr>
                <a:defRPr b="1" i="0" strike="noStrike" sz="1200" u="none">
                  <a:solidFill>
                    <a:srgbClr val="2B2F7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3F63"/>
                </a:solidFill>
                <a:latin typeface="Arial"/>
              </a:defRPr>
            </a:pPr>
            <a:endParaRPr lang="en-US"/>
          </a:p>
        </c:txPr>
        <c:crossAx val="2094734552"/>
        <c:crosses val="autoZero"/>
        <c:auto val="1"/>
        <c:lblAlgn val="ctr"/>
        <c:noMultiLvlLbl val="1"/>
      </c:catAx>
      <c:valAx>
        <c:axId val="2094734552"/>
        <c:scaling>
          <c:orientation val="minMax"/>
          <c:max val="34000"/>
        </c:scaling>
        <c:delete val="0"/>
        <c:axPos val="l"/>
        <c:majorGridlines>
          <c:spPr>
            <a:ln w="12700" cap="flat">
              <a:solidFill>
                <a:srgbClr val="DFE1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6F9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制約数</c:v>
                </c:pt>
              </c:strCache>
            </c:strRef>
          </c:tx>
          <c:spPr>
            <a:solidFill>
              <a:srgbClr val="5257AE"/>
            </a:solidFill>
            <a:effectLst/>
          </c:spPr>
          <c:invertIfNegative val="0"/>
          <c:dLbls>
            <c:numFmt formatCode="#,##0" sourceLinked="0"/>
            <c:txPr>
              <a:bodyPr/>
              <a:lstStyle/>
              <a:p>
                <a:pPr>
                  <a:defRPr b="1" i="0" strike="noStrike" sz="1100" u="none">
                    <a:solidFill>
                      <a:srgbClr val="2B2F77"/>
                    </a:solidFill>
                    <a:latin typeface="Arial"/>
                  </a:defRPr>
                </a:pPr>
              </a:p>
            </c:txPr>
            <c:showLegendKey val="0"/>
            <c:showVal val="1"/>
            <c:showCatName val="0"/>
            <c:showSerName val="0"/>
            <c:showPercent val="0"/>
            <c:showBubbleSize val="0"/>
            <c:showLeaderLines val="0"/>
          </c:dLbls>
          <c:cat>
            <c:multiLvlStrRef>
              <c:f>Sheet1!$A$2:$A$9</c:f>
              <c:multiLvlStrCache>
                <c:ptCount val="8"/>
                <c:lvl>
                  <c:pt idx="0">
                    <c:v>鍵セットの選択と署名者の相異</c:v>
                  </c:pt>
                  <c:pt idx="1">
                    <c:v>32bit の比較（score・件数・期限）</c:v>
                  </c:pt>
                  <c:pt idx="2">
                    <c:v>コミットメントの開示</c:v>
                  </c:pt>
                  <c:pt idx="3">
                    <c:v>Policy のハッシュ（8 入力）</c:v>
                  </c:pt>
                  <c:pt idx="4">
                    <c:v>Manifest の開示（4 入力 × 2）</c:v>
                  </c:pt>
                  <c:pt idx="5">
                    <c:v>証明書のハッシュ（10 入力）</c:v>
                  </c:pt>
                  <c:pt idx="6">
                    <c:v>Manifest Version Policy</c:v>
                  </c:pt>
                  <c:pt idx="7">
                    <c:v>Committee の署名（EdDSA 2 本）</c:v>
                  </c:pt>
                </c:lvl>
              </c:multiLvlStrCache>
            </c:multiLvlStrRef>
          </c:cat>
          <c:val>
            <c:numRef>
              <c:f>Sheet1!$B$2:$B$9</c:f>
              <c:numCache>
                <c:formatCode>General</c:formatCode>
                <c:ptCount val="8"/>
                <c:pt idx="0">
                  <c:v>22</c:v>
                </c:pt>
                <c:pt idx="1">
                  <c:v>297</c:v>
                </c:pt>
                <c:pt idx="2">
                  <c:v>1119</c:v>
                </c:pt>
                <c:pt idx="3">
                  <c:v>1489</c:v>
                </c:pt>
                <c:pt idx="4">
                  <c:v>1490</c:v>
                </c:pt>
                <c:pt idx="5">
                  <c:v>1861</c:v>
                </c:pt>
                <c:pt idx="6">
                  <c:v>6776</c:v>
                </c:pt>
                <c:pt idx="7">
                  <c:v>15538</c:v>
                </c:pt>
              </c:numCache>
            </c:numRef>
          </c:val>
        </c:ser>
        <c:dLbls>
          <c:numFmt formatCode="#,##0" sourceLinked="0"/>
          <c:txPr>
            <a:bodyPr/>
            <a:lstStyle/>
            <a:p>
              <a:pPr>
                <a:defRPr b="1" i="0" strike="noStrike" sz="1100" u="none">
                  <a:solidFill>
                    <a:srgbClr val="2B2F7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A3F63"/>
                </a:solidFill>
                <a:latin typeface="Arial"/>
              </a:defRPr>
            </a:pPr>
            <a:endParaRPr lang="en-US"/>
          </a:p>
        </c:txPr>
        <c:crossAx val="2094734552"/>
        <c:crosses val="autoZero"/>
        <c:auto val="1"/>
        <c:lblAlgn val="ctr"/>
        <c:noMultiLvlLbl val="1"/>
      </c:catAx>
      <c:valAx>
        <c:axId val="2094734552"/>
        <c:scaling>
          <c:orientation val="minMax"/>
          <c:max val="18000"/>
        </c:scaling>
        <c:delete val="0"/>
        <c:axPos val="b"/>
        <c:majorGridlines>
          <c:spPr>
            <a:ln w="12700" cap="flat">
              <a:solidFill>
                <a:srgbClr val="DFE1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A6F9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掴み。名前を言ったら、すぐ下の 1 行をそのまま読む。『評価の中身も取引先も渡さずに、この領域で宣言した構成のまま条件を満たしていることだけを証明する』。何を作ったのかはこの 1 行で足りる。緑の 1 文は Manifest binding のキャッチで、最後にもう一度出す。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0:10-0:25 背景。まず母集団の話。旅行予約を代行する AI エージェントは今後いくらでも出てくる。予約サービスから見ると、どれに任せてよいかを決める基準がない。どれも「実績があります」と言う。手がかりになるのは他所で積んだ実績だろう、と言って次の 1 枚へ。ここは 15 秒で通す。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0:25-0:45 問題提起。左のロボットを指して、話しているのは人や代理店ではなくソフトウェアの AI エージェントだと最初に分からせる。旅行予約を代行するこの Agent が、予約サービスに来る。この Agent を信頼してよいか、という問いを立てる。ここで一度切って『しかし』と続け、サービス側の箱の 2 つを指す。自己申告は確かめられない。かといって確かめようとすると履歴を全部もらうことになり、取引先も低評価も一緒に渡ってくる。この板挟みが出発点。だから『他所で積んだ実績を検証できる形で持ち運ぶ』が要る、と言って次へ。具体的な会社名と点数はデモまで出さ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0:45-1:05 問題②。人間にはない問題。昨日と今日で名前は同じ travel-agent-01 のまま、モデルも指示もツールも権限も入れ替わっている。実績を名前に紐付けると意味を失う。かといって更新のたびに実績を捨てるのも困る、という緊張をここで作っておくと、7 枚目の Version Policy が効く。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1:05-1:30 提案。ここで初めて名前を出す。定義を 1 文で読み上げてから、3 枚のカードがそれぞれ前の 2 枚で挙げた問題への答えになっていることを指差す。3 つ目が独自点だと明言しておくと、後ろの Manifest binding のスライドが素直に入る。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1:30-1:50 開示。まず見出しの下の 1 行で「サービス」が何を指すかを言う（1 枚目の予約サービスと同じもので、次の構成図では Service（検証者））。そのうえで左右の対比を読み上げる。証明書そのものが渡らないことと、Agent 固有の値が nullifier だけであることの 2 点を強調する。デモの右パネルがちょうどこの対比になっている、と繋げる。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1:50-2:25 構成。左から順に「誰が何をするか」を追う。1 の Task Provider は取引先、つまり仕事を依頼して評価を出した会社で、デモでは Provider A・B・C の 3 社。5 の Service は 1 枚目から出ている予約サービスそのもの。ここで次のデモに出る名前を全部そろえておく。「3」が 2 回出るので、凡例の 1 行を指して区別を言う（Provider の 3 はデモの社数、Committee の 3 は回路の固定値）。Provider が署名付き Receipt を出し、Gateway が検査して評価を 3 分割、Committee が部分和から証明書を作る。Agent はそれを自分の中に持ったまま証明だけをサービスに出す。MPC の出力を ZK で開く、というのが Week 6 のスタック設計そのもの。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2:25-2:45 独自点。ここが主役。3 枚目で見せた箱と同じ図に戻ってくる。左の箱を指しながら「実績が付くのは名前ではなくこの 4 項目です」と言う。モデルを v2 にしても Policy が許していれば証明は通る、permissionScope の拡大は許可外なので Agent 側で証明を作れない、と 2 つを対にして説明する。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2:45-3:45 デモ。まず帯の 2 行を読む。上が Agent 側の実績（取引先 3 社から 5・4・5、合計 14 点）、下が予約サービス側の条件（12 点以上・3 件以上・宣言した構成のまま）。この 2 つを突き合わせるのがデモで、名前も数字も画面の表示と一致する。あとは画面のボタンを ① から ⑥ まで上から押すだけ。各ボタンが条件の設定・実行・答えの表示までやる。③④が Manifest binding の表と裏、⑥ が unlinkability、②⑤ が『暗号で解けるもの／解けないもの』の線引き。見える / 見えないの対比は「Service から何が見えるか」タブを開いて話す（そこに 14・5/4/5・取引先名と、唯一残る限界も出る）。押していたら ② と ⑤ を飛ばす。ブラウザ 1 枚・外部 CDN なしは口頭で。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3:45-4:10 数字。制約が 2 段階で増えた推移を『プライバシーの値段』として語る。55 ms なら市場の効率を損なうレベルではない、と添える。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4:10-4:30 限界。弱点としてではなく設計判断として言う。自分から先に出す。ここを誠実に出すと、質疑が Shamir・直接秘密分散・許可 Manifest 集合という先の話に進む。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4:30-4:45 締め。3 行を読み上げてからキャッチに戻る。リポジトリはそのまま leave-behind 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ここから先は本編では出さない。質疑で必要になったときだけ飛ぶ。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メンター指摘①（ステークホルダーと技術スタックを明示した構成図が欲しい）への直接の答え。本編 6 枚目より詳しい版で、④ が Service → Agent の向きであることと、各層にどの技術を使っているかまで出している。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本編からは外した 1 枚。「他の方式でよいのでは」と聞かれたら出す。署名付きでスコアを公開すれば偽装は防げる。しかし取引先も合計点も見えるし、条件が変わるたび発行元に頼み直すことになる。zkAgent Passport は、この 3 列を同時に埋めにいく。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質疑で必ず来る問い。「Committee が 12 点以上と署名すれば済むのでは」と聞かれたらこの 1 枚を出す。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『制約数の内訳は？』に即答するための 1 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信頼前提を聞かれたらこの 1 枚。自分から本編で 1 行触れてあるので、ここは詳細版。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メンター（SeiyaKobayashi さん）から 2026-08-21 に来た 3 点。3 つとも実装と計測で答えが出ている。Issue への返信自体はまだ投稿していないので、聞かれたらそのまま言う。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分の質疑はこの 5 つでほぼ埋まる。声に出して 1 回ずつ答える練習をしておく。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024"/>
        </a:solidFill>
      </p:bgPr>
    </p:bg>
    <p:spTree>
      <p:nvGrpSpPr>
        <p:cNvPr id="1" name=""/>
        <p:cNvGrpSpPr/>
        <p:nvPr/>
      </p:nvGrpSpPr>
      <p:grpSpPr>
        <a:xfrm>
          <a:off x="0" y="0"/>
          <a:ext cx="0" cy="0"/>
          <a:chOff x="0" y="0"/>
          <a:chExt cx="0" cy="0"/>
        </a:xfrm>
      </p:grpSpPr>
      <p:sp>
        <p:nvSpPr>
          <p:cNvPr id="2" name="Shape 0"/>
          <p:cNvSpPr/>
          <p:nvPr/>
        </p:nvSpPr>
        <p:spPr>
          <a:xfrm>
            <a:off x="8321040" y="1143000"/>
            <a:ext cx="4206240" cy="4206240"/>
          </a:xfrm>
          <a:prstGeom prst="ellipse">
            <a:avLst/>
          </a:prstGeom>
          <a:solidFill>
            <a:srgbClr val="0F1024"/>
          </a:solidFill>
          <a:ln w="19050">
            <a:solidFill>
              <a:srgbClr val="5257AE">
                <a:alpha val="75000"/>
              </a:srgbClr>
            </a:solidFill>
            <a:prstDash val="solid"/>
          </a:ln>
        </p:spPr>
      </p:sp>
      <p:sp>
        <p:nvSpPr>
          <p:cNvPr id="3" name="Shape 1"/>
          <p:cNvSpPr/>
          <p:nvPr/>
        </p:nvSpPr>
        <p:spPr>
          <a:xfrm>
            <a:off x="8823960" y="1645920"/>
            <a:ext cx="3200400" cy="3200400"/>
          </a:xfrm>
          <a:prstGeom prst="ellipse">
            <a:avLst/>
          </a:prstGeom>
          <a:solidFill>
            <a:srgbClr val="0F1024"/>
          </a:solidFill>
          <a:ln w="15875">
            <a:solidFill>
              <a:srgbClr val="5257AE">
                <a:alpha val="50000"/>
              </a:srgbClr>
            </a:solidFill>
            <a:prstDash val="solid"/>
          </a:ln>
        </p:spPr>
      </p:sp>
      <p:sp>
        <p:nvSpPr>
          <p:cNvPr id="4" name="Shape 2"/>
          <p:cNvSpPr/>
          <p:nvPr/>
        </p:nvSpPr>
        <p:spPr>
          <a:xfrm>
            <a:off x="9418320" y="2240280"/>
            <a:ext cx="2011680" cy="2011680"/>
          </a:xfrm>
          <a:prstGeom prst="ellipse">
            <a:avLst/>
          </a:prstGeom>
          <a:solidFill>
            <a:srgbClr val="1B1E3D"/>
          </a:solidFill>
          <a:ln w="19050">
            <a:solidFill>
              <a:srgbClr val="00875F">
                <a:alpha val="80000"/>
              </a:srgbClr>
            </a:solidFill>
            <a:prstDash val="solid"/>
          </a:ln>
        </p:spPr>
      </p:sp>
      <p:sp>
        <p:nvSpPr>
          <p:cNvPr id="5" name="Text 3"/>
          <p:cNvSpPr txBox="1"/>
          <p:nvPr/>
        </p:nvSpPr>
        <p:spPr>
          <a:xfrm>
            <a:off x="9418320" y="2240280"/>
            <a:ext cx="2011680" cy="2011680"/>
          </a:xfrm>
          <a:prstGeom prst="rect">
            <a:avLst/>
          </a:prstGeom>
          <a:noFill/>
          <a:ln/>
        </p:spPr>
        <p:txBody>
          <a:bodyPr wrap="square" lIns="0" tIns="0" rIns="0" bIns="0" rtlCol="0" anchor="ctr"/>
          <a:lstStyle/>
          <a:p>
            <a:pPr algn="ctr" indent="0" marL="0">
              <a:lnSpc>
                <a:spcPts val="1800"/>
              </a:lnSpc>
              <a:buNone/>
            </a:pPr>
            <a:r>
              <a:rPr lang="en-US" sz="1100" b="1" spc="200" kern="0" dirty="0">
                <a:solidFill>
                  <a:srgbClr val="00875F"/>
                </a:solidFill>
                <a:latin typeface="Arial" pitchFamily="34" charset="0"/>
                <a:ea typeface="Arial" pitchFamily="34" charset="-122"/>
                <a:cs typeface="Arial" pitchFamily="34" charset="-120"/>
              </a:rPr>
              <a:t>VERIFIED</a:t>
            </a:r>
            <a:endParaRPr lang="en-US" sz="1100" dirty="0"/>
          </a:p>
          <a:p>
            <a:pPr algn="ctr" indent="0" marL="0">
              <a:lnSpc>
                <a:spcPts val="1800"/>
              </a:lnSpc>
              <a:buNone/>
            </a:pPr>
            <a:r>
              <a:rPr lang="en-US" sz="1100" b="1" spc="200" kern="0" dirty="0">
                <a:solidFill>
                  <a:srgbClr val="00875F"/>
                </a:solidFill>
                <a:latin typeface="Arial" pitchFamily="34" charset="0"/>
                <a:ea typeface="Arial" pitchFamily="34" charset="-122"/>
                <a:cs typeface="Arial" pitchFamily="34" charset="-120"/>
              </a:rPr>
              <a:t>WITHOUT</a:t>
            </a:r>
            <a:endParaRPr lang="en-US" sz="1100" dirty="0"/>
          </a:p>
          <a:p>
            <a:pPr algn="ctr" indent="0" marL="0">
              <a:lnSpc>
                <a:spcPts val="1800"/>
              </a:lnSpc>
              <a:buNone/>
            </a:pPr>
            <a:r>
              <a:rPr lang="en-US" sz="1100" b="1" spc="200" kern="0" dirty="0">
                <a:solidFill>
                  <a:srgbClr val="00875F"/>
                </a:solidFill>
                <a:latin typeface="Arial" pitchFamily="34" charset="0"/>
                <a:ea typeface="Arial" pitchFamily="34" charset="-122"/>
                <a:cs typeface="Arial" pitchFamily="34" charset="-120"/>
              </a:rPr>
              <a:t>DISCLOSURE</a:t>
            </a:r>
            <a:endParaRPr lang="en-US" sz="1100" dirty="0"/>
          </a:p>
        </p:txBody>
      </p:sp>
      <p:sp>
        <p:nvSpPr>
          <p:cNvPr id="6" name="Text 4"/>
          <p:cNvSpPr txBox="1"/>
          <p:nvPr/>
        </p:nvSpPr>
        <p:spPr>
          <a:xfrm>
            <a:off x="640080" y="1417320"/>
            <a:ext cx="7406640" cy="274320"/>
          </a:xfrm>
          <a:prstGeom prst="rect">
            <a:avLst/>
          </a:prstGeom>
          <a:noFill/>
          <a:ln/>
        </p:spPr>
        <p:txBody>
          <a:bodyPr wrap="square" lIns="0" tIns="0" rIns="0" bIns="0" rtlCol="0" anchor="ctr"/>
          <a:lstStyle/>
          <a:p>
            <a:pPr indent="0" marL="0">
              <a:buNone/>
            </a:pPr>
            <a:r>
              <a:rPr lang="en-US" sz="1200" b="1" spc="200" kern="0" dirty="0">
                <a:solidFill>
                  <a:srgbClr val="5257AE"/>
                </a:solidFill>
                <a:latin typeface="Arial" pitchFamily="34" charset="0"/>
                <a:ea typeface="Arial" pitchFamily="34" charset="-122"/>
                <a:cs typeface="Arial" pitchFamily="34" charset="-120"/>
              </a:rPr>
              <a:t>zk-tokyo  Advanced Cryptography 2026  ·  最終発表</a:t>
            </a:r>
            <a:endParaRPr lang="en-US" sz="1200" dirty="0"/>
          </a:p>
        </p:txBody>
      </p:sp>
      <p:sp>
        <p:nvSpPr>
          <p:cNvPr id="7" name="Text 5"/>
          <p:cNvSpPr txBox="1"/>
          <p:nvPr/>
        </p:nvSpPr>
        <p:spPr>
          <a:xfrm>
            <a:off x="640080" y="1783080"/>
            <a:ext cx="7406640" cy="96012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zkAgent Passport</a:t>
            </a:r>
            <a:endParaRPr lang="en-US" sz="5200" dirty="0"/>
          </a:p>
        </p:txBody>
      </p:sp>
      <p:sp>
        <p:nvSpPr>
          <p:cNvPr id="8" name="Text 6"/>
          <p:cNvSpPr txBox="1"/>
          <p:nvPr/>
        </p:nvSpPr>
        <p:spPr>
          <a:xfrm>
            <a:off x="640080" y="2816352"/>
            <a:ext cx="7406640" cy="841248"/>
          </a:xfrm>
          <a:prstGeom prst="rect">
            <a:avLst/>
          </a:prstGeom>
          <a:noFill/>
          <a:ln/>
        </p:spPr>
        <p:txBody>
          <a:bodyPr wrap="square" lIns="0" tIns="0" rIns="0" bIns="0" rtlCol="0" anchor="ctr"/>
          <a:lstStyle/>
          <a:p>
            <a:pPr indent="0" marL="0">
              <a:lnSpc>
                <a:spcPts val="2800"/>
              </a:lnSpc>
              <a:buNone/>
            </a:pPr>
            <a:r>
              <a:rPr lang="en-US" sz="1700" dirty="0">
                <a:solidFill>
                  <a:srgbClr val="DFE1F1"/>
                </a:solidFill>
                <a:latin typeface="Arial" pitchFamily="34" charset="0"/>
                <a:ea typeface="Arial" pitchFamily="34" charset="-122"/>
                <a:cs typeface="Arial" pitchFamily="34" charset="-120"/>
              </a:rPr>
              <a:t>評価の中身も取引先も渡さずに、「この領域で、宣言した構成のまま、条件を満たしている」ことだけをサービスに証明する</a:t>
            </a:r>
            <a:endParaRPr lang="en-US" sz="1700" dirty="0"/>
          </a:p>
        </p:txBody>
      </p:sp>
      <p:sp>
        <p:nvSpPr>
          <p:cNvPr id="9" name="Text 7"/>
          <p:cNvSpPr txBox="1"/>
          <p:nvPr/>
        </p:nvSpPr>
        <p:spPr>
          <a:xfrm>
            <a:off x="640080" y="3840480"/>
            <a:ext cx="7406640" cy="457200"/>
          </a:xfrm>
          <a:prstGeom prst="rect">
            <a:avLst/>
          </a:prstGeom>
          <a:noFill/>
          <a:ln/>
        </p:spPr>
        <p:txBody>
          <a:bodyPr wrap="square" lIns="0" tIns="0" rIns="0" bIns="0" rtlCol="0" anchor="ctr"/>
          <a:lstStyle/>
          <a:p>
            <a:pPr indent="0" marL="0">
              <a:buNone/>
            </a:pPr>
            <a:r>
              <a:rPr lang="en-US" sz="1900" b="1" dirty="0">
                <a:solidFill>
                  <a:srgbClr val="00875F"/>
                </a:solidFill>
                <a:latin typeface="Arial" pitchFamily="34" charset="0"/>
                <a:ea typeface="Arial" pitchFamily="34" charset="-122"/>
                <a:cs typeface="Arial" pitchFamily="34" charset="-120"/>
              </a:rPr>
              <a:t>「実績はエージェントではなく、その構成に付く」</a:t>
            </a:r>
            <a:endParaRPr lang="en-US" sz="1900" dirty="0"/>
          </a:p>
        </p:txBody>
      </p:sp>
      <p:sp>
        <p:nvSpPr>
          <p:cNvPr id="10" name="Text 8"/>
          <p:cNvSpPr txBox="1"/>
          <p:nvPr/>
        </p:nvSpPr>
        <p:spPr>
          <a:xfrm>
            <a:off x="640080" y="4846320"/>
            <a:ext cx="7406640" cy="29260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Daisuke Iuchi　/　Group 3・Issue #124</a:t>
            </a:r>
            <a:endParaRPr lang="en-US" sz="1400" dirty="0"/>
          </a:p>
        </p:txBody>
      </p:sp>
      <p:sp>
        <p:nvSpPr>
          <p:cNvPr id="11" name="Text 9"/>
          <p:cNvSpPr txBox="1"/>
          <p:nvPr/>
        </p:nvSpPr>
        <p:spPr>
          <a:xfrm>
            <a:off x="640080" y="5212080"/>
            <a:ext cx="7406640" cy="292608"/>
          </a:xfrm>
          <a:prstGeom prst="rect">
            <a:avLst/>
          </a:prstGeom>
          <a:noFill/>
          <a:ln/>
        </p:spPr>
        <p:txBody>
          <a:bodyPr wrap="square" lIns="0" tIns="0" rIns="0" bIns="0" rtlCol="0" anchor="ctr"/>
          <a:lstStyle/>
          <a:p>
            <a:pPr indent="0" marL="0">
              <a:buNone/>
            </a:pPr>
            <a:r>
              <a:rPr lang="en-US" sz="1100" dirty="0">
                <a:solidFill>
                  <a:srgbClr val="6A6F93"/>
                </a:solidFill>
                <a:latin typeface="Courier New" pitchFamily="34" charset="0"/>
                <a:ea typeface="Courier New" pitchFamily="34" charset="-122"/>
                <a:cs typeface="Courier New" pitchFamily="34" charset="-120"/>
              </a:rPr>
              <a:t>github.com/da1suk8/zk-agent-passport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01 ─ 背景</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AI エージェントは山ほどある。どれに任せるか</a:t>
            </a:r>
            <a:endParaRPr lang="en-US" sz="2900" dirty="0"/>
          </a:p>
        </p:txBody>
      </p:sp>
      <p:sp>
        <p:nvSpPr>
          <p:cNvPr id="4" name="Shape 2"/>
          <p:cNvSpPr/>
          <p:nvPr/>
        </p:nvSpPr>
        <p:spPr>
          <a:xfrm>
            <a:off x="640080" y="1737360"/>
            <a:ext cx="6583680" cy="2926080"/>
          </a:xfrm>
          <a:prstGeom prst="roundRect">
            <a:avLst>
              <a:gd name="adj" fmla="val 2500"/>
            </a:avLst>
          </a:prstGeom>
          <a:solidFill>
            <a:srgbClr val="EDEEF7"/>
          </a:solidFill>
          <a:ln/>
          <a:effectLst>
            <a:outerShdw sx="100000" sy="100000" kx="0" ky="0" algn="bl" rotWithShape="0" blurRad="127000" dist="19050" dir="5400000">
              <a:srgbClr val="2B2F77">
                <a:alpha val="12000"/>
              </a:srgbClr>
            </a:outerShdw>
          </a:effectLst>
        </p:spPr>
      </p:sp>
      <p:sp>
        <p:nvSpPr>
          <p:cNvPr id="5" name="Shape 3"/>
          <p:cNvSpPr/>
          <p:nvPr/>
        </p:nvSpPr>
        <p:spPr>
          <a:xfrm>
            <a:off x="1428750" y="2011680"/>
            <a:ext cx="82296" cy="82296"/>
          </a:xfrm>
          <a:prstGeom prst="ellipse">
            <a:avLst/>
          </a:prstGeom>
          <a:solidFill>
            <a:srgbClr val="00875F"/>
          </a:solidFill>
          <a:ln/>
        </p:spPr>
      </p:sp>
      <p:sp>
        <p:nvSpPr>
          <p:cNvPr id="6" name="Shape 4"/>
          <p:cNvSpPr/>
          <p:nvPr/>
        </p:nvSpPr>
        <p:spPr>
          <a:xfrm>
            <a:off x="1458468" y="2080260"/>
            <a:ext cx="22860" cy="91440"/>
          </a:xfrm>
          <a:prstGeom prst="rect">
            <a:avLst/>
          </a:prstGeom>
          <a:solidFill>
            <a:srgbClr val="2B2F77"/>
          </a:solidFill>
          <a:ln/>
        </p:spPr>
      </p:sp>
      <p:sp>
        <p:nvSpPr>
          <p:cNvPr id="7" name="Shape 5"/>
          <p:cNvSpPr/>
          <p:nvPr/>
        </p:nvSpPr>
        <p:spPr>
          <a:xfrm>
            <a:off x="1163574" y="2276856"/>
            <a:ext cx="50292" cy="118872"/>
          </a:xfrm>
          <a:prstGeom prst="roundRect">
            <a:avLst>
              <a:gd name="adj" fmla="val 54545"/>
            </a:avLst>
          </a:prstGeom>
          <a:solidFill>
            <a:srgbClr val="5257AE"/>
          </a:solidFill>
          <a:ln/>
        </p:spPr>
      </p:sp>
      <p:sp>
        <p:nvSpPr>
          <p:cNvPr id="8" name="Shape 6"/>
          <p:cNvSpPr/>
          <p:nvPr/>
        </p:nvSpPr>
        <p:spPr>
          <a:xfrm>
            <a:off x="1721358" y="2276856"/>
            <a:ext cx="50292" cy="118872"/>
          </a:xfrm>
          <a:prstGeom prst="roundRect">
            <a:avLst>
              <a:gd name="adj" fmla="val 54545"/>
            </a:avLst>
          </a:prstGeom>
          <a:solidFill>
            <a:srgbClr val="5257AE"/>
          </a:solidFill>
          <a:ln/>
        </p:spPr>
      </p:sp>
      <p:sp>
        <p:nvSpPr>
          <p:cNvPr id="9" name="Shape 7"/>
          <p:cNvSpPr/>
          <p:nvPr/>
        </p:nvSpPr>
        <p:spPr>
          <a:xfrm>
            <a:off x="1209294" y="2162556"/>
            <a:ext cx="512064" cy="402336"/>
          </a:xfrm>
          <a:prstGeom prst="roundRect">
            <a:avLst>
              <a:gd name="adj" fmla="val 15909"/>
            </a:avLst>
          </a:prstGeom>
          <a:solidFill>
            <a:srgbClr val="2B2F77"/>
          </a:solidFill>
          <a:ln/>
        </p:spPr>
      </p:sp>
      <p:sp>
        <p:nvSpPr>
          <p:cNvPr id="10" name="Shape 8"/>
          <p:cNvSpPr/>
          <p:nvPr/>
        </p:nvSpPr>
        <p:spPr>
          <a:xfrm>
            <a:off x="1328166" y="2272284"/>
            <a:ext cx="77724" cy="77724"/>
          </a:xfrm>
          <a:prstGeom prst="ellipse">
            <a:avLst/>
          </a:prstGeom>
          <a:solidFill>
            <a:srgbClr val="00875F"/>
          </a:solidFill>
          <a:ln/>
        </p:spPr>
      </p:sp>
      <p:sp>
        <p:nvSpPr>
          <p:cNvPr id="11" name="Shape 9"/>
          <p:cNvSpPr/>
          <p:nvPr/>
        </p:nvSpPr>
        <p:spPr>
          <a:xfrm>
            <a:off x="1524762" y="2272284"/>
            <a:ext cx="77724" cy="77724"/>
          </a:xfrm>
          <a:prstGeom prst="ellipse">
            <a:avLst/>
          </a:prstGeom>
          <a:solidFill>
            <a:srgbClr val="00875F"/>
          </a:solidFill>
          <a:ln/>
        </p:spPr>
      </p:sp>
      <p:sp>
        <p:nvSpPr>
          <p:cNvPr id="12" name="Shape 10"/>
          <p:cNvSpPr/>
          <p:nvPr/>
        </p:nvSpPr>
        <p:spPr>
          <a:xfrm>
            <a:off x="1383030" y="2432304"/>
            <a:ext cx="164592" cy="45720"/>
          </a:xfrm>
          <a:prstGeom prst="roundRect">
            <a:avLst>
              <a:gd name="adj" fmla="val 30000"/>
            </a:avLst>
          </a:prstGeom>
          <a:solidFill>
            <a:srgbClr val="DFE1F1"/>
          </a:solidFill>
          <a:ln/>
        </p:spPr>
      </p:sp>
      <p:sp>
        <p:nvSpPr>
          <p:cNvPr id="13" name="Shape 11"/>
          <p:cNvSpPr/>
          <p:nvPr/>
        </p:nvSpPr>
        <p:spPr>
          <a:xfrm>
            <a:off x="1437894" y="2564892"/>
            <a:ext cx="54864" cy="45720"/>
          </a:xfrm>
          <a:prstGeom prst="rect">
            <a:avLst/>
          </a:prstGeom>
          <a:solidFill>
            <a:srgbClr val="5257AE"/>
          </a:solidFill>
          <a:ln/>
        </p:spPr>
      </p:sp>
      <p:sp>
        <p:nvSpPr>
          <p:cNvPr id="14" name="Shape 12"/>
          <p:cNvSpPr/>
          <p:nvPr/>
        </p:nvSpPr>
        <p:spPr>
          <a:xfrm>
            <a:off x="1291590" y="2606040"/>
            <a:ext cx="347472" cy="173736"/>
          </a:xfrm>
          <a:prstGeom prst="roundRect">
            <a:avLst>
              <a:gd name="adj" fmla="val 26316"/>
            </a:avLst>
          </a:prstGeom>
          <a:solidFill>
            <a:srgbClr val="5257AE"/>
          </a:solidFill>
          <a:ln/>
        </p:spPr>
      </p:sp>
      <p:sp>
        <p:nvSpPr>
          <p:cNvPr id="15" name="Shape 13"/>
          <p:cNvSpPr/>
          <p:nvPr/>
        </p:nvSpPr>
        <p:spPr>
          <a:xfrm>
            <a:off x="3074670" y="2011680"/>
            <a:ext cx="82296" cy="82296"/>
          </a:xfrm>
          <a:prstGeom prst="ellipse">
            <a:avLst/>
          </a:prstGeom>
          <a:solidFill>
            <a:srgbClr val="00875F"/>
          </a:solidFill>
          <a:ln/>
        </p:spPr>
      </p:sp>
      <p:sp>
        <p:nvSpPr>
          <p:cNvPr id="16" name="Shape 14"/>
          <p:cNvSpPr/>
          <p:nvPr/>
        </p:nvSpPr>
        <p:spPr>
          <a:xfrm>
            <a:off x="3104388" y="2080260"/>
            <a:ext cx="22860" cy="91440"/>
          </a:xfrm>
          <a:prstGeom prst="rect">
            <a:avLst/>
          </a:prstGeom>
          <a:solidFill>
            <a:srgbClr val="5257AE"/>
          </a:solidFill>
          <a:ln/>
        </p:spPr>
      </p:sp>
      <p:sp>
        <p:nvSpPr>
          <p:cNvPr id="17" name="Shape 15"/>
          <p:cNvSpPr/>
          <p:nvPr/>
        </p:nvSpPr>
        <p:spPr>
          <a:xfrm>
            <a:off x="2809494" y="2276856"/>
            <a:ext cx="50292" cy="118872"/>
          </a:xfrm>
          <a:prstGeom prst="roundRect">
            <a:avLst>
              <a:gd name="adj" fmla="val 54545"/>
            </a:avLst>
          </a:prstGeom>
          <a:solidFill>
            <a:srgbClr val="9297D8"/>
          </a:solidFill>
          <a:ln/>
        </p:spPr>
      </p:sp>
      <p:sp>
        <p:nvSpPr>
          <p:cNvPr id="18" name="Shape 16"/>
          <p:cNvSpPr/>
          <p:nvPr/>
        </p:nvSpPr>
        <p:spPr>
          <a:xfrm>
            <a:off x="3367278" y="2276856"/>
            <a:ext cx="50292" cy="118872"/>
          </a:xfrm>
          <a:prstGeom prst="roundRect">
            <a:avLst>
              <a:gd name="adj" fmla="val 54545"/>
            </a:avLst>
          </a:prstGeom>
          <a:solidFill>
            <a:srgbClr val="9297D8"/>
          </a:solidFill>
          <a:ln/>
        </p:spPr>
      </p:sp>
      <p:sp>
        <p:nvSpPr>
          <p:cNvPr id="19" name="Shape 17"/>
          <p:cNvSpPr/>
          <p:nvPr/>
        </p:nvSpPr>
        <p:spPr>
          <a:xfrm>
            <a:off x="2855214" y="2162556"/>
            <a:ext cx="512064" cy="402336"/>
          </a:xfrm>
          <a:prstGeom prst="roundRect">
            <a:avLst>
              <a:gd name="adj" fmla="val 15909"/>
            </a:avLst>
          </a:prstGeom>
          <a:solidFill>
            <a:srgbClr val="5257AE"/>
          </a:solidFill>
          <a:ln/>
        </p:spPr>
      </p:sp>
      <p:sp>
        <p:nvSpPr>
          <p:cNvPr id="20" name="Shape 18"/>
          <p:cNvSpPr/>
          <p:nvPr/>
        </p:nvSpPr>
        <p:spPr>
          <a:xfrm>
            <a:off x="2974086" y="2272284"/>
            <a:ext cx="77724" cy="77724"/>
          </a:xfrm>
          <a:prstGeom prst="ellipse">
            <a:avLst/>
          </a:prstGeom>
          <a:solidFill>
            <a:srgbClr val="00875F"/>
          </a:solidFill>
          <a:ln/>
        </p:spPr>
      </p:sp>
      <p:sp>
        <p:nvSpPr>
          <p:cNvPr id="21" name="Shape 19"/>
          <p:cNvSpPr/>
          <p:nvPr/>
        </p:nvSpPr>
        <p:spPr>
          <a:xfrm>
            <a:off x="3170682" y="2272284"/>
            <a:ext cx="77724" cy="77724"/>
          </a:xfrm>
          <a:prstGeom prst="ellipse">
            <a:avLst/>
          </a:prstGeom>
          <a:solidFill>
            <a:srgbClr val="00875F"/>
          </a:solidFill>
          <a:ln/>
        </p:spPr>
      </p:sp>
      <p:sp>
        <p:nvSpPr>
          <p:cNvPr id="22" name="Shape 20"/>
          <p:cNvSpPr/>
          <p:nvPr/>
        </p:nvSpPr>
        <p:spPr>
          <a:xfrm>
            <a:off x="3028950" y="2432304"/>
            <a:ext cx="164592" cy="45720"/>
          </a:xfrm>
          <a:prstGeom prst="roundRect">
            <a:avLst>
              <a:gd name="adj" fmla="val 30000"/>
            </a:avLst>
          </a:prstGeom>
          <a:solidFill>
            <a:srgbClr val="FFFFFF"/>
          </a:solidFill>
          <a:ln/>
        </p:spPr>
      </p:sp>
      <p:sp>
        <p:nvSpPr>
          <p:cNvPr id="23" name="Shape 21"/>
          <p:cNvSpPr/>
          <p:nvPr/>
        </p:nvSpPr>
        <p:spPr>
          <a:xfrm>
            <a:off x="3083814" y="2564892"/>
            <a:ext cx="54864" cy="45720"/>
          </a:xfrm>
          <a:prstGeom prst="rect">
            <a:avLst/>
          </a:prstGeom>
          <a:solidFill>
            <a:srgbClr val="9297D8"/>
          </a:solidFill>
          <a:ln/>
        </p:spPr>
      </p:sp>
      <p:sp>
        <p:nvSpPr>
          <p:cNvPr id="24" name="Shape 22"/>
          <p:cNvSpPr/>
          <p:nvPr/>
        </p:nvSpPr>
        <p:spPr>
          <a:xfrm>
            <a:off x="2937510" y="2606040"/>
            <a:ext cx="347472" cy="173736"/>
          </a:xfrm>
          <a:prstGeom prst="roundRect">
            <a:avLst>
              <a:gd name="adj" fmla="val 26316"/>
            </a:avLst>
          </a:prstGeom>
          <a:solidFill>
            <a:srgbClr val="9297D8"/>
          </a:solidFill>
          <a:ln/>
        </p:spPr>
      </p:sp>
      <p:sp>
        <p:nvSpPr>
          <p:cNvPr id="25" name="Shape 23"/>
          <p:cNvSpPr/>
          <p:nvPr/>
        </p:nvSpPr>
        <p:spPr>
          <a:xfrm>
            <a:off x="4720590" y="2011680"/>
            <a:ext cx="82296" cy="82296"/>
          </a:xfrm>
          <a:prstGeom prst="ellipse">
            <a:avLst/>
          </a:prstGeom>
          <a:solidFill>
            <a:srgbClr val="00875F"/>
          </a:solidFill>
          <a:ln/>
        </p:spPr>
      </p:sp>
      <p:sp>
        <p:nvSpPr>
          <p:cNvPr id="26" name="Shape 24"/>
          <p:cNvSpPr/>
          <p:nvPr/>
        </p:nvSpPr>
        <p:spPr>
          <a:xfrm>
            <a:off x="4750308" y="2080260"/>
            <a:ext cx="22860" cy="91440"/>
          </a:xfrm>
          <a:prstGeom prst="rect">
            <a:avLst/>
          </a:prstGeom>
          <a:solidFill>
            <a:srgbClr val="2B2F77"/>
          </a:solidFill>
          <a:ln/>
        </p:spPr>
      </p:sp>
      <p:sp>
        <p:nvSpPr>
          <p:cNvPr id="27" name="Shape 25"/>
          <p:cNvSpPr/>
          <p:nvPr/>
        </p:nvSpPr>
        <p:spPr>
          <a:xfrm>
            <a:off x="4455414" y="2276856"/>
            <a:ext cx="50292" cy="118872"/>
          </a:xfrm>
          <a:prstGeom prst="roundRect">
            <a:avLst>
              <a:gd name="adj" fmla="val 54545"/>
            </a:avLst>
          </a:prstGeom>
          <a:solidFill>
            <a:srgbClr val="5257AE"/>
          </a:solidFill>
          <a:ln/>
        </p:spPr>
      </p:sp>
      <p:sp>
        <p:nvSpPr>
          <p:cNvPr id="28" name="Shape 26"/>
          <p:cNvSpPr/>
          <p:nvPr/>
        </p:nvSpPr>
        <p:spPr>
          <a:xfrm>
            <a:off x="5013198" y="2276856"/>
            <a:ext cx="50292" cy="118872"/>
          </a:xfrm>
          <a:prstGeom prst="roundRect">
            <a:avLst>
              <a:gd name="adj" fmla="val 54545"/>
            </a:avLst>
          </a:prstGeom>
          <a:solidFill>
            <a:srgbClr val="5257AE"/>
          </a:solidFill>
          <a:ln/>
        </p:spPr>
      </p:sp>
      <p:sp>
        <p:nvSpPr>
          <p:cNvPr id="29" name="Shape 27"/>
          <p:cNvSpPr/>
          <p:nvPr/>
        </p:nvSpPr>
        <p:spPr>
          <a:xfrm>
            <a:off x="4501134" y="2162556"/>
            <a:ext cx="512064" cy="402336"/>
          </a:xfrm>
          <a:prstGeom prst="roundRect">
            <a:avLst>
              <a:gd name="adj" fmla="val 15909"/>
            </a:avLst>
          </a:prstGeom>
          <a:solidFill>
            <a:srgbClr val="2B2F77"/>
          </a:solidFill>
          <a:ln/>
        </p:spPr>
      </p:sp>
      <p:sp>
        <p:nvSpPr>
          <p:cNvPr id="30" name="Shape 28"/>
          <p:cNvSpPr/>
          <p:nvPr/>
        </p:nvSpPr>
        <p:spPr>
          <a:xfrm>
            <a:off x="4620006" y="2272284"/>
            <a:ext cx="77724" cy="77724"/>
          </a:xfrm>
          <a:prstGeom prst="ellipse">
            <a:avLst/>
          </a:prstGeom>
          <a:solidFill>
            <a:srgbClr val="00875F"/>
          </a:solidFill>
          <a:ln/>
        </p:spPr>
      </p:sp>
      <p:sp>
        <p:nvSpPr>
          <p:cNvPr id="31" name="Shape 29"/>
          <p:cNvSpPr/>
          <p:nvPr/>
        </p:nvSpPr>
        <p:spPr>
          <a:xfrm>
            <a:off x="4816602" y="2272284"/>
            <a:ext cx="77724" cy="77724"/>
          </a:xfrm>
          <a:prstGeom prst="ellipse">
            <a:avLst/>
          </a:prstGeom>
          <a:solidFill>
            <a:srgbClr val="00875F"/>
          </a:solidFill>
          <a:ln/>
        </p:spPr>
      </p:sp>
      <p:sp>
        <p:nvSpPr>
          <p:cNvPr id="32" name="Shape 30"/>
          <p:cNvSpPr/>
          <p:nvPr/>
        </p:nvSpPr>
        <p:spPr>
          <a:xfrm>
            <a:off x="4674870" y="2432304"/>
            <a:ext cx="164592" cy="45720"/>
          </a:xfrm>
          <a:prstGeom prst="roundRect">
            <a:avLst>
              <a:gd name="adj" fmla="val 30000"/>
            </a:avLst>
          </a:prstGeom>
          <a:solidFill>
            <a:srgbClr val="DFE1F1"/>
          </a:solidFill>
          <a:ln/>
        </p:spPr>
      </p:sp>
      <p:sp>
        <p:nvSpPr>
          <p:cNvPr id="33" name="Shape 31"/>
          <p:cNvSpPr/>
          <p:nvPr/>
        </p:nvSpPr>
        <p:spPr>
          <a:xfrm>
            <a:off x="4729734" y="2564892"/>
            <a:ext cx="54864" cy="45720"/>
          </a:xfrm>
          <a:prstGeom prst="rect">
            <a:avLst/>
          </a:prstGeom>
          <a:solidFill>
            <a:srgbClr val="5257AE"/>
          </a:solidFill>
          <a:ln/>
        </p:spPr>
      </p:sp>
      <p:sp>
        <p:nvSpPr>
          <p:cNvPr id="34" name="Shape 32"/>
          <p:cNvSpPr/>
          <p:nvPr/>
        </p:nvSpPr>
        <p:spPr>
          <a:xfrm>
            <a:off x="4583430" y="2606040"/>
            <a:ext cx="347472" cy="173736"/>
          </a:xfrm>
          <a:prstGeom prst="roundRect">
            <a:avLst>
              <a:gd name="adj" fmla="val 26316"/>
            </a:avLst>
          </a:prstGeom>
          <a:solidFill>
            <a:srgbClr val="5257AE"/>
          </a:solidFill>
          <a:ln/>
        </p:spPr>
      </p:sp>
      <p:sp>
        <p:nvSpPr>
          <p:cNvPr id="35" name="Shape 33"/>
          <p:cNvSpPr/>
          <p:nvPr/>
        </p:nvSpPr>
        <p:spPr>
          <a:xfrm>
            <a:off x="6366510" y="2011680"/>
            <a:ext cx="82296" cy="82296"/>
          </a:xfrm>
          <a:prstGeom prst="ellipse">
            <a:avLst/>
          </a:prstGeom>
          <a:solidFill>
            <a:srgbClr val="00875F"/>
          </a:solidFill>
          <a:ln/>
        </p:spPr>
      </p:sp>
      <p:sp>
        <p:nvSpPr>
          <p:cNvPr id="36" name="Shape 34"/>
          <p:cNvSpPr/>
          <p:nvPr/>
        </p:nvSpPr>
        <p:spPr>
          <a:xfrm>
            <a:off x="6396228" y="2080260"/>
            <a:ext cx="22860" cy="91440"/>
          </a:xfrm>
          <a:prstGeom prst="rect">
            <a:avLst/>
          </a:prstGeom>
          <a:solidFill>
            <a:srgbClr val="5257AE"/>
          </a:solidFill>
          <a:ln/>
        </p:spPr>
      </p:sp>
      <p:sp>
        <p:nvSpPr>
          <p:cNvPr id="37" name="Shape 35"/>
          <p:cNvSpPr/>
          <p:nvPr/>
        </p:nvSpPr>
        <p:spPr>
          <a:xfrm>
            <a:off x="6101334" y="2276856"/>
            <a:ext cx="50292" cy="118872"/>
          </a:xfrm>
          <a:prstGeom prst="roundRect">
            <a:avLst>
              <a:gd name="adj" fmla="val 54545"/>
            </a:avLst>
          </a:prstGeom>
          <a:solidFill>
            <a:srgbClr val="9297D8"/>
          </a:solidFill>
          <a:ln/>
        </p:spPr>
      </p:sp>
      <p:sp>
        <p:nvSpPr>
          <p:cNvPr id="38" name="Shape 36"/>
          <p:cNvSpPr/>
          <p:nvPr/>
        </p:nvSpPr>
        <p:spPr>
          <a:xfrm>
            <a:off x="6659118" y="2276856"/>
            <a:ext cx="50292" cy="118872"/>
          </a:xfrm>
          <a:prstGeom prst="roundRect">
            <a:avLst>
              <a:gd name="adj" fmla="val 54545"/>
            </a:avLst>
          </a:prstGeom>
          <a:solidFill>
            <a:srgbClr val="9297D8"/>
          </a:solidFill>
          <a:ln/>
        </p:spPr>
      </p:sp>
      <p:sp>
        <p:nvSpPr>
          <p:cNvPr id="39" name="Shape 37"/>
          <p:cNvSpPr/>
          <p:nvPr/>
        </p:nvSpPr>
        <p:spPr>
          <a:xfrm>
            <a:off x="6147054" y="2162556"/>
            <a:ext cx="512064" cy="402336"/>
          </a:xfrm>
          <a:prstGeom prst="roundRect">
            <a:avLst>
              <a:gd name="adj" fmla="val 15909"/>
            </a:avLst>
          </a:prstGeom>
          <a:solidFill>
            <a:srgbClr val="5257AE"/>
          </a:solidFill>
          <a:ln/>
        </p:spPr>
      </p:sp>
      <p:sp>
        <p:nvSpPr>
          <p:cNvPr id="40" name="Shape 38"/>
          <p:cNvSpPr/>
          <p:nvPr/>
        </p:nvSpPr>
        <p:spPr>
          <a:xfrm>
            <a:off x="6265926" y="2272284"/>
            <a:ext cx="77724" cy="77724"/>
          </a:xfrm>
          <a:prstGeom prst="ellipse">
            <a:avLst/>
          </a:prstGeom>
          <a:solidFill>
            <a:srgbClr val="00875F"/>
          </a:solidFill>
          <a:ln/>
        </p:spPr>
      </p:sp>
      <p:sp>
        <p:nvSpPr>
          <p:cNvPr id="41" name="Shape 39"/>
          <p:cNvSpPr/>
          <p:nvPr/>
        </p:nvSpPr>
        <p:spPr>
          <a:xfrm>
            <a:off x="6462522" y="2272284"/>
            <a:ext cx="77724" cy="77724"/>
          </a:xfrm>
          <a:prstGeom prst="ellipse">
            <a:avLst/>
          </a:prstGeom>
          <a:solidFill>
            <a:srgbClr val="00875F"/>
          </a:solidFill>
          <a:ln/>
        </p:spPr>
      </p:sp>
      <p:sp>
        <p:nvSpPr>
          <p:cNvPr id="42" name="Shape 40"/>
          <p:cNvSpPr/>
          <p:nvPr/>
        </p:nvSpPr>
        <p:spPr>
          <a:xfrm>
            <a:off x="6320790" y="2432304"/>
            <a:ext cx="164592" cy="45720"/>
          </a:xfrm>
          <a:prstGeom prst="roundRect">
            <a:avLst>
              <a:gd name="adj" fmla="val 30000"/>
            </a:avLst>
          </a:prstGeom>
          <a:solidFill>
            <a:srgbClr val="FFFFFF"/>
          </a:solidFill>
          <a:ln/>
        </p:spPr>
      </p:sp>
      <p:sp>
        <p:nvSpPr>
          <p:cNvPr id="43" name="Shape 41"/>
          <p:cNvSpPr/>
          <p:nvPr/>
        </p:nvSpPr>
        <p:spPr>
          <a:xfrm>
            <a:off x="6375654" y="2564892"/>
            <a:ext cx="54864" cy="45720"/>
          </a:xfrm>
          <a:prstGeom prst="rect">
            <a:avLst/>
          </a:prstGeom>
          <a:solidFill>
            <a:srgbClr val="9297D8"/>
          </a:solidFill>
          <a:ln/>
        </p:spPr>
      </p:sp>
      <p:sp>
        <p:nvSpPr>
          <p:cNvPr id="44" name="Shape 42"/>
          <p:cNvSpPr/>
          <p:nvPr/>
        </p:nvSpPr>
        <p:spPr>
          <a:xfrm>
            <a:off x="6229350" y="2606040"/>
            <a:ext cx="347472" cy="173736"/>
          </a:xfrm>
          <a:prstGeom prst="roundRect">
            <a:avLst>
              <a:gd name="adj" fmla="val 26316"/>
            </a:avLst>
          </a:prstGeom>
          <a:solidFill>
            <a:srgbClr val="9297D8"/>
          </a:solidFill>
          <a:ln/>
        </p:spPr>
      </p:sp>
      <p:sp>
        <p:nvSpPr>
          <p:cNvPr id="45" name="Shape 43"/>
          <p:cNvSpPr/>
          <p:nvPr/>
        </p:nvSpPr>
        <p:spPr>
          <a:xfrm>
            <a:off x="1428750" y="3017520"/>
            <a:ext cx="82296" cy="82296"/>
          </a:xfrm>
          <a:prstGeom prst="ellipse">
            <a:avLst/>
          </a:prstGeom>
          <a:solidFill>
            <a:srgbClr val="00875F"/>
          </a:solidFill>
          <a:ln/>
        </p:spPr>
      </p:sp>
      <p:sp>
        <p:nvSpPr>
          <p:cNvPr id="46" name="Shape 44"/>
          <p:cNvSpPr/>
          <p:nvPr/>
        </p:nvSpPr>
        <p:spPr>
          <a:xfrm>
            <a:off x="1458468" y="3086100"/>
            <a:ext cx="22860" cy="91440"/>
          </a:xfrm>
          <a:prstGeom prst="rect">
            <a:avLst/>
          </a:prstGeom>
          <a:solidFill>
            <a:srgbClr val="5257AE"/>
          </a:solidFill>
          <a:ln/>
        </p:spPr>
      </p:sp>
      <p:sp>
        <p:nvSpPr>
          <p:cNvPr id="47" name="Shape 45"/>
          <p:cNvSpPr/>
          <p:nvPr/>
        </p:nvSpPr>
        <p:spPr>
          <a:xfrm>
            <a:off x="1163574" y="3282696"/>
            <a:ext cx="50292" cy="118872"/>
          </a:xfrm>
          <a:prstGeom prst="roundRect">
            <a:avLst>
              <a:gd name="adj" fmla="val 54545"/>
            </a:avLst>
          </a:prstGeom>
          <a:solidFill>
            <a:srgbClr val="9297D8"/>
          </a:solidFill>
          <a:ln/>
        </p:spPr>
      </p:sp>
      <p:sp>
        <p:nvSpPr>
          <p:cNvPr id="48" name="Shape 46"/>
          <p:cNvSpPr/>
          <p:nvPr/>
        </p:nvSpPr>
        <p:spPr>
          <a:xfrm>
            <a:off x="1721358" y="3282696"/>
            <a:ext cx="50292" cy="118872"/>
          </a:xfrm>
          <a:prstGeom prst="roundRect">
            <a:avLst>
              <a:gd name="adj" fmla="val 54545"/>
            </a:avLst>
          </a:prstGeom>
          <a:solidFill>
            <a:srgbClr val="9297D8"/>
          </a:solidFill>
          <a:ln/>
        </p:spPr>
      </p:sp>
      <p:sp>
        <p:nvSpPr>
          <p:cNvPr id="49" name="Shape 47"/>
          <p:cNvSpPr/>
          <p:nvPr/>
        </p:nvSpPr>
        <p:spPr>
          <a:xfrm>
            <a:off x="1209294" y="3168396"/>
            <a:ext cx="512064" cy="402336"/>
          </a:xfrm>
          <a:prstGeom prst="roundRect">
            <a:avLst>
              <a:gd name="adj" fmla="val 15909"/>
            </a:avLst>
          </a:prstGeom>
          <a:solidFill>
            <a:srgbClr val="5257AE"/>
          </a:solidFill>
          <a:ln/>
        </p:spPr>
      </p:sp>
      <p:sp>
        <p:nvSpPr>
          <p:cNvPr id="50" name="Shape 48"/>
          <p:cNvSpPr/>
          <p:nvPr/>
        </p:nvSpPr>
        <p:spPr>
          <a:xfrm>
            <a:off x="1328166" y="3278124"/>
            <a:ext cx="77724" cy="77724"/>
          </a:xfrm>
          <a:prstGeom prst="ellipse">
            <a:avLst/>
          </a:prstGeom>
          <a:solidFill>
            <a:srgbClr val="00875F"/>
          </a:solidFill>
          <a:ln/>
        </p:spPr>
      </p:sp>
      <p:sp>
        <p:nvSpPr>
          <p:cNvPr id="51" name="Shape 49"/>
          <p:cNvSpPr/>
          <p:nvPr/>
        </p:nvSpPr>
        <p:spPr>
          <a:xfrm>
            <a:off x="1524762" y="3278124"/>
            <a:ext cx="77724" cy="77724"/>
          </a:xfrm>
          <a:prstGeom prst="ellipse">
            <a:avLst/>
          </a:prstGeom>
          <a:solidFill>
            <a:srgbClr val="00875F"/>
          </a:solidFill>
          <a:ln/>
        </p:spPr>
      </p:sp>
      <p:sp>
        <p:nvSpPr>
          <p:cNvPr id="52" name="Shape 50"/>
          <p:cNvSpPr/>
          <p:nvPr/>
        </p:nvSpPr>
        <p:spPr>
          <a:xfrm>
            <a:off x="1383030" y="3438144"/>
            <a:ext cx="164592" cy="45720"/>
          </a:xfrm>
          <a:prstGeom prst="roundRect">
            <a:avLst>
              <a:gd name="adj" fmla="val 30000"/>
            </a:avLst>
          </a:prstGeom>
          <a:solidFill>
            <a:srgbClr val="FFFFFF"/>
          </a:solidFill>
          <a:ln/>
        </p:spPr>
      </p:sp>
      <p:sp>
        <p:nvSpPr>
          <p:cNvPr id="53" name="Shape 51"/>
          <p:cNvSpPr/>
          <p:nvPr/>
        </p:nvSpPr>
        <p:spPr>
          <a:xfrm>
            <a:off x="1437894" y="3570732"/>
            <a:ext cx="54864" cy="45720"/>
          </a:xfrm>
          <a:prstGeom prst="rect">
            <a:avLst/>
          </a:prstGeom>
          <a:solidFill>
            <a:srgbClr val="9297D8"/>
          </a:solidFill>
          <a:ln/>
        </p:spPr>
      </p:sp>
      <p:sp>
        <p:nvSpPr>
          <p:cNvPr id="54" name="Shape 52"/>
          <p:cNvSpPr/>
          <p:nvPr/>
        </p:nvSpPr>
        <p:spPr>
          <a:xfrm>
            <a:off x="1291590" y="3611880"/>
            <a:ext cx="347472" cy="173736"/>
          </a:xfrm>
          <a:prstGeom prst="roundRect">
            <a:avLst>
              <a:gd name="adj" fmla="val 26316"/>
            </a:avLst>
          </a:prstGeom>
          <a:solidFill>
            <a:srgbClr val="9297D8"/>
          </a:solidFill>
          <a:ln/>
        </p:spPr>
      </p:sp>
      <p:sp>
        <p:nvSpPr>
          <p:cNvPr id="55" name="Shape 53"/>
          <p:cNvSpPr/>
          <p:nvPr/>
        </p:nvSpPr>
        <p:spPr>
          <a:xfrm>
            <a:off x="3074670" y="3017520"/>
            <a:ext cx="82296" cy="82296"/>
          </a:xfrm>
          <a:prstGeom prst="ellipse">
            <a:avLst/>
          </a:prstGeom>
          <a:solidFill>
            <a:srgbClr val="00875F"/>
          </a:solidFill>
          <a:ln/>
        </p:spPr>
      </p:sp>
      <p:sp>
        <p:nvSpPr>
          <p:cNvPr id="56" name="Shape 54"/>
          <p:cNvSpPr/>
          <p:nvPr/>
        </p:nvSpPr>
        <p:spPr>
          <a:xfrm>
            <a:off x="3104388" y="3086100"/>
            <a:ext cx="22860" cy="91440"/>
          </a:xfrm>
          <a:prstGeom prst="rect">
            <a:avLst/>
          </a:prstGeom>
          <a:solidFill>
            <a:srgbClr val="2B2F77"/>
          </a:solidFill>
          <a:ln/>
        </p:spPr>
      </p:sp>
      <p:sp>
        <p:nvSpPr>
          <p:cNvPr id="57" name="Shape 55"/>
          <p:cNvSpPr/>
          <p:nvPr/>
        </p:nvSpPr>
        <p:spPr>
          <a:xfrm>
            <a:off x="2809494" y="3282696"/>
            <a:ext cx="50292" cy="118872"/>
          </a:xfrm>
          <a:prstGeom prst="roundRect">
            <a:avLst>
              <a:gd name="adj" fmla="val 54545"/>
            </a:avLst>
          </a:prstGeom>
          <a:solidFill>
            <a:srgbClr val="5257AE"/>
          </a:solidFill>
          <a:ln/>
        </p:spPr>
      </p:sp>
      <p:sp>
        <p:nvSpPr>
          <p:cNvPr id="58" name="Shape 56"/>
          <p:cNvSpPr/>
          <p:nvPr/>
        </p:nvSpPr>
        <p:spPr>
          <a:xfrm>
            <a:off x="3367278" y="3282696"/>
            <a:ext cx="50292" cy="118872"/>
          </a:xfrm>
          <a:prstGeom prst="roundRect">
            <a:avLst>
              <a:gd name="adj" fmla="val 54545"/>
            </a:avLst>
          </a:prstGeom>
          <a:solidFill>
            <a:srgbClr val="5257AE"/>
          </a:solidFill>
          <a:ln/>
        </p:spPr>
      </p:sp>
      <p:sp>
        <p:nvSpPr>
          <p:cNvPr id="59" name="Shape 57"/>
          <p:cNvSpPr/>
          <p:nvPr/>
        </p:nvSpPr>
        <p:spPr>
          <a:xfrm>
            <a:off x="2855214" y="3168396"/>
            <a:ext cx="512064" cy="402336"/>
          </a:xfrm>
          <a:prstGeom prst="roundRect">
            <a:avLst>
              <a:gd name="adj" fmla="val 15909"/>
            </a:avLst>
          </a:prstGeom>
          <a:solidFill>
            <a:srgbClr val="2B2F77"/>
          </a:solidFill>
          <a:ln/>
        </p:spPr>
      </p:sp>
      <p:sp>
        <p:nvSpPr>
          <p:cNvPr id="60" name="Shape 58"/>
          <p:cNvSpPr/>
          <p:nvPr/>
        </p:nvSpPr>
        <p:spPr>
          <a:xfrm>
            <a:off x="2974086" y="3278124"/>
            <a:ext cx="77724" cy="77724"/>
          </a:xfrm>
          <a:prstGeom prst="ellipse">
            <a:avLst/>
          </a:prstGeom>
          <a:solidFill>
            <a:srgbClr val="00875F"/>
          </a:solidFill>
          <a:ln/>
        </p:spPr>
      </p:sp>
      <p:sp>
        <p:nvSpPr>
          <p:cNvPr id="61" name="Shape 59"/>
          <p:cNvSpPr/>
          <p:nvPr/>
        </p:nvSpPr>
        <p:spPr>
          <a:xfrm>
            <a:off x="3170682" y="3278124"/>
            <a:ext cx="77724" cy="77724"/>
          </a:xfrm>
          <a:prstGeom prst="ellipse">
            <a:avLst/>
          </a:prstGeom>
          <a:solidFill>
            <a:srgbClr val="00875F"/>
          </a:solidFill>
          <a:ln/>
        </p:spPr>
      </p:sp>
      <p:sp>
        <p:nvSpPr>
          <p:cNvPr id="62" name="Shape 60"/>
          <p:cNvSpPr/>
          <p:nvPr/>
        </p:nvSpPr>
        <p:spPr>
          <a:xfrm>
            <a:off x="3028950" y="3438144"/>
            <a:ext cx="164592" cy="45720"/>
          </a:xfrm>
          <a:prstGeom prst="roundRect">
            <a:avLst>
              <a:gd name="adj" fmla="val 30000"/>
            </a:avLst>
          </a:prstGeom>
          <a:solidFill>
            <a:srgbClr val="DFE1F1"/>
          </a:solidFill>
          <a:ln/>
        </p:spPr>
      </p:sp>
      <p:sp>
        <p:nvSpPr>
          <p:cNvPr id="63" name="Shape 61"/>
          <p:cNvSpPr/>
          <p:nvPr/>
        </p:nvSpPr>
        <p:spPr>
          <a:xfrm>
            <a:off x="3083814" y="3570732"/>
            <a:ext cx="54864" cy="45720"/>
          </a:xfrm>
          <a:prstGeom prst="rect">
            <a:avLst/>
          </a:prstGeom>
          <a:solidFill>
            <a:srgbClr val="5257AE"/>
          </a:solidFill>
          <a:ln/>
        </p:spPr>
      </p:sp>
      <p:sp>
        <p:nvSpPr>
          <p:cNvPr id="64" name="Shape 62"/>
          <p:cNvSpPr/>
          <p:nvPr/>
        </p:nvSpPr>
        <p:spPr>
          <a:xfrm>
            <a:off x="2937510" y="3611880"/>
            <a:ext cx="347472" cy="173736"/>
          </a:xfrm>
          <a:prstGeom prst="roundRect">
            <a:avLst>
              <a:gd name="adj" fmla="val 26316"/>
            </a:avLst>
          </a:prstGeom>
          <a:solidFill>
            <a:srgbClr val="5257AE"/>
          </a:solidFill>
          <a:ln/>
        </p:spPr>
      </p:sp>
      <p:sp>
        <p:nvSpPr>
          <p:cNvPr id="65" name="Shape 63"/>
          <p:cNvSpPr/>
          <p:nvPr/>
        </p:nvSpPr>
        <p:spPr>
          <a:xfrm>
            <a:off x="4720590" y="3017520"/>
            <a:ext cx="82296" cy="82296"/>
          </a:xfrm>
          <a:prstGeom prst="ellipse">
            <a:avLst/>
          </a:prstGeom>
          <a:solidFill>
            <a:srgbClr val="00875F"/>
          </a:solidFill>
          <a:ln/>
        </p:spPr>
      </p:sp>
      <p:sp>
        <p:nvSpPr>
          <p:cNvPr id="66" name="Shape 64"/>
          <p:cNvSpPr/>
          <p:nvPr/>
        </p:nvSpPr>
        <p:spPr>
          <a:xfrm>
            <a:off x="4750308" y="3086100"/>
            <a:ext cx="22860" cy="91440"/>
          </a:xfrm>
          <a:prstGeom prst="rect">
            <a:avLst/>
          </a:prstGeom>
          <a:solidFill>
            <a:srgbClr val="5257AE"/>
          </a:solidFill>
          <a:ln/>
        </p:spPr>
      </p:sp>
      <p:sp>
        <p:nvSpPr>
          <p:cNvPr id="67" name="Shape 65"/>
          <p:cNvSpPr/>
          <p:nvPr/>
        </p:nvSpPr>
        <p:spPr>
          <a:xfrm>
            <a:off x="4455414" y="3282696"/>
            <a:ext cx="50292" cy="118872"/>
          </a:xfrm>
          <a:prstGeom prst="roundRect">
            <a:avLst>
              <a:gd name="adj" fmla="val 54545"/>
            </a:avLst>
          </a:prstGeom>
          <a:solidFill>
            <a:srgbClr val="9297D8"/>
          </a:solidFill>
          <a:ln/>
        </p:spPr>
      </p:sp>
      <p:sp>
        <p:nvSpPr>
          <p:cNvPr id="68" name="Shape 66"/>
          <p:cNvSpPr/>
          <p:nvPr/>
        </p:nvSpPr>
        <p:spPr>
          <a:xfrm>
            <a:off x="5013198" y="3282696"/>
            <a:ext cx="50292" cy="118872"/>
          </a:xfrm>
          <a:prstGeom prst="roundRect">
            <a:avLst>
              <a:gd name="adj" fmla="val 54545"/>
            </a:avLst>
          </a:prstGeom>
          <a:solidFill>
            <a:srgbClr val="9297D8"/>
          </a:solidFill>
          <a:ln/>
        </p:spPr>
      </p:sp>
      <p:sp>
        <p:nvSpPr>
          <p:cNvPr id="69" name="Shape 67"/>
          <p:cNvSpPr/>
          <p:nvPr/>
        </p:nvSpPr>
        <p:spPr>
          <a:xfrm>
            <a:off x="4501134" y="3168396"/>
            <a:ext cx="512064" cy="402336"/>
          </a:xfrm>
          <a:prstGeom prst="roundRect">
            <a:avLst>
              <a:gd name="adj" fmla="val 15909"/>
            </a:avLst>
          </a:prstGeom>
          <a:solidFill>
            <a:srgbClr val="5257AE"/>
          </a:solidFill>
          <a:ln/>
        </p:spPr>
      </p:sp>
      <p:sp>
        <p:nvSpPr>
          <p:cNvPr id="70" name="Shape 68"/>
          <p:cNvSpPr/>
          <p:nvPr/>
        </p:nvSpPr>
        <p:spPr>
          <a:xfrm>
            <a:off x="4620006" y="3278124"/>
            <a:ext cx="77724" cy="77724"/>
          </a:xfrm>
          <a:prstGeom prst="ellipse">
            <a:avLst/>
          </a:prstGeom>
          <a:solidFill>
            <a:srgbClr val="00875F"/>
          </a:solidFill>
          <a:ln/>
        </p:spPr>
      </p:sp>
      <p:sp>
        <p:nvSpPr>
          <p:cNvPr id="71" name="Shape 69"/>
          <p:cNvSpPr/>
          <p:nvPr/>
        </p:nvSpPr>
        <p:spPr>
          <a:xfrm>
            <a:off x="4816602" y="3278124"/>
            <a:ext cx="77724" cy="77724"/>
          </a:xfrm>
          <a:prstGeom prst="ellipse">
            <a:avLst/>
          </a:prstGeom>
          <a:solidFill>
            <a:srgbClr val="00875F"/>
          </a:solidFill>
          <a:ln/>
        </p:spPr>
      </p:sp>
      <p:sp>
        <p:nvSpPr>
          <p:cNvPr id="72" name="Shape 70"/>
          <p:cNvSpPr/>
          <p:nvPr/>
        </p:nvSpPr>
        <p:spPr>
          <a:xfrm>
            <a:off x="4674870" y="3438144"/>
            <a:ext cx="164592" cy="45720"/>
          </a:xfrm>
          <a:prstGeom prst="roundRect">
            <a:avLst>
              <a:gd name="adj" fmla="val 30000"/>
            </a:avLst>
          </a:prstGeom>
          <a:solidFill>
            <a:srgbClr val="FFFFFF"/>
          </a:solidFill>
          <a:ln/>
        </p:spPr>
      </p:sp>
      <p:sp>
        <p:nvSpPr>
          <p:cNvPr id="73" name="Shape 71"/>
          <p:cNvSpPr/>
          <p:nvPr/>
        </p:nvSpPr>
        <p:spPr>
          <a:xfrm>
            <a:off x="4729734" y="3570732"/>
            <a:ext cx="54864" cy="45720"/>
          </a:xfrm>
          <a:prstGeom prst="rect">
            <a:avLst/>
          </a:prstGeom>
          <a:solidFill>
            <a:srgbClr val="9297D8"/>
          </a:solidFill>
          <a:ln/>
        </p:spPr>
      </p:sp>
      <p:sp>
        <p:nvSpPr>
          <p:cNvPr id="74" name="Shape 72"/>
          <p:cNvSpPr/>
          <p:nvPr/>
        </p:nvSpPr>
        <p:spPr>
          <a:xfrm>
            <a:off x="4583430" y="3611880"/>
            <a:ext cx="347472" cy="173736"/>
          </a:xfrm>
          <a:prstGeom prst="roundRect">
            <a:avLst>
              <a:gd name="adj" fmla="val 26316"/>
            </a:avLst>
          </a:prstGeom>
          <a:solidFill>
            <a:srgbClr val="9297D8"/>
          </a:solidFill>
          <a:ln/>
        </p:spPr>
      </p:sp>
      <p:sp>
        <p:nvSpPr>
          <p:cNvPr id="75" name="Shape 73"/>
          <p:cNvSpPr/>
          <p:nvPr/>
        </p:nvSpPr>
        <p:spPr>
          <a:xfrm>
            <a:off x="6366510" y="3017520"/>
            <a:ext cx="82296" cy="82296"/>
          </a:xfrm>
          <a:prstGeom prst="ellipse">
            <a:avLst/>
          </a:prstGeom>
          <a:solidFill>
            <a:srgbClr val="00875F"/>
          </a:solidFill>
          <a:ln/>
        </p:spPr>
      </p:sp>
      <p:sp>
        <p:nvSpPr>
          <p:cNvPr id="76" name="Shape 74"/>
          <p:cNvSpPr/>
          <p:nvPr/>
        </p:nvSpPr>
        <p:spPr>
          <a:xfrm>
            <a:off x="6396228" y="3086100"/>
            <a:ext cx="22860" cy="91440"/>
          </a:xfrm>
          <a:prstGeom prst="rect">
            <a:avLst/>
          </a:prstGeom>
          <a:solidFill>
            <a:srgbClr val="2B2F77"/>
          </a:solidFill>
          <a:ln/>
        </p:spPr>
      </p:sp>
      <p:sp>
        <p:nvSpPr>
          <p:cNvPr id="77" name="Shape 75"/>
          <p:cNvSpPr/>
          <p:nvPr/>
        </p:nvSpPr>
        <p:spPr>
          <a:xfrm>
            <a:off x="6101334" y="3282696"/>
            <a:ext cx="50292" cy="118872"/>
          </a:xfrm>
          <a:prstGeom prst="roundRect">
            <a:avLst>
              <a:gd name="adj" fmla="val 54545"/>
            </a:avLst>
          </a:prstGeom>
          <a:solidFill>
            <a:srgbClr val="5257AE"/>
          </a:solidFill>
          <a:ln/>
        </p:spPr>
      </p:sp>
      <p:sp>
        <p:nvSpPr>
          <p:cNvPr id="78" name="Shape 76"/>
          <p:cNvSpPr/>
          <p:nvPr/>
        </p:nvSpPr>
        <p:spPr>
          <a:xfrm>
            <a:off x="6659118" y="3282696"/>
            <a:ext cx="50292" cy="118872"/>
          </a:xfrm>
          <a:prstGeom prst="roundRect">
            <a:avLst>
              <a:gd name="adj" fmla="val 54545"/>
            </a:avLst>
          </a:prstGeom>
          <a:solidFill>
            <a:srgbClr val="5257AE"/>
          </a:solidFill>
          <a:ln/>
        </p:spPr>
      </p:sp>
      <p:sp>
        <p:nvSpPr>
          <p:cNvPr id="79" name="Shape 77"/>
          <p:cNvSpPr/>
          <p:nvPr/>
        </p:nvSpPr>
        <p:spPr>
          <a:xfrm>
            <a:off x="6147054" y="3168396"/>
            <a:ext cx="512064" cy="402336"/>
          </a:xfrm>
          <a:prstGeom prst="roundRect">
            <a:avLst>
              <a:gd name="adj" fmla="val 15909"/>
            </a:avLst>
          </a:prstGeom>
          <a:solidFill>
            <a:srgbClr val="2B2F77"/>
          </a:solidFill>
          <a:ln/>
        </p:spPr>
      </p:sp>
      <p:sp>
        <p:nvSpPr>
          <p:cNvPr id="80" name="Shape 78"/>
          <p:cNvSpPr/>
          <p:nvPr/>
        </p:nvSpPr>
        <p:spPr>
          <a:xfrm>
            <a:off x="6265926" y="3278124"/>
            <a:ext cx="77724" cy="77724"/>
          </a:xfrm>
          <a:prstGeom prst="ellipse">
            <a:avLst/>
          </a:prstGeom>
          <a:solidFill>
            <a:srgbClr val="00875F"/>
          </a:solidFill>
          <a:ln/>
        </p:spPr>
      </p:sp>
      <p:sp>
        <p:nvSpPr>
          <p:cNvPr id="81" name="Shape 79"/>
          <p:cNvSpPr/>
          <p:nvPr/>
        </p:nvSpPr>
        <p:spPr>
          <a:xfrm>
            <a:off x="6462522" y="3278124"/>
            <a:ext cx="77724" cy="77724"/>
          </a:xfrm>
          <a:prstGeom prst="ellipse">
            <a:avLst/>
          </a:prstGeom>
          <a:solidFill>
            <a:srgbClr val="00875F"/>
          </a:solidFill>
          <a:ln/>
        </p:spPr>
      </p:sp>
      <p:sp>
        <p:nvSpPr>
          <p:cNvPr id="82" name="Shape 80"/>
          <p:cNvSpPr/>
          <p:nvPr/>
        </p:nvSpPr>
        <p:spPr>
          <a:xfrm>
            <a:off x="6320790" y="3438144"/>
            <a:ext cx="164592" cy="45720"/>
          </a:xfrm>
          <a:prstGeom prst="roundRect">
            <a:avLst>
              <a:gd name="adj" fmla="val 30000"/>
            </a:avLst>
          </a:prstGeom>
          <a:solidFill>
            <a:srgbClr val="DFE1F1"/>
          </a:solidFill>
          <a:ln/>
        </p:spPr>
      </p:sp>
      <p:sp>
        <p:nvSpPr>
          <p:cNvPr id="83" name="Shape 81"/>
          <p:cNvSpPr/>
          <p:nvPr/>
        </p:nvSpPr>
        <p:spPr>
          <a:xfrm>
            <a:off x="6375654" y="3570732"/>
            <a:ext cx="54864" cy="45720"/>
          </a:xfrm>
          <a:prstGeom prst="rect">
            <a:avLst/>
          </a:prstGeom>
          <a:solidFill>
            <a:srgbClr val="5257AE"/>
          </a:solidFill>
          <a:ln/>
        </p:spPr>
      </p:sp>
      <p:sp>
        <p:nvSpPr>
          <p:cNvPr id="84" name="Shape 82"/>
          <p:cNvSpPr/>
          <p:nvPr/>
        </p:nvSpPr>
        <p:spPr>
          <a:xfrm>
            <a:off x="6229350" y="3611880"/>
            <a:ext cx="347472" cy="173736"/>
          </a:xfrm>
          <a:prstGeom prst="roundRect">
            <a:avLst>
              <a:gd name="adj" fmla="val 26316"/>
            </a:avLst>
          </a:prstGeom>
          <a:solidFill>
            <a:srgbClr val="5257AE"/>
          </a:solidFill>
          <a:ln/>
        </p:spPr>
      </p:sp>
      <p:sp>
        <p:nvSpPr>
          <p:cNvPr id="85" name="Text 83"/>
          <p:cNvSpPr txBox="1"/>
          <p:nvPr/>
        </p:nvSpPr>
        <p:spPr>
          <a:xfrm>
            <a:off x="914400" y="3977640"/>
            <a:ext cx="6035040" cy="365760"/>
          </a:xfrm>
          <a:prstGeom prst="rect">
            <a:avLst/>
          </a:prstGeom>
          <a:noFill/>
          <a:ln/>
        </p:spPr>
        <p:txBody>
          <a:bodyPr wrap="square" lIns="0" tIns="0" rIns="0" bIns="0" rtlCol="0" anchor="ctr"/>
          <a:lstStyle/>
          <a:p>
            <a:pPr algn="ctr" indent="0" marL="0">
              <a:buNone/>
            </a:pPr>
            <a:r>
              <a:rPr lang="en-US" sz="1250" dirty="0">
                <a:solidFill>
                  <a:srgbClr val="6A6F93"/>
                </a:solidFill>
                <a:latin typeface="Arial" pitchFamily="34" charset="0"/>
                <a:ea typeface="Arial" pitchFamily="34" charset="-122"/>
                <a:cs typeface="Arial" pitchFamily="34" charset="-120"/>
              </a:rPr>
              <a:t>どれも「この分野で実績があります」と言う</a:t>
            </a:r>
            <a:endParaRPr lang="en-US" sz="1250" dirty="0"/>
          </a:p>
        </p:txBody>
      </p:sp>
      <p:sp>
        <p:nvSpPr>
          <p:cNvPr id="86" name="Shape 84"/>
          <p:cNvSpPr/>
          <p:nvPr/>
        </p:nvSpPr>
        <p:spPr>
          <a:xfrm>
            <a:off x="7726680" y="1737360"/>
            <a:ext cx="3824935" cy="2926080"/>
          </a:xfrm>
          <a:prstGeom prst="roundRect">
            <a:avLst>
              <a:gd name="adj" fmla="val 1875"/>
            </a:avLst>
          </a:prstGeom>
          <a:solidFill>
            <a:srgbClr val="2B2F77"/>
          </a:solidFill>
          <a:ln/>
          <a:effectLst>
            <a:outerShdw sx="100000" sy="100000" kx="0" ky="0" algn="bl" rotWithShape="0" blurRad="127000" dist="19050" dir="5400000">
              <a:srgbClr val="2B2F77">
                <a:alpha val="12000"/>
              </a:srgbClr>
            </a:outerShdw>
          </a:effectLst>
        </p:spPr>
      </p:sp>
      <p:sp>
        <p:nvSpPr>
          <p:cNvPr id="87" name="Shape 85"/>
          <p:cNvSpPr/>
          <p:nvPr/>
        </p:nvSpPr>
        <p:spPr>
          <a:xfrm>
            <a:off x="8052938" y="2017166"/>
            <a:ext cx="353324" cy="344912"/>
          </a:xfrm>
          <a:prstGeom prst="roundRect">
            <a:avLst>
              <a:gd name="adj" fmla="val 6098"/>
            </a:avLst>
          </a:prstGeom>
          <a:solidFill>
            <a:srgbClr val="FFFFFF"/>
          </a:solidFill>
          <a:ln/>
        </p:spPr>
      </p:sp>
      <p:sp>
        <p:nvSpPr>
          <p:cNvPr id="88" name="Shape 86"/>
          <p:cNvSpPr/>
          <p:nvPr/>
        </p:nvSpPr>
        <p:spPr>
          <a:xfrm>
            <a:off x="8111825" y="2084466"/>
            <a:ext cx="75712" cy="58887"/>
          </a:xfrm>
          <a:prstGeom prst="rect">
            <a:avLst/>
          </a:prstGeom>
          <a:solidFill>
            <a:srgbClr val="2B2F77"/>
          </a:solidFill>
          <a:ln/>
        </p:spPr>
      </p:sp>
      <p:sp>
        <p:nvSpPr>
          <p:cNvPr id="89" name="Shape 87"/>
          <p:cNvSpPr/>
          <p:nvPr/>
        </p:nvSpPr>
        <p:spPr>
          <a:xfrm>
            <a:off x="8254837" y="2084466"/>
            <a:ext cx="75712" cy="58887"/>
          </a:xfrm>
          <a:prstGeom prst="rect">
            <a:avLst/>
          </a:prstGeom>
          <a:solidFill>
            <a:srgbClr val="2B2F77"/>
          </a:solidFill>
          <a:ln/>
        </p:spPr>
      </p:sp>
      <p:sp>
        <p:nvSpPr>
          <p:cNvPr id="90" name="Shape 88"/>
          <p:cNvSpPr/>
          <p:nvPr/>
        </p:nvSpPr>
        <p:spPr>
          <a:xfrm>
            <a:off x="8111825" y="2177004"/>
            <a:ext cx="75712" cy="58887"/>
          </a:xfrm>
          <a:prstGeom prst="rect">
            <a:avLst/>
          </a:prstGeom>
          <a:solidFill>
            <a:srgbClr val="2B2F77"/>
          </a:solidFill>
          <a:ln/>
        </p:spPr>
      </p:sp>
      <p:sp>
        <p:nvSpPr>
          <p:cNvPr id="91" name="Shape 89"/>
          <p:cNvSpPr/>
          <p:nvPr/>
        </p:nvSpPr>
        <p:spPr>
          <a:xfrm>
            <a:off x="8254837" y="2177004"/>
            <a:ext cx="75712" cy="58887"/>
          </a:xfrm>
          <a:prstGeom prst="rect">
            <a:avLst/>
          </a:prstGeom>
          <a:solidFill>
            <a:srgbClr val="2B2F77"/>
          </a:solidFill>
          <a:ln/>
        </p:spPr>
      </p:sp>
      <p:sp>
        <p:nvSpPr>
          <p:cNvPr id="92" name="Shape 90"/>
          <p:cNvSpPr/>
          <p:nvPr/>
        </p:nvSpPr>
        <p:spPr>
          <a:xfrm>
            <a:off x="8183331" y="2277953"/>
            <a:ext cx="75712" cy="84125"/>
          </a:xfrm>
          <a:prstGeom prst="rect">
            <a:avLst/>
          </a:prstGeom>
          <a:solidFill>
            <a:srgbClr val="2B2F77"/>
          </a:solidFill>
          <a:ln/>
        </p:spPr>
      </p:sp>
      <p:sp>
        <p:nvSpPr>
          <p:cNvPr id="93" name="Shape 91"/>
          <p:cNvSpPr/>
          <p:nvPr/>
        </p:nvSpPr>
        <p:spPr>
          <a:xfrm>
            <a:off x="8531352" y="1993392"/>
            <a:ext cx="1554480" cy="365760"/>
          </a:xfrm>
          <a:prstGeom prst="roundRect">
            <a:avLst>
              <a:gd name="adj" fmla="val 15000"/>
            </a:avLst>
          </a:prstGeom>
          <a:solidFill>
            <a:srgbClr val="FFFFFF"/>
          </a:solidFill>
          <a:ln/>
        </p:spPr>
      </p:sp>
      <p:sp>
        <p:nvSpPr>
          <p:cNvPr id="94" name="Text 92"/>
          <p:cNvSpPr txBox="1"/>
          <p:nvPr/>
        </p:nvSpPr>
        <p:spPr>
          <a:xfrm>
            <a:off x="8531352" y="1993392"/>
            <a:ext cx="1554480" cy="365760"/>
          </a:xfrm>
          <a:prstGeom prst="rect">
            <a:avLst/>
          </a:prstGeom>
          <a:noFill/>
          <a:ln/>
        </p:spPr>
        <p:txBody>
          <a:bodyPr wrap="square" lIns="0" tIns="0" rIns="0" bIns="0" rtlCol="0" anchor="ctr"/>
          <a:lstStyle/>
          <a:p>
            <a:pPr algn="ctr" indent="0" marL="0">
              <a:buNone/>
            </a:pPr>
            <a:r>
              <a:rPr lang="en-US" sz="1250" b="1" dirty="0">
                <a:solidFill>
                  <a:srgbClr val="2B2F77"/>
                </a:solidFill>
                <a:latin typeface="Arial" pitchFamily="34" charset="0"/>
                <a:ea typeface="Arial" pitchFamily="34" charset="-122"/>
                <a:cs typeface="Arial" pitchFamily="34" charset="-120"/>
              </a:rPr>
              <a:t>予約サービス</a:t>
            </a:r>
            <a:endParaRPr lang="en-US" sz="1250" dirty="0"/>
          </a:p>
        </p:txBody>
      </p:sp>
      <p:sp>
        <p:nvSpPr>
          <p:cNvPr id="95" name="Text 93"/>
          <p:cNvSpPr txBox="1"/>
          <p:nvPr/>
        </p:nvSpPr>
        <p:spPr>
          <a:xfrm>
            <a:off x="8019288" y="2606040"/>
            <a:ext cx="3239719" cy="868680"/>
          </a:xfrm>
          <a:prstGeom prst="rect">
            <a:avLst/>
          </a:prstGeom>
          <a:noFill/>
          <a:ln/>
        </p:spPr>
        <p:txBody>
          <a:bodyPr wrap="square" lIns="0" tIns="0" rIns="0" bIns="0" rtlCol="0" anchor="ctr"/>
          <a:lstStyle/>
          <a:p>
            <a:pPr algn="ctr" indent="0" marL="0">
              <a:buNone/>
            </a:pPr>
            <a:r>
              <a:rPr lang="en-US" sz="4600" b="1" dirty="0">
                <a:solidFill>
                  <a:srgbClr val="5FDDAE"/>
                </a:solidFill>
                <a:latin typeface="Arial" pitchFamily="34" charset="0"/>
                <a:ea typeface="Arial" pitchFamily="34" charset="-122"/>
                <a:cs typeface="Arial" pitchFamily="34" charset="-120"/>
              </a:rPr>
              <a:t>？</a:t>
            </a:r>
            <a:endParaRPr lang="en-US" sz="4600" dirty="0"/>
          </a:p>
        </p:txBody>
      </p:sp>
      <p:sp>
        <p:nvSpPr>
          <p:cNvPr id="96" name="Text 94"/>
          <p:cNvSpPr txBox="1"/>
          <p:nvPr/>
        </p:nvSpPr>
        <p:spPr>
          <a:xfrm>
            <a:off x="8019288" y="3566160"/>
            <a:ext cx="3239719" cy="731520"/>
          </a:xfrm>
          <a:prstGeom prst="rect">
            <a:avLst/>
          </a:prstGeom>
          <a:noFill/>
          <a:ln/>
        </p:spPr>
        <p:txBody>
          <a:bodyPr wrap="square" lIns="0" tIns="0" rIns="0" bIns="0" rtlCol="0" anchor="ctr"/>
          <a:lstStyle/>
          <a:p>
            <a:pPr algn="ctr" indent="0" marL="0">
              <a:lnSpc>
                <a:spcPts val="2400"/>
              </a:lnSpc>
              <a:buNone/>
            </a:pPr>
            <a:r>
              <a:rPr lang="en-US" sz="1600" b="1" dirty="0">
                <a:solidFill>
                  <a:srgbClr val="FFFFFF"/>
                </a:solidFill>
                <a:latin typeface="Arial" pitchFamily="34" charset="0"/>
                <a:ea typeface="Arial" pitchFamily="34" charset="-122"/>
                <a:cs typeface="Arial" pitchFamily="34" charset="-120"/>
              </a:rPr>
              <a:t>どれに任せてよいか、基準がない</a:t>
            </a:r>
            <a:endParaRPr lang="en-US" sz="1600" dirty="0"/>
          </a:p>
        </p:txBody>
      </p:sp>
      <p:sp>
        <p:nvSpPr>
          <p:cNvPr id="97" name="Shape 95"/>
          <p:cNvSpPr/>
          <p:nvPr/>
        </p:nvSpPr>
        <p:spPr>
          <a:xfrm>
            <a:off x="640080" y="4892040"/>
            <a:ext cx="10911535" cy="749808"/>
          </a:xfrm>
          <a:prstGeom prst="roundRect">
            <a:avLst>
              <a:gd name="adj" fmla="val 9756"/>
            </a:avLst>
          </a:prstGeom>
          <a:solidFill>
            <a:srgbClr val="EDEEF7"/>
          </a:solidFill>
          <a:ln/>
        </p:spPr>
      </p:sp>
      <p:sp>
        <p:nvSpPr>
          <p:cNvPr id="98" name="Text 96"/>
          <p:cNvSpPr txBox="1"/>
          <p:nvPr/>
        </p:nvSpPr>
        <p:spPr>
          <a:xfrm>
            <a:off x="1005840" y="4892040"/>
            <a:ext cx="10180015" cy="749808"/>
          </a:xfrm>
          <a:prstGeom prst="rect">
            <a:avLst/>
          </a:prstGeom>
          <a:noFill/>
          <a:ln/>
        </p:spPr>
        <p:txBody>
          <a:bodyPr wrap="square" lIns="0" tIns="0" rIns="0" bIns="0" rtlCol="0" anchor="ctr"/>
          <a:lstStyle/>
          <a:p>
            <a:pPr indent="0" marL="0">
              <a:buNone/>
            </a:pPr>
            <a:r>
              <a:rPr lang="en-US" sz="1600" b="1" dirty="0">
                <a:solidFill>
                  <a:srgbClr val="2B2F77"/>
                </a:solidFill>
                <a:latin typeface="Arial" pitchFamily="34" charset="0"/>
                <a:ea typeface="Arial" pitchFamily="34" charset="-122"/>
                <a:cs typeface="Arial" pitchFamily="34" charset="-120"/>
              </a:rPr>
              <a:t>手がかりになりそうなのは、他所のサービスで積んだ実績</a:t>
            </a:r>
            <a:endParaRPr lang="en-US" sz="1600" dirty="0"/>
          </a:p>
        </p:txBody>
      </p:sp>
      <p:sp>
        <p:nvSpPr>
          <p:cNvPr id="99" name="Text 97"/>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02 ─ 問題提起</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「実績があります」と言われても、確かめようがない</a:t>
            </a:r>
            <a:endParaRPr lang="en-US" sz="2900" dirty="0"/>
          </a:p>
        </p:txBody>
      </p:sp>
      <p:sp>
        <p:nvSpPr>
          <p:cNvPr id="4" name="Shape 2"/>
          <p:cNvSpPr/>
          <p:nvPr/>
        </p:nvSpPr>
        <p:spPr>
          <a:xfrm>
            <a:off x="640080" y="1783080"/>
            <a:ext cx="4937760" cy="2651760"/>
          </a:xfrm>
          <a:prstGeom prst="roundRect">
            <a:avLst>
              <a:gd name="adj" fmla="val 2069"/>
            </a:avLst>
          </a:prstGeom>
          <a:solidFill>
            <a:srgbClr val="F8F9FD"/>
          </a:solidFill>
          <a:ln w="28575">
            <a:solidFill>
              <a:srgbClr val="2B2F77"/>
            </a:solidFill>
            <a:prstDash val="solid"/>
          </a:ln>
          <a:effectLst>
            <a:outerShdw sx="100000" sy="100000" kx="0" ky="0" algn="bl" rotWithShape="0" blurRad="127000" dist="19050" dir="5400000">
              <a:srgbClr val="2B2F77">
                <a:alpha val="12000"/>
              </a:srgbClr>
            </a:outerShdw>
          </a:effectLst>
        </p:spPr>
      </p:sp>
      <p:sp>
        <p:nvSpPr>
          <p:cNvPr id="5" name="Shape 3"/>
          <p:cNvSpPr/>
          <p:nvPr/>
        </p:nvSpPr>
        <p:spPr>
          <a:xfrm>
            <a:off x="932688" y="2039112"/>
            <a:ext cx="1280160" cy="365760"/>
          </a:xfrm>
          <a:prstGeom prst="roundRect">
            <a:avLst>
              <a:gd name="adj" fmla="val 15000"/>
            </a:avLst>
          </a:prstGeom>
          <a:solidFill>
            <a:srgbClr val="2B2F77"/>
          </a:solidFill>
          <a:ln/>
        </p:spPr>
      </p:sp>
      <p:sp>
        <p:nvSpPr>
          <p:cNvPr id="6" name="Text 4"/>
          <p:cNvSpPr txBox="1"/>
          <p:nvPr/>
        </p:nvSpPr>
        <p:spPr>
          <a:xfrm>
            <a:off x="932688" y="2039112"/>
            <a:ext cx="12801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AI Agent</a:t>
            </a:r>
            <a:endParaRPr lang="en-US" sz="1250" dirty="0"/>
          </a:p>
        </p:txBody>
      </p:sp>
      <p:sp>
        <p:nvSpPr>
          <p:cNvPr id="7" name="Text 5"/>
          <p:cNvSpPr txBox="1"/>
          <p:nvPr/>
        </p:nvSpPr>
        <p:spPr>
          <a:xfrm>
            <a:off x="2331720" y="2039112"/>
            <a:ext cx="2971800" cy="365760"/>
          </a:xfrm>
          <a:prstGeom prst="rect">
            <a:avLst/>
          </a:prstGeom>
          <a:noFill/>
          <a:ln/>
        </p:spPr>
        <p:txBody>
          <a:bodyPr wrap="square" lIns="0" tIns="0" rIns="0" bIns="0" rtlCol="0" anchor="ctr"/>
          <a:lstStyle/>
          <a:p>
            <a:pPr algn="r" indent="0" marL="0">
              <a:buNone/>
            </a:pPr>
            <a:r>
              <a:rPr lang="en-US" sz="1050" b="1" dirty="0">
                <a:solidFill>
                  <a:srgbClr val="6A6F93"/>
                </a:solidFill>
                <a:latin typeface="Courier New" pitchFamily="34" charset="0"/>
                <a:ea typeface="Courier New" pitchFamily="34" charset="-122"/>
                <a:cs typeface="Courier New" pitchFamily="34" charset="-120"/>
              </a:rPr>
              <a:t>travel-agent-01</a:t>
            </a:r>
            <a:endParaRPr lang="en-US" sz="1050" dirty="0"/>
          </a:p>
        </p:txBody>
      </p:sp>
      <p:sp>
        <p:nvSpPr>
          <p:cNvPr id="8" name="Shape 6"/>
          <p:cNvSpPr/>
          <p:nvPr/>
        </p:nvSpPr>
        <p:spPr>
          <a:xfrm>
            <a:off x="1490472" y="2624328"/>
            <a:ext cx="139903" cy="139903"/>
          </a:xfrm>
          <a:prstGeom prst="ellipse">
            <a:avLst/>
          </a:prstGeom>
          <a:solidFill>
            <a:srgbClr val="00875F"/>
          </a:solidFill>
          <a:ln/>
        </p:spPr>
      </p:sp>
      <p:sp>
        <p:nvSpPr>
          <p:cNvPr id="9" name="Shape 7"/>
          <p:cNvSpPr/>
          <p:nvPr/>
        </p:nvSpPr>
        <p:spPr>
          <a:xfrm>
            <a:off x="1540993" y="2740914"/>
            <a:ext cx="38862" cy="155448"/>
          </a:xfrm>
          <a:prstGeom prst="rect">
            <a:avLst/>
          </a:prstGeom>
          <a:solidFill>
            <a:srgbClr val="2B2F77"/>
          </a:solidFill>
          <a:ln/>
        </p:spPr>
      </p:sp>
      <p:sp>
        <p:nvSpPr>
          <p:cNvPr id="10" name="Shape 8"/>
          <p:cNvSpPr/>
          <p:nvPr/>
        </p:nvSpPr>
        <p:spPr>
          <a:xfrm>
            <a:off x="1039673" y="3075127"/>
            <a:ext cx="85496" cy="202082"/>
          </a:xfrm>
          <a:prstGeom prst="roundRect">
            <a:avLst>
              <a:gd name="adj" fmla="val 32086"/>
            </a:avLst>
          </a:prstGeom>
          <a:solidFill>
            <a:srgbClr val="5257AE"/>
          </a:solidFill>
          <a:ln/>
        </p:spPr>
      </p:sp>
      <p:sp>
        <p:nvSpPr>
          <p:cNvPr id="11" name="Shape 9"/>
          <p:cNvSpPr/>
          <p:nvPr/>
        </p:nvSpPr>
        <p:spPr>
          <a:xfrm>
            <a:off x="1987906" y="3075127"/>
            <a:ext cx="85496" cy="202082"/>
          </a:xfrm>
          <a:prstGeom prst="roundRect">
            <a:avLst>
              <a:gd name="adj" fmla="val 32086"/>
            </a:avLst>
          </a:prstGeom>
          <a:solidFill>
            <a:srgbClr val="5257AE"/>
          </a:solidFill>
          <a:ln/>
        </p:spPr>
      </p:sp>
      <p:sp>
        <p:nvSpPr>
          <p:cNvPr id="12" name="Shape 10"/>
          <p:cNvSpPr/>
          <p:nvPr/>
        </p:nvSpPr>
        <p:spPr>
          <a:xfrm>
            <a:off x="1117397" y="2880817"/>
            <a:ext cx="870509" cy="683971"/>
          </a:xfrm>
          <a:prstGeom prst="roundRect">
            <a:avLst>
              <a:gd name="adj" fmla="val 15909"/>
            </a:avLst>
          </a:prstGeom>
          <a:solidFill>
            <a:srgbClr val="2B2F77"/>
          </a:solidFill>
          <a:ln/>
        </p:spPr>
      </p:sp>
      <p:sp>
        <p:nvSpPr>
          <p:cNvPr id="13" name="Shape 11"/>
          <p:cNvSpPr/>
          <p:nvPr/>
        </p:nvSpPr>
        <p:spPr>
          <a:xfrm>
            <a:off x="1319479" y="3067355"/>
            <a:ext cx="132131" cy="132131"/>
          </a:xfrm>
          <a:prstGeom prst="ellipse">
            <a:avLst/>
          </a:prstGeom>
          <a:solidFill>
            <a:srgbClr val="00875F"/>
          </a:solidFill>
          <a:ln/>
        </p:spPr>
      </p:sp>
      <p:sp>
        <p:nvSpPr>
          <p:cNvPr id="14" name="Shape 12"/>
          <p:cNvSpPr/>
          <p:nvPr/>
        </p:nvSpPr>
        <p:spPr>
          <a:xfrm>
            <a:off x="1653692" y="3067355"/>
            <a:ext cx="132131" cy="132131"/>
          </a:xfrm>
          <a:prstGeom prst="ellipse">
            <a:avLst/>
          </a:prstGeom>
          <a:solidFill>
            <a:srgbClr val="00875F"/>
          </a:solidFill>
          <a:ln/>
        </p:spPr>
      </p:sp>
      <p:sp>
        <p:nvSpPr>
          <p:cNvPr id="15" name="Shape 13"/>
          <p:cNvSpPr/>
          <p:nvPr/>
        </p:nvSpPr>
        <p:spPr>
          <a:xfrm>
            <a:off x="1412748" y="3339389"/>
            <a:ext cx="279806" cy="77724"/>
          </a:xfrm>
          <a:prstGeom prst="roundRect">
            <a:avLst>
              <a:gd name="adj" fmla="val 30000"/>
            </a:avLst>
          </a:prstGeom>
          <a:solidFill>
            <a:srgbClr val="DFE1F1"/>
          </a:solidFill>
          <a:ln/>
        </p:spPr>
      </p:sp>
      <p:sp>
        <p:nvSpPr>
          <p:cNvPr id="16" name="Shape 14"/>
          <p:cNvSpPr/>
          <p:nvPr/>
        </p:nvSpPr>
        <p:spPr>
          <a:xfrm>
            <a:off x="1506017" y="3564788"/>
            <a:ext cx="93269" cy="77724"/>
          </a:xfrm>
          <a:prstGeom prst="rect">
            <a:avLst/>
          </a:prstGeom>
          <a:solidFill>
            <a:srgbClr val="5257AE"/>
          </a:solidFill>
          <a:ln/>
        </p:spPr>
      </p:sp>
      <p:sp>
        <p:nvSpPr>
          <p:cNvPr id="17" name="Shape 15"/>
          <p:cNvSpPr/>
          <p:nvPr/>
        </p:nvSpPr>
        <p:spPr>
          <a:xfrm>
            <a:off x="1257300" y="3634740"/>
            <a:ext cx="590702" cy="295351"/>
          </a:xfrm>
          <a:prstGeom prst="roundRect">
            <a:avLst>
              <a:gd name="adj" fmla="val 26316"/>
            </a:avLst>
          </a:prstGeom>
          <a:solidFill>
            <a:srgbClr val="5257AE"/>
          </a:solidFill>
          <a:ln/>
        </p:spPr>
      </p:sp>
      <p:sp>
        <p:nvSpPr>
          <p:cNvPr id="18" name="Text 16"/>
          <p:cNvSpPr txBox="1"/>
          <p:nvPr/>
        </p:nvSpPr>
        <p:spPr>
          <a:xfrm>
            <a:off x="2331720" y="2606040"/>
            <a:ext cx="2953512" cy="731520"/>
          </a:xfrm>
          <a:prstGeom prst="rect">
            <a:avLst/>
          </a:prstGeom>
          <a:noFill/>
          <a:ln/>
        </p:spPr>
        <p:txBody>
          <a:bodyPr wrap="square" lIns="0" tIns="0" rIns="0" bIns="0" rtlCol="0" anchor="ctr"/>
          <a:lstStyle/>
          <a:p>
            <a:pPr indent="0" marL="0">
              <a:lnSpc>
                <a:spcPts val="2100"/>
              </a:lnSpc>
              <a:buNone/>
            </a:pPr>
            <a:r>
              <a:rPr lang="en-US" sz="1250" dirty="0">
                <a:solidFill>
                  <a:srgbClr val="3A3F63"/>
                </a:solidFill>
                <a:latin typeface="Arial" pitchFamily="34" charset="0"/>
                <a:ea typeface="Arial" pitchFamily="34" charset="-122"/>
                <a:cs typeface="Arial" pitchFamily="34" charset="-120"/>
              </a:rPr>
              <a:t>旅行予約を代行する AI エージェント</a:t>
            </a:r>
            <a:endParaRPr lang="en-US" sz="1250" dirty="0"/>
          </a:p>
        </p:txBody>
      </p:sp>
      <p:sp>
        <p:nvSpPr>
          <p:cNvPr id="19" name="Text 17"/>
          <p:cNvSpPr txBox="1"/>
          <p:nvPr/>
        </p:nvSpPr>
        <p:spPr>
          <a:xfrm>
            <a:off x="2331720" y="3429000"/>
            <a:ext cx="2953512" cy="457200"/>
          </a:xfrm>
          <a:prstGeom prst="rect">
            <a:avLst/>
          </a:prstGeom>
          <a:noFill/>
          <a:ln/>
        </p:spPr>
        <p:txBody>
          <a:bodyPr wrap="square" lIns="0" tIns="0" rIns="0" bIns="0" rtlCol="0" anchor="ctr"/>
          <a:lstStyle/>
          <a:p>
            <a:pPr indent="0" marL="0">
              <a:buNone/>
            </a:pPr>
            <a:r>
              <a:rPr lang="en-US" sz="1450" b="1" dirty="0">
                <a:solidFill>
                  <a:srgbClr val="2B2F77"/>
                </a:solidFill>
                <a:latin typeface="Arial" pitchFamily="34" charset="0"/>
                <a:ea typeface="Arial" pitchFamily="34" charset="-122"/>
                <a:cs typeface="Arial" pitchFamily="34" charset="-120"/>
              </a:rPr>
              <a:t>「他のサービスで実績があります」</a:t>
            </a:r>
            <a:endParaRPr lang="en-US" sz="1450" dirty="0"/>
          </a:p>
        </p:txBody>
      </p:sp>
      <p:sp>
        <p:nvSpPr>
          <p:cNvPr id="20" name="Text 18"/>
          <p:cNvSpPr txBox="1"/>
          <p:nvPr/>
        </p:nvSpPr>
        <p:spPr>
          <a:xfrm>
            <a:off x="2331720" y="3904488"/>
            <a:ext cx="2953512" cy="274320"/>
          </a:xfrm>
          <a:prstGeom prst="rect">
            <a:avLst/>
          </a:prstGeom>
          <a:noFill/>
          <a:ln/>
        </p:spPr>
        <p:txBody>
          <a:bodyPr wrap="square" lIns="0" tIns="0" rIns="0" bIns="0" rtlCol="0" anchor="ctr"/>
          <a:lstStyle/>
          <a:p>
            <a:pPr indent="0" marL="0">
              <a:buNone/>
            </a:pPr>
            <a:r>
              <a:rPr lang="en-US" sz="1050" dirty="0">
                <a:solidFill>
                  <a:srgbClr val="6A6F93"/>
                </a:solidFill>
                <a:latin typeface="Arial" pitchFamily="34" charset="0"/>
                <a:ea typeface="Arial" pitchFamily="34" charset="-122"/>
                <a:cs typeface="Arial" pitchFamily="34" charset="-120"/>
              </a:rPr>
              <a:t>— 本人の自己申告</a:t>
            </a:r>
            <a:endParaRPr lang="en-US" sz="1050" dirty="0"/>
          </a:p>
        </p:txBody>
      </p:sp>
      <p:sp>
        <p:nvSpPr>
          <p:cNvPr id="21" name="Shape 19"/>
          <p:cNvSpPr/>
          <p:nvPr/>
        </p:nvSpPr>
        <p:spPr>
          <a:xfrm>
            <a:off x="5687568" y="2944368"/>
            <a:ext cx="502920" cy="329184"/>
          </a:xfrm>
          <a:prstGeom prst="rightArrow">
            <a:avLst/>
          </a:prstGeom>
          <a:solidFill>
            <a:srgbClr val="C0402A"/>
          </a:solidFill>
          <a:ln/>
        </p:spPr>
      </p:sp>
      <p:sp>
        <p:nvSpPr>
          <p:cNvPr id="22" name="Shape 20"/>
          <p:cNvSpPr/>
          <p:nvPr/>
        </p:nvSpPr>
        <p:spPr>
          <a:xfrm>
            <a:off x="6300216" y="1783080"/>
            <a:ext cx="5251399" cy="2651760"/>
          </a:xfrm>
          <a:prstGeom prst="roundRect">
            <a:avLst>
              <a:gd name="adj" fmla="val 2069"/>
            </a:avLst>
          </a:prstGeom>
          <a:solidFill>
            <a:srgbClr val="2B2F77"/>
          </a:solidFill>
          <a:ln/>
          <a:effectLst>
            <a:outerShdw sx="100000" sy="100000" kx="0" ky="0" algn="bl" rotWithShape="0" blurRad="127000" dist="19050" dir="5400000">
              <a:srgbClr val="2B2F77">
                <a:alpha val="12000"/>
              </a:srgbClr>
            </a:outerShdw>
          </a:effectLst>
        </p:spPr>
      </p:sp>
      <p:sp>
        <p:nvSpPr>
          <p:cNvPr id="23" name="Shape 21"/>
          <p:cNvSpPr/>
          <p:nvPr/>
        </p:nvSpPr>
        <p:spPr>
          <a:xfrm>
            <a:off x="6626474" y="2044598"/>
            <a:ext cx="353324" cy="344912"/>
          </a:xfrm>
          <a:prstGeom prst="roundRect">
            <a:avLst>
              <a:gd name="adj" fmla="val 6098"/>
            </a:avLst>
          </a:prstGeom>
          <a:solidFill>
            <a:srgbClr val="FFFFFF"/>
          </a:solidFill>
          <a:ln/>
        </p:spPr>
      </p:sp>
      <p:sp>
        <p:nvSpPr>
          <p:cNvPr id="24" name="Shape 22"/>
          <p:cNvSpPr/>
          <p:nvPr/>
        </p:nvSpPr>
        <p:spPr>
          <a:xfrm>
            <a:off x="6685361" y="2111898"/>
            <a:ext cx="75712" cy="58887"/>
          </a:xfrm>
          <a:prstGeom prst="rect">
            <a:avLst/>
          </a:prstGeom>
          <a:solidFill>
            <a:srgbClr val="2B2F77"/>
          </a:solidFill>
          <a:ln/>
        </p:spPr>
      </p:sp>
      <p:sp>
        <p:nvSpPr>
          <p:cNvPr id="25" name="Shape 23"/>
          <p:cNvSpPr/>
          <p:nvPr/>
        </p:nvSpPr>
        <p:spPr>
          <a:xfrm>
            <a:off x="6828373" y="2111898"/>
            <a:ext cx="75712" cy="58887"/>
          </a:xfrm>
          <a:prstGeom prst="rect">
            <a:avLst/>
          </a:prstGeom>
          <a:solidFill>
            <a:srgbClr val="2B2F77"/>
          </a:solidFill>
          <a:ln/>
        </p:spPr>
      </p:sp>
      <p:sp>
        <p:nvSpPr>
          <p:cNvPr id="26" name="Shape 24"/>
          <p:cNvSpPr/>
          <p:nvPr/>
        </p:nvSpPr>
        <p:spPr>
          <a:xfrm>
            <a:off x="6685361" y="2204436"/>
            <a:ext cx="75712" cy="58887"/>
          </a:xfrm>
          <a:prstGeom prst="rect">
            <a:avLst/>
          </a:prstGeom>
          <a:solidFill>
            <a:srgbClr val="2B2F77"/>
          </a:solidFill>
          <a:ln/>
        </p:spPr>
      </p:sp>
      <p:sp>
        <p:nvSpPr>
          <p:cNvPr id="27" name="Shape 25"/>
          <p:cNvSpPr/>
          <p:nvPr/>
        </p:nvSpPr>
        <p:spPr>
          <a:xfrm>
            <a:off x="6828373" y="2204436"/>
            <a:ext cx="75712" cy="58887"/>
          </a:xfrm>
          <a:prstGeom prst="rect">
            <a:avLst/>
          </a:prstGeom>
          <a:solidFill>
            <a:srgbClr val="2B2F77"/>
          </a:solidFill>
          <a:ln/>
        </p:spPr>
      </p:sp>
      <p:sp>
        <p:nvSpPr>
          <p:cNvPr id="28" name="Shape 26"/>
          <p:cNvSpPr/>
          <p:nvPr/>
        </p:nvSpPr>
        <p:spPr>
          <a:xfrm>
            <a:off x="6756867" y="2305385"/>
            <a:ext cx="75712" cy="84125"/>
          </a:xfrm>
          <a:prstGeom prst="rect">
            <a:avLst/>
          </a:prstGeom>
          <a:solidFill>
            <a:srgbClr val="2B2F77"/>
          </a:solidFill>
          <a:ln/>
        </p:spPr>
      </p:sp>
      <p:sp>
        <p:nvSpPr>
          <p:cNvPr id="29" name="Shape 27"/>
          <p:cNvSpPr/>
          <p:nvPr/>
        </p:nvSpPr>
        <p:spPr>
          <a:xfrm>
            <a:off x="7077456" y="2039112"/>
            <a:ext cx="1554480" cy="365760"/>
          </a:xfrm>
          <a:prstGeom prst="roundRect">
            <a:avLst>
              <a:gd name="adj" fmla="val 15000"/>
            </a:avLst>
          </a:prstGeom>
          <a:solidFill>
            <a:srgbClr val="FFFFFF"/>
          </a:solidFill>
          <a:ln/>
        </p:spPr>
      </p:sp>
      <p:sp>
        <p:nvSpPr>
          <p:cNvPr id="30" name="Text 28"/>
          <p:cNvSpPr txBox="1"/>
          <p:nvPr/>
        </p:nvSpPr>
        <p:spPr>
          <a:xfrm>
            <a:off x="7077456" y="2039112"/>
            <a:ext cx="1554480" cy="365760"/>
          </a:xfrm>
          <a:prstGeom prst="rect">
            <a:avLst/>
          </a:prstGeom>
          <a:noFill/>
          <a:ln/>
        </p:spPr>
        <p:txBody>
          <a:bodyPr wrap="square" lIns="0" tIns="0" rIns="0" bIns="0" rtlCol="0" anchor="ctr"/>
          <a:lstStyle/>
          <a:p>
            <a:pPr algn="ctr" indent="0" marL="0">
              <a:buNone/>
            </a:pPr>
            <a:r>
              <a:rPr lang="en-US" sz="1250" b="1" dirty="0">
                <a:solidFill>
                  <a:srgbClr val="2B2F77"/>
                </a:solidFill>
                <a:latin typeface="Arial" pitchFamily="34" charset="0"/>
                <a:ea typeface="Arial" pitchFamily="34" charset="-122"/>
                <a:cs typeface="Arial" pitchFamily="34" charset="-120"/>
              </a:rPr>
              <a:t>予約サービス</a:t>
            </a:r>
            <a:endParaRPr lang="en-US" sz="1250" dirty="0"/>
          </a:p>
        </p:txBody>
      </p:sp>
      <p:sp>
        <p:nvSpPr>
          <p:cNvPr id="31" name="Text 29"/>
          <p:cNvSpPr txBox="1"/>
          <p:nvPr/>
        </p:nvSpPr>
        <p:spPr>
          <a:xfrm>
            <a:off x="8769096" y="2039112"/>
            <a:ext cx="2489911" cy="365760"/>
          </a:xfrm>
          <a:prstGeom prst="rect">
            <a:avLst/>
          </a:prstGeom>
          <a:noFill/>
          <a:ln/>
        </p:spPr>
        <p:txBody>
          <a:bodyPr wrap="square" lIns="0" tIns="0" rIns="0" bIns="0" rtlCol="0" anchor="ctr"/>
          <a:lstStyle/>
          <a:p>
            <a:pPr algn="r" indent="0" marL="0">
              <a:buNone/>
            </a:pPr>
            <a:r>
              <a:rPr lang="en-US" sz="1100" dirty="0">
                <a:solidFill>
                  <a:srgbClr val="DFE1F1"/>
                </a:solidFill>
                <a:latin typeface="Arial" pitchFamily="34" charset="0"/>
                <a:ea typeface="Arial" pitchFamily="34" charset="-122"/>
                <a:cs typeface="Arial" pitchFamily="34" charset="-120"/>
              </a:rPr>
              <a:t>この Agent は初めて</a:t>
            </a:r>
            <a:endParaRPr lang="en-US" sz="1100" dirty="0"/>
          </a:p>
        </p:txBody>
      </p:sp>
      <p:sp>
        <p:nvSpPr>
          <p:cNvPr id="32" name="Text 30"/>
          <p:cNvSpPr txBox="1"/>
          <p:nvPr/>
        </p:nvSpPr>
        <p:spPr>
          <a:xfrm>
            <a:off x="6592824" y="2587752"/>
            <a:ext cx="4666183"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「この AI エージェントに予約を任せてよいか？」</a:t>
            </a:r>
            <a:endParaRPr lang="en-US" sz="1500" dirty="0"/>
          </a:p>
        </p:txBody>
      </p:sp>
      <p:sp>
        <p:nvSpPr>
          <p:cNvPr id="33" name="Shape 31"/>
          <p:cNvSpPr/>
          <p:nvPr/>
        </p:nvSpPr>
        <p:spPr>
          <a:xfrm>
            <a:off x="6592824" y="3246120"/>
            <a:ext cx="4666183" cy="475488"/>
          </a:xfrm>
          <a:prstGeom prst="roundRect">
            <a:avLst>
              <a:gd name="adj" fmla="val 9615"/>
            </a:avLst>
          </a:prstGeom>
          <a:solidFill>
            <a:srgbClr val="222657"/>
          </a:solidFill>
          <a:ln/>
        </p:spPr>
      </p:sp>
      <p:sp>
        <p:nvSpPr>
          <p:cNvPr id="34" name="Text 32"/>
          <p:cNvSpPr txBox="1"/>
          <p:nvPr/>
        </p:nvSpPr>
        <p:spPr>
          <a:xfrm>
            <a:off x="6757416" y="3246120"/>
            <a:ext cx="274320" cy="475488"/>
          </a:xfrm>
          <a:prstGeom prst="rect">
            <a:avLst/>
          </a:prstGeom>
          <a:noFill/>
          <a:ln/>
        </p:spPr>
        <p:txBody>
          <a:bodyPr wrap="square" lIns="0" tIns="0" rIns="0" bIns="0" rtlCol="0" anchor="ctr"/>
          <a:lstStyle/>
          <a:p>
            <a:pPr indent="0" marL="0">
              <a:buNone/>
            </a:pPr>
            <a:r>
              <a:rPr lang="en-US" sz="1400" b="1" dirty="0">
                <a:solidFill>
                  <a:srgbClr val="FF8A75"/>
                </a:solidFill>
                <a:latin typeface="Arial" pitchFamily="34" charset="0"/>
                <a:ea typeface="Arial" pitchFamily="34" charset="-122"/>
                <a:cs typeface="Arial" pitchFamily="34" charset="-120"/>
              </a:rPr>
              <a:t>✗</a:t>
            </a:r>
            <a:endParaRPr lang="en-US" sz="1400" dirty="0"/>
          </a:p>
        </p:txBody>
      </p:sp>
      <p:sp>
        <p:nvSpPr>
          <p:cNvPr id="35" name="Text 33"/>
          <p:cNvSpPr txBox="1"/>
          <p:nvPr/>
        </p:nvSpPr>
        <p:spPr>
          <a:xfrm>
            <a:off x="7104888" y="3246120"/>
            <a:ext cx="4154119" cy="47548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自己申告は確かめられない</a:t>
            </a:r>
            <a:endParaRPr lang="en-US" sz="1300" dirty="0"/>
          </a:p>
        </p:txBody>
      </p:sp>
      <p:sp>
        <p:nvSpPr>
          <p:cNvPr id="36" name="Shape 34"/>
          <p:cNvSpPr/>
          <p:nvPr/>
        </p:nvSpPr>
        <p:spPr>
          <a:xfrm>
            <a:off x="6592824" y="3813048"/>
            <a:ext cx="4666183" cy="475488"/>
          </a:xfrm>
          <a:prstGeom prst="roundRect">
            <a:avLst>
              <a:gd name="adj" fmla="val 9615"/>
            </a:avLst>
          </a:prstGeom>
          <a:solidFill>
            <a:srgbClr val="222657"/>
          </a:solidFill>
          <a:ln/>
        </p:spPr>
      </p:sp>
      <p:sp>
        <p:nvSpPr>
          <p:cNvPr id="37" name="Text 35"/>
          <p:cNvSpPr txBox="1"/>
          <p:nvPr/>
        </p:nvSpPr>
        <p:spPr>
          <a:xfrm>
            <a:off x="6757416" y="3813048"/>
            <a:ext cx="274320" cy="475488"/>
          </a:xfrm>
          <a:prstGeom prst="rect">
            <a:avLst/>
          </a:prstGeom>
          <a:noFill/>
          <a:ln/>
        </p:spPr>
        <p:txBody>
          <a:bodyPr wrap="square" lIns="0" tIns="0" rIns="0" bIns="0" rtlCol="0" anchor="ctr"/>
          <a:lstStyle/>
          <a:p>
            <a:pPr indent="0" marL="0">
              <a:buNone/>
            </a:pPr>
            <a:r>
              <a:rPr lang="en-US" sz="1400" b="1" dirty="0">
                <a:solidFill>
                  <a:srgbClr val="FF8A75"/>
                </a:solidFill>
                <a:latin typeface="Arial" pitchFamily="34" charset="0"/>
                <a:ea typeface="Arial" pitchFamily="34" charset="-122"/>
                <a:cs typeface="Arial" pitchFamily="34" charset="-120"/>
              </a:rPr>
              <a:t>✗</a:t>
            </a:r>
            <a:endParaRPr lang="en-US" sz="1400" dirty="0"/>
          </a:p>
        </p:txBody>
      </p:sp>
      <p:sp>
        <p:nvSpPr>
          <p:cNvPr id="38" name="Text 36"/>
          <p:cNvSpPr txBox="1"/>
          <p:nvPr/>
        </p:nvSpPr>
        <p:spPr>
          <a:xfrm>
            <a:off x="7104888" y="3813048"/>
            <a:ext cx="4154119" cy="47548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確かめるには履歴を全部もらうしかない</a:t>
            </a:r>
            <a:endParaRPr lang="en-US" sz="1300" dirty="0"/>
          </a:p>
        </p:txBody>
      </p:sp>
      <p:sp>
        <p:nvSpPr>
          <p:cNvPr id="39" name="Shape 37"/>
          <p:cNvSpPr/>
          <p:nvPr/>
        </p:nvSpPr>
        <p:spPr>
          <a:xfrm>
            <a:off x="640080" y="4846320"/>
            <a:ext cx="10911535" cy="749808"/>
          </a:xfrm>
          <a:prstGeom prst="roundRect">
            <a:avLst>
              <a:gd name="adj" fmla="val 9756"/>
            </a:avLst>
          </a:prstGeom>
          <a:solidFill>
            <a:srgbClr val="EDEEF7"/>
          </a:solidFill>
          <a:ln/>
        </p:spPr>
      </p:sp>
      <p:sp>
        <p:nvSpPr>
          <p:cNvPr id="40" name="Text 38"/>
          <p:cNvSpPr txBox="1"/>
          <p:nvPr/>
        </p:nvSpPr>
        <p:spPr>
          <a:xfrm>
            <a:off x="1005840" y="4846320"/>
            <a:ext cx="10180015" cy="749808"/>
          </a:xfrm>
          <a:prstGeom prst="rect">
            <a:avLst/>
          </a:prstGeom>
          <a:noFill/>
          <a:ln/>
        </p:spPr>
        <p:txBody>
          <a:bodyPr wrap="square" lIns="0" tIns="0" rIns="0" bIns="0" rtlCol="0" anchor="ctr"/>
          <a:lstStyle/>
          <a:p>
            <a:pPr indent="0" marL="0">
              <a:buNone/>
            </a:pPr>
            <a:r>
              <a:rPr lang="en-US" sz="1600" b="1" dirty="0">
                <a:solidFill>
                  <a:srgbClr val="2B2F77"/>
                </a:solidFill>
                <a:latin typeface="Arial" pitchFamily="34" charset="0"/>
                <a:ea typeface="Arial" pitchFamily="34" charset="-122"/>
                <a:cs typeface="Arial" pitchFamily="34" charset="-120"/>
              </a:rPr>
              <a:t>ほしいのは、「他所で積んだ実績を、検証できる形で持ち運ぶこと」</a:t>
            </a:r>
            <a:endParaRPr lang="en-US" sz="1600" dirty="0"/>
          </a:p>
        </p:txBody>
      </p:sp>
      <p:sp>
        <p:nvSpPr>
          <p:cNvPr id="41" name="Text 39"/>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03 ─ AI 固有の難しさ</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同じ名前のまま、モデルも権限も入れ替えられる</a:t>
            </a:r>
            <a:endParaRPr lang="en-US" sz="2900" dirty="0"/>
          </a:p>
        </p:txBody>
      </p:sp>
      <p:sp>
        <p:nvSpPr>
          <p:cNvPr id="4" name="Shape 2"/>
          <p:cNvSpPr/>
          <p:nvPr/>
        </p:nvSpPr>
        <p:spPr>
          <a:xfrm>
            <a:off x="640080" y="1783080"/>
            <a:ext cx="5227168" cy="3063240"/>
          </a:xfrm>
          <a:prstGeom prst="roundRect">
            <a:avLst>
              <a:gd name="adj" fmla="val 1791"/>
            </a:avLst>
          </a:prstGeom>
          <a:solidFill>
            <a:srgbClr val="F8F9FD"/>
          </a:solidFill>
          <a:ln w="28575">
            <a:solidFill>
              <a:srgbClr val="2B2F77"/>
            </a:solidFill>
            <a:prstDash val="solid"/>
          </a:ln>
          <a:effectLst>
            <a:outerShdw sx="100000" sy="100000" kx="0" ky="0" algn="bl" rotWithShape="0" blurRad="127000" dist="19050" dir="5400000">
              <a:srgbClr val="2B2F77">
                <a:alpha val="12000"/>
              </a:srgbClr>
            </a:outerShdw>
          </a:effectLst>
        </p:spPr>
      </p:sp>
      <p:sp>
        <p:nvSpPr>
          <p:cNvPr id="5" name="Shape 3"/>
          <p:cNvSpPr/>
          <p:nvPr/>
        </p:nvSpPr>
        <p:spPr>
          <a:xfrm>
            <a:off x="1089965" y="1911096"/>
            <a:ext cx="52669" cy="52669"/>
          </a:xfrm>
          <a:prstGeom prst="ellipse">
            <a:avLst/>
          </a:prstGeom>
          <a:solidFill>
            <a:srgbClr val="00875F"/>
          </a:solidFill>
          <a:ln/>
        </p:spPr>
      </p:sp>
      <p:sp>
        <p:nvSpPr>
          <p:cNvPr id="6" name="Shape 4"/>
          <p:cNvSpPr/>
          <p:nvPr/>
        </p:nvSpPr>
        <p:spPr>
          <a:xfrm>
            <a:off x="1108984" y="1954987"/>
            <a:ext cx="14630" cy="58522"/>
          </a:xfrm>
          <a:prstGeom prst="rect">
            <a:avLst/>
          </a:prstGeom>
          <a:solidFill>
            <a:srgbClr val="2B2F77"/>
          </a:solidFill>
          <a:ln/>
        </p:spPr>
      </p:sp>
      <p:sp>
        <p:nvSpPr>
          <p:cNvPr id="7" name="Shape 5"/>
          <p:cNvSpPr/>
          <p:nvPr/>
        </p:nvSpPr>
        <p:spPr>
          <a:xfrm>
            <a:off x="920252" y="2080809"/>
            <a:ext cx="32187" cy="76078"/>
          </a:xfrm>
          <a:prstGeom prst="roundRect">
            <a:avLst>
              <a:gd name="adj" fmla="val 85227"/>
            </a:avLst>
          </a:prstGeom>
          <a:solidFill>
            <a:srgbClr val="5257AE"/>
          </a:solidFill>
          <a:ln/>
        </p:spPr>
      </p:sp>
      <p:sp>
        <p:nvSpPr>
          <p:cNvPr id="8" name="Shape 6"/>
          <p:cNvSpPr/>
          <p:nvPr/>
        </p:nvSpPr>
        <p:spPr>
          <a:xfrm>
            <a:off x="1277234" y="2080809"/>
            <a:ext cx="32187" cy="76078"/>
          </a:xfrm>
          <a:prstGeom prst="roundRect">
            <a:avLst>
              <a:gd name="adj" fmla="val 85227"/>
            </a:avLst>
          </a:prstGeom>
          <a:solidFill>
            <a:srgbClr val="5257AE"/>
          </a:solidFill>
          <a:ln/>
        </p:spPr>
      </p:sp>
      <p:sp>
        <p:nvSpPr>
          <p:cNvPr id="9" name="Shape 7"/>
          <p:cNvSpPr/>
          <p:nvPr/>
        </p:nvSpPr>
        <p:spPr>
          <a:xfrm>
            <a:off x="949513" y="2007657"/>
            <a:ext cx="327721" cy="257495"/>
          </a:xfrm>
          <a:prstGeom prst="roundRect">
            <a:avLst>
              <a:gd name="adj" fmla="val 15909"/>
            </a:avLst>
          </a:prstGeom>
          <a:solidFill>
            <a:srgbClr val="2B2F77"/>
          </a:solidFill>
          <a:ln/>
        </p:spPr>
      </p:sp>
      <p:sp>
        <p:nvSpPr>
          <p:cNvPr id="10" name="Shape 8"/>
          <p:cNvSpPr/>
          <p:nvPr/>
        </p:nvSpPr>
        <p:spPr>
          <a:xfrm>
            <a:off x="1025591" y="2077883"/>
            <a:ext cx="49743" cy="49743"/>
          </a:xfrm>
          <a:prstGeom prst="ellipse">
            <a:avLst/>
          </a:prstGeom>
          <a:solidFill>
            <a:srgbClr val="00875F"/>
          </a:solidFill>
          <a:ln/>
        </p:spPr>
      </p:sp>
      <p:sp>
        <p:nvSpPr>
          <p:cNvPr id="11" name="Shape 9"/>
          <p:cNvSpPr/>
          <p:nvPr/>
        </p:nvSpPr>
        <p:spPr>
          <a:xfrm>
            <a:off x="1151412" y="2077883"/>
            <a:ext cx="49743" cy="49743"/>
          </a:xfrm>
          <a:prstGeom prst="ellipse">
            <a:avLst/>
          </a:prstGeom>
          <a:solidFill>
            <a:srgbClr val="00875F"/>
          </a:solidFill>
          <a:ln/>
        </p:spPr>
      </p:sp>
      <p:sp>
        <p:nvSpPr>
          <p:cNvPr id="12" name="Shape 10"/>
          <p:cNvSpPr/>
          <p:nvPr/>
        </p:nvSpPr>
        <p:spPr>
          <a:xfrm>
            <a:off x="1060704" y="2180295"/>
            <a:ext cx="105339" cy="29261"/>
          </a:xfrm>
          <a:prstGeom prst="roundRect">
            <a:avLst>
              <a:gd name="adj" fmla="val 30000"/>
            </a:avLst>
          </a:prstGeom>
          <a:solidFill>
            <a:srgbClr val="DFE1F1"/>
          </a:solidFill>
          <a:ln/>
        </p:spPr>
      </p:sp>
      <p:sp>
        <p:nvSpPr>
          <p:cNvPr id="13" name="Shape 11"/>
          <p:cNvSpPr/>
          <p:nvPr/>
        </p:nvSpPr>
        <p:spPr>
          <a:xfrm>
            <a:off x="1095817" y="2265152"/>
            <a:ext cx="35113" cy="29261"/>
          </a:xfrm>
          <a:prstGeom prst="rect">
            <a:avLst/>
          </a:prstGeom>
          <a:solidFill>
            <a:srgbClr val="5257AE"/>
          </a:solidFill>
          <a:ln/>
        </p:spPr>
      </p:sp>
      <p:sp>
        <p:nvSpPr>
          <p:cNvPr id="14" name="Shape 12"/>
          <p:cNvSpPr/>
          <p:nvPr/>
        </p:nvSpPr>
        <p:spPr>
          <a:xfrm>
            <a:off x="1002182" y="2291486"/>
            <a:ext cx="222382" cy="111191"/>
          </a:xfrm>
          <a:prstGeom prst="roundRect">
            <a:avLst>
              <a:gd name="adj" fmla="val 26316"/>
            </a:avLst>
          </a:prstGeom>
          <a:solidFill>
            <a:srgbClr val="5257AE"/>
          </a:solidFill>
          <a:ln/>
        </p:spPr>
      </p:sp>
      <p:sp>
        <p:nvSpPr>
          <p:cNvPr id="15" name="Shape 13"/>
          <p:cNvSpPr/>
          <p:nvPr/>
        </p:nvSpPr>
        <p:spPr>
          <a:xfrm>
            <a:off x="1417320" y="1984248"/>
            <a:ext cx="1600200" cy="384048"/>
          </a:xfrm>
          <a:prstGeom prst="roundRect">
            <a:avLst>
              <a:gd name="adj" fmla="val 14286"/>
            </a:avLst>
          </a:prstGeom>
          <a:solidFill>
            <a:srgbClr val="2B2F77"/>
          </a:solidFill>
          <a:ln/>
        </p:spPr>
      </p:sp>
      <p:sp>
        <p:nvSpPr>
          <p:cNvPr id="16" name="Text 14"/>
          <p:cNvSpPr txBox="1"/>
          <p:nvPr/>
        </p:nvSpPr>
        <p:spPr>
          <a:xfrm>
            <a:off x="1417320" y="1984248"/>
            <a:ext cx="16002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昨日の Agent</a:t>
            </a:r>
            <a:endParaRPr lang="en-US" sz="1250" dirty="0"/>
          </a:p>
        </p:txBody>
      </p:sp>
      <p:sp>
        <p:nvSpPr>
          <p:cNvPr id="17" name="Text 15"/>
          <p:cNvSpPr txBox="1"/>
          <p:nvPr/>
        </p:nvSpPr>
        <p:spPr>
          <a:xfrm>
            <a:off x="3127248" y="1984248"/>
            <a:ext cx="2465680" cy="384048"/>
          </a:xfrm>
          <a:prstGeom prst="rect">
            <a:avLst/>
          </a:prstGeom>
          <a:noFill/>
          <a:ln/>
        </p:spPr>
        <p:txBody>
          <a:bodyPr wrap="square" lIns="0" tIns="0" rIns="0" bIns="0" rtlCol="0" anchor="ctr"/>
          <a:lstStyle/>
          <a:p>
            <a:pPr algn="r" indent="0" marL="0">
              <a:buNone/>
            </a:pPr>
            <a:r>
              <a:rPr lang="en-US" sz="1050" b="1" dirty="0">
                <a:solidFill>
                  <a:srgbClr val="6A6F93"/>
                </a:solidFill>
                <a:latin typeface="Courier New" pitchFamily="34" charset="0"/>
                <a:ea typeface="Courier New" pitchFamily="34" charset="-122"/>
                <a:cs typeface="Courier New" pitchFamily="34" charset="-120"/>
              </a:rPr>
              <a:t>travel-agent-01</a:t>
            </a:r>
            <a:endParaRPr lang="en-US" sz="1050" dirty="0"/>
          </a:p>
        </p:txBody>
      </p:sp>
      <p:sp>
        <p:nvSpPr>
          <p:cNvPr id="18" name="Shape 16"/>
          <p:cNvSpPr/>
          <p:nvPr/>
        </p:nvSpPr>
        <p:spPr>
          <a:xfrm>
            <a:off x="914400" y="2624328"/>
            <a:ext cx="4678528" cy="438912"/>
          </a:xfrm>
          <a:prstGeom prst="roundRect">
            <a:avLst>
              <a:gd name="adj" fmla="val 10417"/>
            </a:avLst>
          </a:prstGeom>
          <a:solidFill>
            <a:srgbClr val="EDEEF7"/>
          </a:solidFill>
          <a:ln/>
        </p:spPr>
      </p:sp>
      <p:sp>
        <p:nvSpPr>
          <p:cNvPr id="19" name="Text 17"/>
          <p:cNvSpPr txBox="1"/>
          <p:nvPr/>
        </p:nvSpPr>
        <p:spPr>
          <a:xfrm>
            <a:off x="1060704" y="2624328"/>
            <a:ext cx="1828800" cy="438912"/>
          </a:xfrm>
          <a:prstGeom prst="rect">
            <a:avLst/>
          </a:prstGeom>
          <a:noFill/>
          <a:ln/>
        </p:spPr>
        <p:txBody>
          <a:bodyPr wrap="square" lIns="0" tIns="0" rIns="0" bIns="0" rtlCol="0" anchor="ctr"/>
          <a:lstStyle/>
          <a:p>
            <a:pPr indent="0" marL="0">
              <a:buNone/>
            </a:pPr>
            <a:r>
              <a:rPr lang="en-US" sz="950" b="1" dirty="0">
                <a:solidFill>
                  <a:srgbClr val="2B2F77"/>
                </a:solidFill>
                <a:latin typeface="Courier New" pitchFamily="34" charset="0"/>
                <a:ea typeface="Courier New" pitchFamily="34" charset="-122"/>
                <a:cs typeface="Courier New" pitchFamily="34" charset="-120"/>
              </a:rPr>
              <a:t>modelId</a:t>
            </a:r>
            <a:endParaRPr lang="en-US" sz="950" dirty="0"/>
          </a:p>
        </p:txBody>
      </p:sp>
      <p:sp>
        <p:nvSpPr>
          <p:cNvPr id="20" name="Text 18"/>
          <p:cNvSpPr txBox="1"/>
          <p:nvPr/>
        </p:nvSpPr>
        <p:spPr>
          <a:xfrm>
            <a:off x="2926080" y="2624328"/>
            <a:ext cx="2520544" cy="438912"/>
          </a:xfrm>
          <a:prstGeom prst="rect">
            <a:avLst/>
          </a:prstGeom>
          <a:noFill/>
          <a:ln/>
        </p:spPr>
        <p:txBody>
          <a:bodyPr wrap="square" lIns="0" tIns="0" rIns="0" bIns="0" rtlCol="0" anchor="ctr"/>
          <a:lstStyle/>
          <a:p>
            <a:pPr algn="r" indent="0" marL="0">
              <a:buNone/>
            </a:pPr>
            <a:r>
              <a:rPr lang="en-US" sz="1100" dirty="0">
                <a:solidFill>
                  <a:srgbClr val="3A3F63"/>
                </a:solidFill>
                <a:latin typeface="Arial" pitchFamily="34" charset="0"/>
                <a:ea typeface="Arial" pitchFamily="34" charset="-122"/>
                <a:cs typeface="Arial" pitchFamily="34" charset="-120"/>
              </a:rPr>
              <a:t>gpt-demo-v1</a:t>
            </a:r>
            <a:endParaRPr lang="en-US" sz="1100" dirty="0"/>
          </a:p>
        </p:txBody>
      </p:sp>
      <p:sp>
        <p:nvSpPr>
          <p:cNvPr id="21" name="Shape 19"/>
          <p:cNvSpPr/>
          <p:nvPr/>
        </p:nvSpPr>
        <p:spPr>
          <a:xfrm>
            <a:off x="914400" y="3136392"/>
            <a:ext cx="4678528" cy="438912"/>
          </a:xfrm>
          <a:prstGeom prst="roundRect">
            <a:avLst>
              <a:gd name="adj" fmla="val 10417"/>
            </a:avLst>
          </a:prstGeom>
          <a:solidFill>
            <a:srgbClr val="EDEEF7"/>
          </a:solidFill>
          <a:ln/>
        </p:spPr>
      </p:sp>
      <p:sp>
        <p:nvSpPr>
          <p:cNvPr id="22" name="Text 20"/>
          <p:cNvSpPr txBox="1"/>
          <p:nvPr/>
        </p:nvSpPr>
        <p:spPr>
          <a:xfrm>
            <a:off x="1060704" y="3136392"/>
            <a:ext cx="1828800" cy="438912"/>
          </a:xfrm>
          <a:prstGeom prst="rect">
            <a:avLst/>
          </a:prstGeom>
          <a:noFill/>
          <a:ln/>
        </p:spPr>
        <p:txBody>
          <a:bodyPr wrap="square" lIns="0" tIns="0" rIns="0" bIns="0" rtlCol="0" anchor="ctr"/>
          <a:lstStyle/>
          <a:p>
            <a:pPr indent="0" marL="0">
              <a:buNone/>
            </a:pPr>
            <a:r>
              <a:rPr lang="en-US" sz="950" b="1" dirty="0">
                <a:solidFill>
                  <a:srgbClr val="2B2F77"/>
                </a:solidFill>
                <a:latin typeface="Courier New" pitchFamily="34" charset="0"/>
                <a:ea typeface="Courier New" pitchFamily="34" charset="-122"/>
                <a:cs typeface="Courier New" pitchFamily="34" charset="-120"/>
              </a:rPr>
              <a:t>systemPromptHash</a:t>
            </a:r>
            <a:endParaRPr lang="en-US" sz="950" dirty="0"/>
          </a:p>
        </p:txBody>
      </p:sp>
      <p:sp>
        <p:nvSpPr>
          <p:cNvPr id="23" name="Text 21"/>
          <p:cNvSpPr txBox="1"/>
          <p:nvPr/>
        </p:nvSpPr>
        <p:spPr>
          <a:xfrm>
            <a:off x="2926080" y="3136392"/>
            <a:ext cx="2520544" cy="438912"/>
          </a:xfrm>
          <a:prstGeom prst="rect">
            <a:avLst/>
          </a:prstGeom>
          <a:noFill/>
          <a:ln/>
        </p:spPr>
        <p:txBody>
          <a:bodyPr wrap="square" lIns="0" tIns="0" rIns="0" bIns="0" rtlCol="0" anchor="ctr"/>
          <a:lstStyle/>
          <a:p>
            <a:pPr algn="r" indent="0" marL="0">
              <a:buNone/>
            </a:pPr>
            <a:r>
              <a:rPr lang="en-US" sz="1100" dirty="0">
                <a:solidFill>
                  <a:srgbClr val="3A3F63"/>
                </a:solidFill>
                <a:latin typeface="Arial" pitchFamily="34" charset="0"/>
                <a:ea typeface="Arial" pitchFamily="34" charset="-122"/>
                <a:cs typeface="Arial" pitchFamily="34" charset="-120"/>
              </a:rPr>
              <a:t>予約案を提案する</a:t>
            </a:r>
            <a:endParaRPr lang="en-US" sz="1100" dirty="0"/>
          </a:p>
        </p:txBody>
      </p:sp>
      <p:sp>
        <p:nvSpPr>
          <p:cNvPr id="24" name="Shape 22"/>
          <p:cNvSpPr/>
          <p:nvPr/>
        </p:nvSpPr>
        <p:spPr>
          <a:xfrm>
            <a:off x="914400" y="3648456"/>
            <a:ext cx="4678528" cy="438912"/>
          </a:xfrm>
          <a:prstGeom prst="roundRect">
            <a:avLst>
              <a:gd name="adj" fmla="val 10417"/>
            </a:avLst>
          </a:prstGeom>
          <a:solidFill>
            <a:srgbClr val="EDEEF7"/>
          </a:solidFill>
          <a:ln/>
        </p:spPr>
      </p:sp>
      <p:sp>
        <p:nvSpPr>
          <p:cNvPr id="25" name="Text 23"/>
          <p:cNvSpPr txBox="1"/>
          <p:nvPr/>
        </p:nvSpPr>
        <p:spPr>
          <a:xfrm>
            <a:off x="1060704" y="3648456"/>
            <a:ext cx="1828800" cy="438912"/>
          </a:xfrm>
          <a:prstGeom prst="rect">
            <a:avLst/>
          </a:prstGeom>
          <a:noFill/>
          <a:ln/>
        </p:spPr>
        <p:txBody>
          <a:bodyPr wrap="square" lIns="0" tIns="0" rIns="0" bIns="0" rtlCol="0" anchor="ctr"/>
          <a:lstStyle/>
          <a:p>
            <a:pPr indent="0" marL="0">
              <a:buNone/>
            </a:pPr>
            <a:r>
              <a:rPr lang="en-US" sz="950" b="1" dirty="0">
                <a:solidFill>
                  <a:srgbClr val="2B2F77"/>
                </a:solidFill>
                <a:latin typeface="Courier New" pitchFamily="34" charset="0"/>
                <a:ea typeface="Courier New" pitchFamily="34" charset="-122"/>
                <a:cs typeface="Courier New" pitchFamily="34" charset="-120"/>
              </a:rPr>
              <a:t>toolPolicyHash</a:t>
            </a:r>
            <a:endParaRPr lang="en-US" sz="950" dirty="0"/>
          </a:p>
        </p:txBody>
      </p:sp>
      <p:sp>
        <p:nvSpPr>
          <p:cNvPr id="26" name="Text 24"/>
          <p:cNvSpPr txBox="1"/>
          <p:nvPr/>
        </p:nvSpPr>
        <p:spPr>
          <a:xfrm>
            <a:off x="2926080" y="3648456"/>
            <a:ext cx="2520544" cy="438912"/>
          </a:xfrm>
          <a:prstGeom prst="rect">
            <a:avLst/>
          </a:prstGeom>
          <a:noFill/>
          <a:ln/>
        </p:spPr>
        <p:txBody>
          <a:bodyPr wrap="square" lIns="0" tIns="0" rIns="0" bIns="0" rtlCol="0" anchor="ctr"/>
          <a:lstStyle/>
          <a:p>
            <a:pPr algn="r" indent="0" marL="0">
              <a:buNone/>
            </a:pPr>
            <a:r>
              <a:rPr lang="en-US" sz="1100" dirty="0">
                <a:solidFill>
                  <a:srgbClr val="3A3F63"/>
                </a:solidFill>
                <a:latin typeface="Arial" pitchFamily="34" charset="0"/>
                <a:ea typeface="Arial" pitchFamily="34" charset="-122"/>
                <a:cs typeface="Arial" pitchFamily="34" charset="-120"/>
              </a:rPr>
              <a:t>検索のみ</a:t>
            </a:r>
            <a:endParaRPr lang="en-US" sz="1100" dirty="0"/>
          </a:p>
        </p:txBody>
      </p:sp>
      <p:sp>
        <p:nvSpPr>
          <p:cNvPr id="27" name="Shape 25"/>
          <p:cNvSpPr/>
          <p:nvPr/>
        </p:nvSpPr>
        <p:spPr>
          <a:xfrm>
            <a:off x="914400" y="4160520"/>
            <a:ext cx="4678528" cy="438912"/>
          </a:xfrm>
          <a:prstGeom prst="roundRect">
            <a:avLst>
              <a:gd name="adj" fmla="val 10417"/>
            </a:avLst>
          </a:prstGeom>
          <a:solidFill>
            <a:srgbClr val="EDEEF7"/>
          </a:solidFill>
          <a:ln/>
        </p:spPr>
      </p:sp>
      <p:sp>
        <p:nvSpPr>
          <p:cNvPr id="28" name="Text 26"/>
          <p:cNvSpPr txBox="1"/>
          <p:nvPr/>
        </p:nvSpPr>
        <p:spPr>
          <a:xfrm>
            <a:off x="1060704" y="4160520"/>
            <a:ext cx="1828800" cy="438912"/>
          </a:xfrm>
          <a:prstGeom prst="rect">
            <a:avLst/>
          </a:prstGeom>
          <a:noFill/>
          <a:ln/>
        </p:spPr>
        <p:txBody>
          <a:bodyPr wrap="square" lIns="0" tIns="0" rIns="0" bIns="0" rtlCol="0" anchor="ctr"/>
          <a:lstStyle/>
          <a:p>
            <a:pPr indent="0" marL="0">
              <a:buNone/>
            </a:pPr>
            <a:r>
              <a:rPr lang="en-US" sz="950" b="1" dirty="0">
                <a:solidFill>
                  <a:srgbClr val="2B2F77"/>
                </a:solidFill>
                <a:latin typeface="Courier New" pitchFamily="34" charset="0"/>
                <a:ea typeface="Courier New" pitchFamily="34" charset="-122"/>
                <a:cs typeface="Courier New" pitchFamily="34" charset="-120"/>
              </a:rPr>
              <a:t>permissionScope</a:t>
            </a:r>
            <a:endParaRPr lang="en-US" sz="950" dirty="0"/>
          </a:p>
        </p:txBody>
      </p:sp>
      <p:sp>
        <p:nvSpPr>
          <p:cNvPr id="29" name="Text 27"/>
          <p:cNvSpPr txBox="1"/>
          <p:nvPr/>
        </p:nvSpPr>
        <p:spPr>
          <a:xfrm>
            <a:off x="2926080" y="4160520"/>
            <a:ext cx="2520544" cy="438912"/>
          </a:xfrm>
          <a:prstGeom prst="rect">
            <a:avLst/>
          </a:prstGeom>
          <a:noFill/>
          <a:ln/>
        </p:spPr>
        <p:txBody>
          <a:bodyPr wrap="square" lIns="0" tIns="0" rIns="0" bIns="0" rtlCol="0" anchor="ctr"/>
          <a:lstStyle/>
          <a:p>
            <a:pPr algn="r" indent="0" marL="0">
              <a:buNone/>
            </a:pPr>
            <a:r>
              <a:rPr lang="en-US" sz="1100" dirty="0">
                <a:solidFill>
                  <a:srgbClr val="3A3F63"/>
                </a:solidFill>
                <a:latin typeface="Arial" pitchFamily="34" charset="0"/>
                <a:ea typeface="Arial" pitchFamily="34" charset="-122"/>
                <a:cs typeface="Arial" pitchFamily="34" charset="-120"/>
              </a:rPr>
              <a:t>travel-booking</a:t>
            </a:r>
            <a:endParaRPr lang="en-US" sz="1100" dirty="0"/>
          </a:p>
        </p:txBody>
      </p:sp>
      <p:sp>
        <p:nvSpPr>
          <p:cNvPr id="30" name="Shape 28"/>
          <p:cNvSpPr/>
          <p:nvPr/>
        </p:nvSpPr>
        <p:spPr>
          <a:xfrm>
            <a:off x="6324448" y="1783080"/>
            <a:ext cx="5227168" cy="3063240"/>
          </a:xfrm>
          <a:prstGeom prst="roundRect">
            <a:avLst>
              <a:gd name="adj" fmla="val 1791"/>
            </a:avLst>
          </a:prstGeom>
          <a:solidFill>
            <a:srgbClr val="FEF7F5"/>
          </a:solidFill>
          <a:ln w="28575">
            <a:solidFill>
              <a:srgbClr val="C0402A"/>
            </a:solidFill>
            <a:prstDash val="solid"/>
          </a:ln>
          <a:effectLst>
            <a:outerShdw sx="100000" sy="100000" kx="0" ky="0" algn="bl" rotWithShape="0" blurRad="127000" dist="19050" dir="5400000">
              <a:srgbClr val="2B2F77">
                <a:alpha val="12000"/>
              </a:srgbClr>
            </a:outerShdw>
          </a:effectLst>
        </p:spPr>
      </p:sp>
      <p:sp>
        <p:nvSpPr>
          <p:cNvPr id="31" name="Shape 29"/>
          <p:cNvSpPr/>
          <p:nvPr/>
        </p:nvSpPr>
        <p:spPr>
          <a:xfrm>
            <a:off x="6774332" y="1911096"/>
            <a:ext cx="52669" cy="52669"/>
          </a:xfrm>
          <a:prstGeom prst="ellipse">
            <a:avLst/>
          </a:prstGeom>
          <a:solidFill>
            <a:srgbClr val="FFFFFF"/>
          </a:solidFill>
          <a:ln/>
        </p:spPr>
      </p:sp>
      <p:sp>
        <p:nvSpPr>
          <p:cNvPr id="32" name="Shape 30"/>
          <p:cNvSpPr/>
          <p:nvPr/>
        </p:nvSpPr>
        <p:spPr>
          <a:xfrm>
            <a:off x="6793352" y="1954987"/>
            <a:ext cx="14630" cy="58522"/>
          </a:xfrm>
          <a:prstGeom prst="rect">
            <a:avLst/>
          </a:prstGeom>
          <a:solidFill>
            <a:srgbClr val="C0402A"/>
          </a:solidFill>
          <a:ln/>
        </p:spPr>
      </p:sp>
      <p:sp>
        <p:nvSpPr>
          <p:cNvPr id="33" name="Shape 31"/>
          <p:cNvSpPr/>
          <p:nvPr/>
        </p:nvSpPr>
        <p:spPr>
          <a:xfrm>
            <a:off x="6604620" y="2080809"/>
            <a:ext cx="32187" cy="76078"/>
          </a:xfrm>
          <a:prstGeom prst="roundRect">
            <a:avLst>
              <a:gd name="adj" fmla="val 85227"/>
            </a:avLst>
          </a:prstGeom>
          <a:solidFill>
            <a:srgbClr val="E08A76"/>
          </a:solidFill>
          <a:ln/>
        </p:spPr>
      </p:sp>
      <p:sp>
        <p:nvSpPr>
          <p:cNvPr id="34" name="Shape 32"/>
          <p:cNvSpPr/>
          <p:nvPr/>
        </p:nvSpPr>
        <p:spPr>
          <a:xfrm>
            <a:off x="6961602" y="2080809"/>
            <a:ext cx="32187" cy="76078"/>
          </a:xfrm>
          <a:prstGeom prst="roundRect">
            <a:avLst>
              <a:gd name="adj" fmla="val 85227"/>
            </a:avLst>
          </a:prstGeom>
          <a:solidFill>
            <a:srgbClr val="E08A76"/>
          </a:solidFill>
          <a:ln/>
        </p:spPr>
      </p:sp>
      <p:sp>
        <p:nvSpPr>
          <p:cNvPr id="35" name="Shape 33"/>
          <p:cNvSpPr/>
          <p:nvPr/>
        </p:nvSpPr>
        <p:spPr>
          <a:xfrm>
            <a:off x="6633881" y="2007657"/>
            <a:ext cx="327721" cy="257495"/>
          </a:xfrm>
          <a:prstGeom prst="roundRect">
            <a:avLst>
              <a:gd name="adj" fmla="val 15909"/>
            </a:avLst>
          </a:prstGeom>
          <a:solidFill>
            <a:srgbClr val="C0402A"/>
          </a:solidFill>
          <a:ln/>
        </p:spPr>
      </p:sp>
      <p:sp>
        <p:nvSpPr>
          <p:cNvPr id="36" name="Shape 34"/>
          <p:cNvSpPr/>
          <p:nvPr/>
        </p:nvSpPr>
        <p:spPr>
          <a:xfrm>
            <a:off x="6709959" y="2077883"/>
            <a:ext cx="49743" cy="49743"/>
          </a:xfrm>
          <a:prstGeom prst="ellipse">
            <a:avLst/>
          </a:prstGeom>
          <a:solidFill>
            <a:srgbClr val="FFFFFF"/>
          </a:solidFill>
          <a:ln/>
        </p:spPr>
      </p:sp>
      <p:sp>
        <p:nvSpPr>
          <p:cNvPr id="37" name="Shape 35"/>
          <p:cNvSpPr/>
          <p:nvPr/>
        </p:nvSpPr>
        <p:spPr>
          <a:xfrm>
            <a:off x="6835780" y="2077883"/>
            <a:ext cx="49743" cy="49743"/>
          </a:xfrm>
          <a:prstGeom prst="ellipse">
            <a:avLst/>
          </a:prstGeom>
          <a:solidFill>
            <a:srgbClr val="FFFFFF"/>
          </a:solidFill>
          <a:ln/>
        </p:spPr>
      </p:sp>
      <p:sp>
        <p:nvSpPr>
          <p:cNvPr id="38" name="Shape 36"/>
          <p:cNvSpPr/>
          <p:nvPr/>
        </p:nvSpPr>
        <p:spPr>
          <a:xfrm>
            <a:off x="6745072" y="2180295"/>
            <a:ext cx="105339" cy="29261"/>
          </a:xfrm>
          <a:prstGeom prst="roundRect">
            <a:avLst>
              <a:gd name="adj" fmla="val 30000"/>
            </a:avLst>
          </a:prstGeom>
          <a:solidFill>
            <a:srgbClr val="FBEAE6"/>
          </a:solidFill>
          <a:ln/>
        </p:spPr>
      </p:sp>
      <p:sp>
        <p:nvSpPr>
          <p:cNvPr id="39" name="Shape 37"/>
          <p:cNvSpPr/>
          <p:nvPr/>
        </p:nvSpPr>
        <p:spPr>
          <a:xfrm>
            <a:off x="6780185" y="2265152"/>
            <a:ext cx="35113" cy="29261"/>
          </a:xfrm>
          <a:prstGeom prst="rect">
            <a:avLst/>
          </a:prstGeom>
          <a:solidFill>
            <a:srgbClr val="E08A76"/>
          </a:solidFill>
          <a:ln/>
        </p:spPr>
      </p:sp>
      <p:sp>
        <p:nvSpPr>
          <p:cNvPr id="40" name="Shape 38"/>
          <p:cNvSpPr/>
          <p:nvPr/>
        </p:nvSpPr>
        <p:spPr>
          <a:xfrm>
            <a:off x="6686550" y="2291486"/>
            <a:ext cx="222382" cy="111191"/>
          </a:xfrm>
          <a:prstGeom prst="roundRect">
            <a:avLst>
              <a:gd name="adj" fmla="val 26316"/>
            </a:avLst>
          </a:prstGeom>
          <a:solidFill>
            <a:srgbClr val="E08A76"/>
          </a:solidFill>
          <a:ln/>
        </p:spPr>
      </p:sp>
      <p:sp>
        <p:nvSpPr>
          <p:cNvPr id="41" name="Shape 39"/>
          <p:cNvSpPr/>
          <p:nvPr/>
        </p:nvSpPr>
        <p:spPr>
          <a:xfrm>
            <a:off x="7101688" y="1984248"/>
            <a:ext cx="1600200" cy="384048"/>
          </a:xfrm>
          <a:prstGeom prst="roundRect">
            <a:avLst>
              <a:gd name="adj" fmla="val 14286"/>
            </a:avLst>
          </a:prstGeom>
          <a:solidFill>
            <a:srgbClr val="C0402A"/>
          </a:solidFill>
          <a:ln/>
        </p:spPr>
      </p:sp>
      <p:sp>
        <p:nvSpPr>
          <p:cNvPr id="42" name="Text 40"/>
          <p:cNvSpPr txBox="1"/>
          <p:nvPr/>
        </p:nvSpPr>
        <p:spPr>
          <a:xfrm>
            <a:off x="7101688" y="1984248"/>
            <a:ext cx="160020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今日の Agent</a:t>
            </a:r>
            <a:endParaRPr lang="en-US" sz="1250" dirty="0"/>
          </a:p>
        </p:txBody>
      </p:sp>
      <p:sp>
        <p:nvSpPr>
          <p:cNvPr id="43" name="Text 41"/>
          <p:cNvSpPr txBox="1"/>
          <p:nvPr/>
        </p:nvSpPr>
        <p:spPr>
          <a:xfrm>
            <a:off x="8811616" y="1984248"/>
            <a:ext cx="2465680" cy="384048"/>
          </a:xfrm>
          <a:prstGeom prst="rect">
            <a:avLst/>
          </a:prstGeom>
          <a:noFill/>
          <a:ln/>
        </p:spPr>
        <p:txBody>
          <a:bodyPr wrap="square" lIns="0" tIns="0" rIns="0" bIns="0" rtlCol="0" anchor="ctr"/>
          <a:lstStyle/>
          <a:p>
            <a:pPr algn="r" indent="0" marL="0">
              <a:buNone/>
            </a:pPr>
            <a:r>
              <a:rPr lang="en-US" sz="1050" b="1" dirty="0">
                <a:solidFill>
                  <a:srgbClr val="6A6F93"/>
                </a:solidFill>
                <a:latin typeface="Courier New" pitchFamily="34" charset="0"/>
                <a:ea typeface="Courier New" pitchFamily="34" charset="-122"/>
                <a:cs typeface="Courier New" pitchFamily="34" charset="-120"/>
              </a:rPr>
              <a:t>travel-agent-01</a:t>
            </a:r>
            <a:endParaRPr lang="en-US" sz="1050" dirty="0"/>
          </a:p>
        </p:txBody>
      </p:sp>
      <p:sp>
        <p:nvSpPr>
          <p:cNvPr id="44" name="Shape 42"/>
          <p:cNvSpPr/>
          <p:nvPr/>
        </p:nvSpPr>
        <p:spPr>
          <a:xfrm>
            <a:off x="6598768" y="2624328"/>
            <a:ext cx="4678528" cy="438912"/>
          </a:xfrm>
          <a:prstGeom prst="roundRect">
            <a:avLst>
              <a:gd name="adj" fmla="val 10417"/>
            </a:avLst>
          </a:prstGeom>
          <a:solidFill>
            <a:srgbClr val="FBEAE6"/>
          </a:solidFill>
          <a:ln/>
        </p:spPr>
      </p:sp>
      <p:sp>
        <p:nvSpPr>
          <p:cNvPr id="45" name="Text 43"/>
          <p:cNvSpPr txBox="1"/>
          <p:nvPr/>
        </p:nvSpPr>
        <p:spPr>
          <a:xfrm>
            <a:off x="6745072" y="2624328"/>
            <a:ext cx="1828800" cy="438912"/>
          </a:xfrm>
          <a:prstGeom prst="rect">
            <a:avLst/>
          </a:prstGeom>
          <a:noFill/>
          <a:ln/>
        </p:spPr>
        <p:txBody>
          <a:bodyPr wrap="square" lIns="0" tIns="0" rIns="0" bIns="0" rtlCol="0" anchor="ctr"/>
          <a:lstStyle/>
          <a:p>
            <a:pPr indent="0" marL="0">
              <a:buNone/>
            </a:pPr>
            <a:r>
              <a:rPr lang="en-US" sz="950" b="1" dirty="0">
                <a:solidFill>
                  <a:srgbClr val="C0402A"/>
                </a:solidFill>
                <a:latin typeface="Courier New" pitchFamily="34" charset="0"/>
                <a:ea typeface="Courier New" pitchFamily="34" charset="-122"/>
                <a:cs typeface="Courier New" pitchFamily="34" charset="-120"/>
              </a:rPr>
              <a:t>modelId</a:t>
            </a:r>
            <a:endParaRPr lang="en-US" sz="950" dirty="0"/>
          </a:p>
        </p:txBody>
      </p:sp>
      <p:sp>
        <p:nvSpPr>
          <p:cNvPr id="46" name="Text 44"/>
          <p:cNvSpPr txBox="1"/>
          <p:nvPr/>
        </p:nvSpPr>
        <p:spPr>
          <a:xfrm>
            <a:off x="8610448" y="2624328"/>
            <a:ext cx="2520544" cy="438912"/>
          </a:xfrm>
          <a:prstGeom prst="rect">
            <a:avLst/>
          </a:prstGeom>
          <a:noFill/>
          <a:ln/>
        </p:spPr>
        <p:txBody>
          <a:bodyPr wrap="square" lIns="0" tIns="0" rIns="0" bIns="0" rtlCol="0" anchor="ctr"/>
          <a:lstStyle/>
          <a:p>
            <a:pPr algn="r" indent="0" marL="0">
              <a:buNone/>
            </a:pPr>
            <a:r>
              <a:rPr lang="en-US" sz="1100" b="1" dirty="0">
                <a:solidFill>
                  <a:srgbClr val="C0402A"/>
                </a:solidFill>
                <a:latin typeface="Arial" pitchFamily="34" charset="0"/>
                <a:ea typeface="Arial" pitchFamily="34" charset="-122"/>
                <a:cs typeface="Arial" pitchFamily="34" charset="-120"/>
              </a:rPr>
              <a:t>gpt-demo-v2</a:t>
            </a:r>
            <a:endParaRPr lang="en-US" sz="1100" dirty="0"/>
          </a:p>
        </p:txBody>
      </p:sp>
      <p:sp>
        <p:nvSpPr>
          <p:cNvPr id="47" name="Shape 45"/>
          <p:cNvSpPr/>
          <p:nvPr/>
        </p:nvSpPr>
        <p:spPr>
          <a:xfrm>
            <a:off x="6598768" y="3136392"/>
            <a:ext cx="4678528" cy="438912"/>
          </a:xfrm>
          <a:prstGeom prst="roundRect">
            <a:avLst>
              <a:gd name="adj" fmla="val 10417"/>
            </a:avLst>
          </a:prstGeom>
          <a:solidFill>
            <a:srgbClr val="FBEAE6"/>
          </a:solidFill>
          <a:ln/>
        </p:spPr>
      </p:sp>
      <p:sp>
        <p:nvSpPr>
          <p:cNvPr id="48" name="Text 46"/>
          <p:cNvSpPr txBox="1"/>
          <p:nvPr/>
        </p:nvSpPr>
        <p:spPr>
          <a:xfrm>
            <a:off x="6745072" y="3136392"/>
            <a:ext cx="1828800" cy="438912"/>
          </a:xfrm>
          <a:prstGeom prst="rect">
            <a:avLst/>
          </a:prstGeom>
          <a:noFill/>
          <a:ln/>
        </p:spPr>
        <p:txBody>
          <a:bodyPr wrap="square" lIns="0" tIns="0" rIns="0" bIns="0" rtlCol="0" anchor="ctr"/>
          <a:lstStyle/>
          <a:p>
            <a:pPr indent="0" marL="0">
              <a:buNone/>
            </a:pPr>
            <a:r>
              <a:rPr lang="en-US" sz="950" b="1" dirty="0">
                <a:solidFill>
                  <a:srgbClr val="C0402A"/>
                </a:solidFill>
                <a:latin typeface="Courier New" pitchFamily="34" charset="0"/>
                <a:ea typeface="Courier New" pitchFamily="34" charset="-122"/>
                <a:cs typeface="Courier New" pitchFamily="34" charset="-120"/>
              </a:rPr>
              <a:t>systemPromptHash</a:t>
            </a:r>
            <a:endParaRPr lang="en-US" sz="950" dirty="0"/>
          </a:p>
        </p:txBody>
      </p:sp>
      <p:sp>
        <p:nvSpPr>
          <p:cNvPr id="49" name="Text 47"/>
          <p:cNvSpPr txBox="1"/>
          <p:nvPr/>
        </p:nvSpPr>
        <p:spPr>
          <a:xfrm>
            <a:off x="8610448" y="3136392"/>
            <a:ext cx="2520544" cy="438912"/>
          </a:xfrm>
          <a:prstGeom prst="rect">
            <a:avLst/>
          </a:prstGeom>
          <a:noFill/>
          <a:ln/>
        </p:spPr>
        <p:txBody>
          <a:bodyPr wrap="square" lIns="0" tIns="0" rIns="0" bIns="0" rtlCol="0" anchor="ctr"/>
          <a:lstStyle/>
          <a:p>
            <a:pPr algn="r" indent="0" marL="0">
              <a:buNone/>
            </a:pPr>
            <a:r>
              <a:rPr lang="en-US" sz="1100" b="1" dirty="0">
                <a:solidFill>
                  <a:srgbClr val="C0402A"/>
                </a:solidFill>
                <a:latin typeface="Arial" pitchFamily="34" charset="0"/>
                <a:ea typeface="Arial" pitchFamily="34" charset="-122"/>
                <a:cs typeface="Arial" pitchFamily="34" charset="-120"/>
              </a:rPr>
              <a:t>予約変更まで指示</a:t>
            </a:r>
            <a:endParaRPr lang="en-US" sz="1100" dirty="0"/>
          </a:p>
        </p:txBody>
      </p:sp>
      <p:sp>
        <p:nvSpPr>
          <p:cNvPr id="50" name="Shape 48"/>
          <p:cNvSpPr/>
          <p:nvPr/>
        </p:nvSpPr>
        <p:spPr>
          <a:xfrm>
            <a:off x="6598768" y="3648456"/>
            <a:ext cx="4678528" cy="438912"/>
          </a:xfrm>
          <a:prstGeom prst="roundRect">
            <a:avLst>
              <a:gd name="adj" fmla="val 10417"/>
            </a:avLst>
          </a:prstGeom>
          <a:solidFill>
            <a:srgbClr val="FBEAE6"/>
          </a:solidFill>
          <a:ln/>
        </p:spPr>
      </p:sp>
      <p:sp>
        <p:nvSpPr>
          <p:cNvPr id="51" name="Text 49"/>
          <p:cNvSpPr txBox="1"/>
          <p:nvPr/>
        </p:nvSpPr>
        <p:spPr>
          <a:xfrm>
            <a:off x="6745072" y="3648456"/>
            <a:ext cx="1828800" cy="438912"/>
          </a:xfrm>
          <a:prstGeom prst="rect">
            <a:avLst/>
          </a:prstGeom>
          <a:noFill/>
          <a:ln/>
        </p:spPr>
        <p:txBody>
          <a:bodyPr wrap="square" lIns="0" tIns="0" rIns="0" bIns="0" rtlCol="0" anchor="ctr"/>
          <a:lstStyle/>
          <a:p>
            <a:pPr indent="0" marL="0">
              <a:buNone/>
            </a:pPr>
            <a:r>
              <a:rPr lang="en-US" sz="950" b="1" dirty="0">
                <a:solidFill>
                  <a:srgbClr val="C0402A"/>
                </a:solidFill>
                <a:latin typeface="Courier New" pitchFamily="34" charset="0"/>
                <a:ea typeface="Courier New" pitchFamily="34" charset="-122"/>
                <a:cs typeface="Courier New" pitchFamily="34" charset="-120"/>
              </a:rPr>
              <a:t>toolPolicyHash</a:t>
            </a:r>
            <a:endParaRPr lang="en-US" sz="950" dirty="0"/>
          </a:p>
        </p:txBody>
      </p:sp>
      <p:sp>
        <p:nvSpPr>
          <p:cNvPr id="52" name="Text 50"/>
          <p:cNvSpPr txBox="1"/>
          <p:nvPr/>
        </p:nvSpPr>
        <p:spPr>
          <a:xfrm>
            <a:off x="8610448" y="3648456"/>
            <a:ext cx="2520544" cy="438912"/>
          </a:xfrm>
          <a:prstGeom prst="rect">
            <a:avLst/>
          </a:prstGeom>
          <a:noFill/>
          <a:ln/>
        </p:spPr>
        <p:txBody>
          <a:bodyPr wrap="square" lIns="0" tIns="0" rIns="0" bIns="0" rtlCol="0" anchor="ctr"/>
          <a:lstStyle/>
          <a:p>
            <a:pPr algn="r" indent="0" marL="0">
              <a:buNone/>
            </a:pPr>
            <a:r>
              <a:rPr lang="en-US" sz="1100" b="1" dirty="0">
                <a:solidFill>
                  <a:srgbClr val="C0402A"/>
                </a:solidFill>
                <a:latin typeface="Arial" pitchFamily="34" charset="0"/>
                <a:ea typeface="Arial" pitchFamily="34" charset="-122"/>
                <a:cs typeface="Arial" pitchFamily="34" charset="-120"/>
              </a:rPr>
              <a:t>変更 API を追加</a:t>
            </a:r>
            <a:endParaRPr lang="en-US" sz="1100" dirty="0"/>
          </a:p>
        </p:txBody>
      </p:sp>
      <p:sp>
        <p:nvSpPr>
          <p:cNvPr id="53" name="Shape 51"/>
          <p:cNvSpPr/>
          <p:nvPr/>
        </p:nvSpPr>
        <p:spPr>
          <a:xfrm>
            <a:off x="6598768" y="4160520"/>
            <a:ext cx="4678528" cy="438912"/>
          </a:xfrm>
          <a:prstGeom prst="roundRect">
            <a:avLst>
              <a:gd name="adj" fmla="val 10417"/>
            </a:avLst>
          </a:prstGeom>
          <a:solidFill>
            <a:srgbClr val="FBEAE6"/>
          </a:solidFill>
          <a:ln/>
        </p:spPr>
      </p:sp>
      <p:sp>
        <p:nvSpPr>
          <p:cNvPr id="54" name="Text 52"/>
          <p:cNvSpPr txBox="1"/>
          <p:nvPr/>
        </p:nvSpPr>
        <p:spPr>
          <a:xfrm>
            <a:off x="6745072" y="4160520"/>
            <a:ext cx="1828800" cy="438912"/>
          </a:xfrm>
          <a:prstGeom prst="rect">
            <a:avLst/>
          </a:prstGeom>
          <a:noFill/>
          <a:ln/>
        </p:spPr>
        <p:txBody>
          <a:bodyPr wrap="square" lIns="0" tIns="0" rIns="0" bIns="0" rtlCol="0" anchor="ctr"/>
          <a:lstStyle/>
          <a:p>
            <a:pPr indent="0" marL="0">
              <a:buNone/>
            </a:pPr>
            <a:r>
              <a:rPr lang="en-US" sz="950" b="1" dirty="0">
                <a:solidFill>
                  <a:srgbClr val="C0402A"/>
                </a:solidFill>
                <a:latin typeface="Courier New" pitchFamily="34" charset="0"/>
                <a:ea typeface="Courier New" pitchFamily="34" charset="-122"/>
                <a:cs typeface="Courier New" pitchFamily="34" charset="-120"/>
              </a:rPr>
              <a:t>permissionScope</a:t>
            </a:r>
            <a:endParaRPr lang="en-US" sz="950" dirty="0"/>
          </a:p>
        </p:txBody>
      </p:sp>
      <p:sp>
        <p:nvSpPr>
          <p:cNvPr id="55" name="Text 53"/>
          <p:cNvSpPr txBox="1"/>
          <p:nvPr/>
        </p:nvSpPr>
        <p:spPr>
          <a:xfrm>
            <a:off x="8610448" y="4160520"/>
            <a:ext cx="2520544" cy="438912"/>
          </a:xfrm>
          <a:prstGeom prst="rect">
            <a:avLst/>
          </a:prstGeom>
          <a:noFill/>
          <a:ln/>
        </p:spPr>
        <p:txBody>
          <a:bodyPr wrap="square" lIns="0" tIns="0" rIns="0" bIns="0" rtlCol="0" anchor="ctr"/>
          <a:lstStyle/>
          <a:p>
            <a:pPr algn="r" indent="0" marL="0">
              <a:buNone/>
            </a:pPr>
            <a:r>
              <a:rPr lang="en-US" sz="1100" b="1" dirty="0">
                <a:solidFill>
                  <a:srgbClr val="C0402A"/>
                </a:solidFill>
                <a:latin typeface="Arial" pitchFamily="34" charset="0"/>
                <a:ea typeface="Arial" pitchFamily="34" charset="-122"/>
                <a:cs typeface="Arial" pitchFamily="34" charset="-120"/>
              </a:rPr>
              <a:t>travel-booking-admin</a:t>
            </a:r>
            <a:endParaRPr lang="en-US" sz="1100" dirty="0"/>
          </a:p>
        </p:txBody>
      </p:sp>
      <p:sp>
        <p:nvSpPr>
          <p:cNvPr id="56" name="Shape 54"/>
          <p:cNvSpPr/>
          <p:nvPr/>
        </p:nvSpPr>
        <p:spPr>
          <a:xfrm>
            <a:off x="640080" y="5074920"/>
            <a:ext cx="10911535" cy="914400"/>
          </a:xfrm>
          <a:prstGeom prst="roundRect">
            <a:avLst>
              <a:gd name="adj" fmla="val 8000"/>
            </a:avLst>
          </a:prstGeom>
          <a:solidFill>
            <a:srgbClr val="C0402A"/>
          </a:solidFill>
          <a:ln/>
          <a:effectLst>
            <a:outerShdw sx="100000" sy="100000" kx="0" ky="0" algn="bl" rotWithShape="0" blurRad="127000" dist="19050" dir="5400000">
              <a:srgbClr val="2B2F77">
                <a:alpha val="12000"/>
              </a:srgbClr>
            </a:outerShdw>
          </a:effectLst>
        </p:spPr>
      </p:sp>
      <p:sp>
        <p:nvSpPr>
          <p:cNvPr id="57" name="Text 55"/>
          <p:cNvSpPr txBox="1"/>
          <p:nvPr/>
        </p:nvSpPr>
        <p:spPr>
          <a:xfrm>
            <a:off x="1005840" y="5074920"/>
            <a:ext cx="10180015" cy="914400"/>
          </a:xfrm>
          <a:prstGeom prst="rect">
            <a:avLst/>
          </a:prstGeom>
          <a:noFill/>
          <a:ln/>
        </p:spPr>
        <p:txBody>
          <a:bodyPr wrap="square" lIns="0" tIns="0" rIns="0" bIns="0" rtlCol="0" anchor="ctr"/>
          <a:lstStyle/>
          <a:p>
            <a:pPr indent="0" marL="0">
              <a:lnSpc>
                <a:spcPts val="2300"/>
              </a:lnSpc>
              <a:buNone/>
            </a:pPr>
            <a:r>
              <a:rPr lang="en-US" sz="1450" b="1" dirty="0">
                <a:solidFill>
                  <a:srgbClr val="FFFFFF"/>
                </a:solidFill>
              </a:rPr>
              <a:t>名前は同じまま、できることが変わる。実績を名前に付けると意味を失う。</a:t>
            </a:r>
            <a:endParaRPr lang="en-US" sz="1450" dirty="0"/>
          </a:p>
          <a:p>
            <a:pPr indent="0" marL="0">
              <a:lnSpc>
                <a:spcPts val="2300"/>
              </a:lnSpc>
              <a:buNone/>
            </a:pPr>
            <a:r>
              <a:rPr lang="en-US" sz="1150" dirty="0">
                <a:solidFill>
                  <a:srgbClr val="FBEAE6"/>
                </a:solidFill>
              </a:rPr>
              <a:t>かといって、更新のたびに実績を捨てるのも現実的ではない。</a:t>
            </a:r>
            <a:endParaRPr lang="en-US" sz="1450" dirty="0"/>
          </a:p>
        </p:txBody>
      </p:sp>
      <p:sp>
        <p:nvSpPr>
          <p:cNvPr id="58" name="Text 56"/>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04 ─ 提案</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そこで作ったのが zkAgent Passport</a:t>
            </a:r>
            <a:endParaRPr lang="en-US" sz="2900" dirty="0"/>
          </a:p>
        </p:txBody>
      </p:sp>
      <p:sp>
        <p:nvSpPr>
          <p:cNvPr id="4" name="Shape 2"/>
          <p:cNvSpPr/>
          <p:nvPr/>
        </p:nvSpPr>
        <p:spPr>
          <a:xfrm>
            <a:off x="640080" y="1737360"/>
            <a:ext cx="10911535" cy="1005840"/>
          </a:xfrm>
          <a:prstGeom prst="roundRect">
            <a:avLst>
              <a:gd name="adj" fmla="val 7273"/>
            </a:avLst>
          </a:prstGeom>
          <a:solidFill>
            <a:srgbClr val="2B2F77"/>
          </a:solidFill>
          <a:ln/>
          <a:effectLst>
            <a:outerShdw sx="100000" sy="100000" kx="0" ky="0" algn="bl" rotWithShape="0" blurRad="127000" dist="19050" dir="5400000">
              <a:srgbClr val="2B2F77">
                <a:alpha val="12000"/>
              </a:srgbClr>
            </a:outerShdw>
          </a:effectLst>
        </p:spPr>
      </p:sp>
      <p:sp>
        <p:nvSpPr>
          <p:cNvPr id="5" name="Text 3"/>
          <p:cNvSpPr txBox="1"/>
          <p:nvPr/>
        </p:nvSpPr>
        <p:spPr>
          <a:xfrm>
            <a:off x="1097280" y="1737360"/>
            <a:ext cx="9997135" cy="1005840"/>
          </a:xfrm>
          <a:prstGeom prst="rect">
            <a:avLst/>
          </a:prstGeom>
          <a:noFill/>
          <a:ln/>
        </p:spPr>
        <p:txBody>
          <a:bodyPr wrap="square" lIns="0" tIns="0" rIns="0" bIns="0" rtlCol="0" anchor="ctr"/>
          <a:lstStyle/>
          <a:p>
            <a:pPr algn="ctr" indent="0" marL="0">
              <a:lnSpc>
                <a:spcPts val="2700"/>
              </a:lnSpc>
              <a:buNone/>
            </a:pPr>
            <a:r>
              <a:rPr lang="en-US" sz="1700" b="1" dirty="0">
                <a:solidFill>
                  <a:srgbClr val="FFFFFF"/>
                </a:solidFill>
                <a:latin typeface="Arial" pitchFamily="34" charset="0"/>
                <a:ea typeface="Arial" pitchFamily="34" charset="-122"/>
                <a:cs typeface="Arial" pitchFamily="34" charset="-120"/>
              </a:rPr>
              <a:t>評価の詳細を渡さずに、「この領域で、宣言した構成のまま、サービスの求める条件を満たしている」ことだけを証明する仕組み</a:t>
            </a:r>
            <a:endParaRPr lang="en-US" sz="1700" dirty="0"/>
          </a:p>
        </p:txBody>
      </p:sp>
      <p:sp>
        <p:nvSpPr>
          <p:cNvPr id="6" name="Shape 4"/>
          <p:cNvSpPr/>
          <p:nvPr/>
        </p:nvSpPr>
        <p:spPr>
          <a:xfrm>
            <a:off x="640080" y="3017520"/>
            <a:ext cx="3456432" cy="2240280"/>
          </a:xfrm>
          <a:prstGeom prst="roundRect">
            <a:avLst>
              <a:gd name="adj" fmla="val 3265"/>
            </a:avLst>
          </a:prstGeom>
          <a:solidFill>
            <a:srgbClr val="EDEEF7"/>
          </a:solidFill>
          <a:ln/>
          <a:effectLst>
            <a:outerShdw sx="100000" sy="100000" kx="0" ky="0" algn="bl" rotWithShape="0" blurRad="127000" dist="19050" dir="5400000">
              <a:srgbClr val="2B2F77">
                <a:alpha val="12000"/>
              </a:srgbClr>
            </a:outerShdw>
          </a:effectLst>
        </p:spPr>
      </p:sp>
      <p:sp>
        <p:nvSpPr>
          <p:cNvPr id="7" name="Shape 5"/>
          <p:cNvSpPr/>
          <p:nvPr/>
        </p:nvSpPr>
        <p:spPr>
          <a:xfrm>
            <a:off x="3383280" y="3236976"/>
            <a:ext cx="420624" cy="420624"/>
          </a:xfrm>
          <a:prstGeom prst="ellipse">
            <a:avLst/>
          </a:prstGeom>
          <a:solidFill>
            <a:srgbClr val="00875F"/>
          </a:solidFill>
          <a:ln/>
        </p:spPr>
      </p:sp>
      <p:sp>
        <p:nvSpPr>
          <p:cNvPr id="8" name="Shape 6"/>
          <p:cNvSpPr/>
          <p:nvPr/>
        </p:nvSpPr>
        <p:spPr>
          <a:xfrm>
            <a:off x="3442167" y="3295863"/>
            <a:ext cx="302849" cy="302849"/>
          </a:xfrm>
          <a:prstGeom prst="ellipse">
            <a:avLst/>
          </a:prstGeom>
          <a:solidFill>
            <a:srgbClr val="EDEEF7"/>
          </a:solidFill>
          <a:ln/>
        </p:spPr>
      </p:sp>
      <p:sp>
        <p:nvSpPr>
          <p:cNvPr id="9" name="Shape 7"/>
          <p:cNvSpPr/>
          <p:nvPr/>
        </p:nvSpPr>
        <p:spPr>
          <a:xfrm>
            <a:off x="3501055" y="3354751"/>
            <a:ext cx="185075" cy="185075"/>
          </a:xfrm>
          <a:prstGeom prst="ellipse">
            <a:avLst/>
          </a:prstGeom>
          <a:solidFill>
            <a:srgbClr val="00875F"/>
          </a:solidFill>
          <a:ln/>
        </p:spPr>
      </p:sp>
      <p:sp>
        <p:nvSpPr>
          <p:cNvPr id="10" name="Shape 8"/>
          <p:cNvSpPr/>
          <p:nvPr/>
        </p:nvSpPr>
        <p:spPr>
          <a:xfrm>
            <a:off x="3555736" y="3409432"/>
            <a:ext cx="75712" cy="75712"/>
          </a:xfrm>
          <a:prstGeom prst="ellipse">
            <a:avLst/>
          </a:prstGeom>
          <a:solidFill>
            <a:srgbClr val="EDEEF7"/>
          </a:solidFill>
          <a:ln/>
        </p:spPr>
      </p:sp>
      <p:sp>
        <p:nvSpPr>
          <p:cNvPr id="11" name="Shape 9"/>
          <p:cNvSpPr/>
          <p:nvPr/>
        </p:nvSpPr>
        <p:spPr>
          <a:xfrm>
            <a:off x="932688" y="3273552"/>
            <a:ext cx="2194560" cy="347472"/>
          </a:xfrm>
          <a:prstGeom prst="roundRect">
            <a:avLst>
              <a:gd name="adj" fmla="val 13158"/>
            </a:avLst>
          </a:prstGeom>
          <a:solidFill>
            <a:srgbClr val="E2F3EC"/>
          </a:solidFill>
          <a:ln/>
        </p:spPr>
      </p:sp>
      <p:sp>
        <p:nvSpPr>
          <p:cNvPr id="12" name="Text 10"/>
          <p:cNvSpPr txBox="1"/>
          <p:nvPr/>
        </p:nvSpPr>
        <p:spPr>
          <a:xfrm>
            <a:off x="932688" y="3273552"/>
            <a:ext cx="2194560" cy="347472"/>
          </a:xfrm>
          <a:prstGeom prst="rect">
            <a:avLst/>
          </a:prstGeom>
          <a:noFill/>
          <a:ln/>
        </p:spPr>
        <p:txBody>
          <a:bodyPr wrap="square" lIns="0" tIns="0" rIns="0" bIns="0" rtlCol="0" anchor="ctr"/>
          <a:lstStyle/>
          <a:p>
            <a:pPr algn="ctr" indent="0" marL="0">
              <a:buNone/>
            </a:pPr>
            <a:r>
              <a:rPr lang="en-US" sz="1000" b="1" dirty="0">
                <a:solidFill>
                  <a:srgbClr val="00875F"/>
                </a:solidFill>
                <a:latin typeface="Arial" pitchFamily="34" charset="0"/>
                <a:ea typeface="Arial" pitchFamily="34" charset="-122"/>
                <a:cs typeface="Arial" pitchFamily="34" charset="-120"/>
              </a:rPr>
              <a:t>「確かめられない」への答え</a:t>
            </a:r>
            <a:endParaRPr lang="en-US" sz="1000" dirty="0"/>
          </a:p>
        </p:txBody>
      </p:sp>
      <p:sp>
        <p:nvSpPr>
          <p:cNvPr id="13" name="Text 11"/>
          <p:cNvSpPr txBox="1"/>
          <p:nvPr/>
        </p:nvSpPr>
        <p:spPr>
          <a:xfrm>
            <a:off x="932688" y="3767328"/>
            <a:ext cx="2871216" cy="411480"/>
          </a:xfrm>
          <a:prstGeom prst="rect">
            <a:avLst/>
          </a:prstGeom>
          <a:noFill/>
          <a:ln/>
        </p:spPr>
        <p:txBody>
          <a:bodyPr wrap="square" lIns="0" tIns="0" rIns="0" bIns="0" rtlCol="0" anchor="ctr"/>
          <a:lstStyle/>
          <a:p>
            <a:pPr indent="0" marL="0">
              <a:buNone/>
            </a:pPr>
            <a:r>
              <a:rPr lang="en-US" sz="1700" b="1" dirty="0">
                <a:solidFill>
                  <a:srgbClr val="2B2F77"/>
                </a:solidFill>
                <a:latin typeface="Arial" pitchFamily="34" charset="0"/>
                <a:ea typeface="Arial" pitchFamily="34" charset="-122"/>
                <a:cs typeface="Arial" pitchFamily="34" charset="-120"/>
              </a:rPr>
              <a:t>出どころを保証する</a:t>
            </a:r>
            <a:endParaRPr lang="en-US" sz="1700" dirty="0"/>
          </a:p>
        </p:txBody>
      </p:sp>
      <p:sp>
        <p:nvSpPr>
          <p:cNvPr id="14" name="Text 12"/>
          <p:cNvSpPr txBox="1"/>
          <p:nvPr/>
        </p:nvSpPr>
        <p:spPr>
          <a:xfrm>
            <a:off x="932688" y="4261104"/>
            <a:ext cx="2871216" cy="868680"/>
          </a:xfrm>
          <a:prstGeom prst="rect">
            <a:avLst/>
          </a:prstGeom>
          <a:noFill/>
          <a:ln/>
        </p:spPr>
        <p:txBody>
          <a:bodyPr wrap="square" lIns="0" tIns="0" rIns="0" bIns="0" rtlCol="0" anchor="ctr"/>
          <a:lstStyle/>
          <a:p>
            <a:pPr indent="0" marL="0">
              <a:lnSpc>
                <a:spcPts val="2100"/>
              </a:lnSpc>
              <a:buNone/>
            </a:pPr>
            <a:r>
              <a:rPr lang="en-US" sz="1300" dirty="0">
                <a:solidFill>
                  <a:srgbClr val="3A3F63"/>
                </a:solidFill>
                <a:latin typeface="Arial" pitchFamily="34" charset="0"/>
                <a:ea typeface="Arial" pitchFamily="34" charset="-122"/>
                <a:cs typeface="Arial" pitchFamily="34" charset="-120"/>
              </a:rPr>
              <a:t>登録された取引先だけが署名付きの Receipt を出せる</a:t>
            </a:r>
            <a:endParaRPr lang="en-US" sz="1300" dirty="0"/>
          </a:p>
        </p:txBody>
      </p:sp>
      <p:sp>
        <p:nvSpPr>
          <p:cNvPr id="15" name="Shape 13"/>
          <p:cNvSpPr/>
          <p:nvPr/>
        </p:nvSpPr>
        <p:spPr>
          <a:xfrm>
            <a:off x="4367632" y="3017520"/>
            <a:ext cx="3456432" cy="2240280"/>
          </a:xfrm>
          <a:prstGeom prst="roundRect">
            <a:avLst>
              <a:gd name="adj" fmla="val 3265"/>
            </a:avLst>
          </a:prstGeom>
          <a:solidFill>
            <a:srgbClr val="EDEEF7"/>
          </a:solidFill>
          <a:ln/>
          <a:effectLst>
            <a:outerShdw sx="100000" sy="100000" kx="0" ky="0" algn="bl" rotWithShape="0" blurRad="127000" dist="19050" dir="5400000">
              <a:srgbClr val="2B2F77">
                <a:alpha val="12000"/>
              </a:srgbClr>
            </a:outerShdw>
          </a:effectLst>
        </p:spPr>
      </p:sp>
      <p:sp>
        <p:nvSpPr>
          <p:cNvPr id="16" name="Shape 14"/>
          <p:cNvSpPr/>
          <p:nvPr/>
        </p:nvSpPr>
        <p:spPr>
          <a:xfrm>
            <a:off x="7110832" y="3329513"/>
            <a:ext cx="420624" cy="235549"/>
          </a:xfrm>
          <a:prstGeom prst="ellipse">
            <a:avLst/>
          </a:prstGeom>
          <a:solidFill>
            <a:srgbClr val="00875F"/>
          </a:solidFill>
          <a:ln/>
        </p:spPr>
      </p:sp>
      <p:sp>
        <p:nvSpPr>
          <p:cNvPr id="17" name="Shape 15"/>
          <p:cNvSpPr/>
          <p:nvPr/>
        </p:nvSpPr>
        <p:spPr>
          <a:xfrm>
            <a:off x="7253844" y="3379988"/>
            <a:ext cx="134600" cy="134600"/>
          </a:xfrm>
          <a:prstGeom prst="ellipse">
            <a:avLst/>
          </a:prstGeom>
          <a:solidFill>
            <a:srgbClr val="EDEEF7"/>
          </a:solidFill>
          <a:ln/>
        </p:spPr>
      </p:sp>
      <p:sp>
        <p:nvSpPr>
          <p:cNvPr id="18" name="Shape 16"/>
          <p:cNvSpPr/>
          <p:nvPr/>
        </p:nvSpPr>
        <p:spPr>
          <a:xfrm rot="-2100000">
            <a:off x="7102419" y="3422051"/>
            <a:ext cx="437449" cy="50475"/>
          </a:xfrm>
          <a:prstGeom prst="rect">
            <a:avLst/>
          </a:prstGeom>
          <a:solidFill>
            <a:srgbClr val="EDEEF7"/>
          </a:solidFill>
          <a:ln/>
        </p:spPr>
      </p:sp>
      <p:sp>
        <p:nvSpPr>
          <p:cNvPr id="19" name="Shape 17"/>
          <p:cNvSpPr/>
          <p:nvPr/>
        </p:nvSpPr>
        <p:spPr>
          <a:xfrm rot="-2100000">
            <a:off x="7119244" y="3430463"/>
            <a:ext cx="403799" cy="29444"/>
          </a:xfrm>
          <a:prstGeom prst="rect">
            <a:avLst/>
          </a:prstGeom>
          <a:solidFill>
            <a:srgbClr val="00875F"/>
          </a:solidFill>
          <a:ln/>
        </p:spPr>
      </p:sp>
      <p:sp>
        <p:nvSpPr>
          <p:cNvPr id="20" name="Shape 18"/>
          <p:cNvSpPr/>
          <p:nvPr/>
        </p:nvSpPr>
        <p:spPr>
          <a:xfrm>
            <a:off x="4660240" y="3273552"/>
            <a:ext cx="2194560" cy="347472"/>
          </a:xfrm>
          <a:prstGeom prst="roundRect">
            <a:avLst>
              <a:gd name="adj" fmla="val 13158"/>
            </a:avLst>
          </a:prstGeom>
          <a:solidFill>
            <a:srgbClr val="E2F3EC"/>
          </a:solidFill>
          <a:ln/>
        </p:spPr>
      </p:sp>
      <p:sp>
        <p:nvSpPr>
          <p:cNvPr id="21" name="Text 19"/>
          <p:cNvSpPr txBox="1"/>
          <p:nvPr/>
        </p:nvSpPr>
        <p:spPr>
          <a:xfrm>
            <a:off x="4660240" y="3273552"/>
            <a:ext cx="2194560" cy="347472"/>
          </a:xfrm>
          <a:prstGeom prst="rect">
            <a:avLst/>
          </a:prstGeom>
          <a:noFill/>
          <a:ln/>
        </p:spPr>
        <p:txBody>
          <a:bodyPr wrap="square" lIns="0" tIns="0" rIns="0" bIns="0" rtlCol="0" anchor="ctr"/>
          <a:lstStyle/>
          <a:p>
            <a:pPr algn="ctr" indent="0" marL="0">
              <a:buNone/>
            </a:pPr>
            <a:r>
              <a:rPr lang="en-US" sz="1000" b="1" dirty="0">
                <a:solidFill>
                  <a:srgbClr val="00875F"/>
                </a:solidFill>
                <a:latin typeface="Arial" pitchFamily="34" charset="0"/>
                <a:ea typeface="Arial" pitchFamily="34" charset="-122"/>
                <a:cs typeface="Arial" pitchFamily="34" charset="-120"/>
              </a:rPr>
              <a:t>「全部渡すことになる」への答え</a:t>
            </a:r>
            <a:endParaRPr lang="en-US" sz="1000" dirty="0"/>
          </a:p>
        </p:txBody>
      </p:sp>
      <p:sp>
        <p:nvSpPr>
          <p:cNvPr id="22" name="Text 20"/>
          <p:cNvSpPr txBox="1"/>
          <p:nvPr/>
        </p:nvSpPr>
        <p:spPr>
          <a:xfrm>
            <a:off x="4660240" y="3767328"/>
            <a:ext cx="2871216" cy="411480"/>
          </a:xfrm>
          <a:prstGeom prst="rect">
            <a:avLst/>
          </a:prstGeom>
          <a:noFill/>
          <a:ln/>
        </p:spPr>
        <p:txBody>
          <a:bodyPr wrap="square" lIns="0" tIns="0" rIns="0" bIns="0" rtlCol="0" anchor="ctr"/>
          <a:lstStyle/>
          <a:p>
            <a:pPr indent="0" marL="0">
              <a:buNone/>
            </a:pPr>
            <a:r>
              <a:rPr lang="en-US" sz="1700" b="1" dirty="0">
                <a:solidFill>
                  <a:srgbClr val="2B2F77"/>
                </a:solidFill>
                <a:latin typeface="Arial" pitchFamily="34" charset="0"/>
                <a:ea typeface="Arial" pitchFamily="34" charset="-122"/>
                <a:cs typeface="Arial" pitchFamily="34" charset="-120"/>
              </a:rPr>
              <a:t>中身を見せずに証明する</a:t>
            </a:r>
            <a:endParaRPr lang="en-US" sz="1700" dirty="0"/>
          </a:p>
        </p:txBody>
      </p:sp>
      <p:sp>
        <p:nvSpPr>
          <p:cNvPr id="23" name="Text 21"/>
          <p:cNvSpPr txBox="1"/>
          <p:nvPr/>
        </p:nvSpPr>
        <p:spPr>
          <a:xfrm>
            <a:off x="4660240" y="4261104"/>
            <a:ext cx="2871216" cy="868680"/>
          </a:xfrm>
          <a:prstGeom prst="rect">
            <a:avLst/>
          </a:prstGeom>
          <a:noFill/>
          <a:ln/>
        </p:spPr>
        <p:txBody>
          <a:bodyPr wrap="square" lIns="0" tIns="0" rIns="0" bIns="0" rtlCol="0" anchor="ctr"/>
          <a:lstStyle/>
          <a:p>
            <a:pPr indent="0" marL="0">
              <a:lnSpc>
                <a:spcPts val="2100"/>
              </a:lnSpc>
              <a:buNone/>
            </a:pPr>
            <a:r>
              <a:rPr lang="en-US" sz="1300" dirty="0">
                <a:solidFill>
                  <a:srgbClr val="3A3F63"/>
                </a:solidFill>
                <a:latin typeface="Arial" pitchFamily="34" charset="0"/>
                <a:ea typeface="Arial" pitchFamily="34" charset="-122"/>
                <a:cs typeface="Arial" pitchFamily="34" charset="-120"/>
              </a:rPr>
              <a:t>合計点も件数も渡さず、条件を満たすことだけを証明する</a:t>
            </a:r>
            <a:endParaRPr lang="en-US" sz="1300" dirty="0"/>
          </a:p>
        </p:txBody>
      </p:sp>
      <p:sp>
        <p:nvSpPr>
          <p:cNvPr id="24" name="Shape 22"/>
          <p:cNvSpPr/>
          <p:nvPr/>
        </p:nvSpPr>
        <p:spPr>
          <a:xfrm>
            <a:off x="8095183" y="3017520"/>
            <a:ext cx="3456432" cy="2240280"/>
          </a:xfrm>
          <a:prstGeom prst="roundRect">
            <a:avLst>
              <a:gd name="adj" fmla="val 3265"/>
            </a:avLst>
          </a:prstGeom>
          <a:solidFill>
            <a:srgbClr val="2B2F77"/>
          </a:solidFill>
          <a:ln/>
          <a:effectLst>
            <a:outerShdw sx="100000" sy="100000" kx="0" ky="0" algn="bl" rotWithShape="0" blurRad="127000" dist="19050" dir="5400000">
              <a:srgbClr val="2B2F77">
                <a:alpha val="12000"/>
              </a:srgbClr>
            </a:outerShdw>
          </a:effectLst>
        </p:spPr>
      </p:sp>
      <p:sp>
        <p:nvSpPr>
          <p:cNvPr id="25" name="Shape 23"/>
          <p:cNvSpPr/>
          <p:nvPr/>
        </p:nvSpPr>
        <p:spPr>
          <a:xfrm>
            <a:off x="10950306" y="3227832"/>
            <a:ext cx="215067" cy="230429"/>
          </a:xfrm>
          <a:prstGeom prst="roundRect">
            <a:avLst>
              <a:gd name="adj" fmla="val 21429"/>
            </a:avLst>
          </a:prstGeom>
          <a:solidFill>
            <a:srgbClr val="FFFFFF"/>
          </a:solidFill>
          <a:ln/>
        </p:spPr>
      </p:sp>
      <p:sp>
        <p:nvSpPr>
          <p:cNvPr id="26" name="Shape 24"/>
          <p:cNvSpPr/>
          <p:nvPr/>
        </p:nvSpPr>
        <p:spPr>
          <a:xfrm>
            <a:off x="10992551" y="3312323"/>
            <a:ext cx="130576" cy="153619"/>
          </a:xfrm>
          <a:prstGeom prst="rect">
            <a:avLst/>
          </a:prstGeom>
          <a:solidFill>
            <a:srgbClr val="2B2F77"/>
          </a:solidFill>
          <a:ln/>
        </p:spPr>
      </p:sp>
      <p:sp>
        <p:nvSpPr>
          <p:cNvPr id="27" name="Shape 25"/>
          <p:cNvSpPr/>
          <p:nvPr/>
        </p:nvSpPr>
        <p:spPr>
          <a:xfrm>
            <a:off x="10865815" y="3389132"/>
            <a:ext cx="384048" cy="222748"/>
          </a:xfrm>
          <a:prstGeom prst="roundRect">
            <a:avLst>
              <a:gd name="adj" fmla="val 13793"/>
            </a:avLst>
          </a:prstGeom>
          <a:solidFill>
            <a:srgbClr val="FFFFFF"/>
          </a:solidFill>
          <a:ln/>
        </p:spPr>
      </p:sp>
      <p:sp>
        <p:nvSpPr>
          <p:cNvPr id="28" name="Shape 26"/>
          <p:cNvSpPr/>
          <p:nvPr/>
        </p:nvSpPr>
        <p:spPr>
          <a:xfrm>
            <a:off x="11027115" y="3465942"/>
            <a:ext cx="61448" cy="61448"/>
          </a:xfrm>
          <a:prstGeom prst="ellipse">
            <a:avLst/>
          </a:prstGeom>
          <a:solidFill>
            <a:srgbClr val="2B2F77"/>
          </a:solidFill>
          <a:ln/>
        </p:spPr>
      </p:sp>
      <p:sp>
        <p:nvSpPr>
          <p:cNvPr id="29" name="Shape 27"/>
          <p:cNvSpPr/>
          <p:nvPr/>
        </p:nvSpPr>
        <p:spPr>
          <a:xfrm>
            <a:off x="8387791" y="3273552"/>
            <a:ext cx="2194560" cy="347472"/>
          </a:xfrm>
          <a:prstGeom prst="roundRect">
            <a:avLst>
              <a:gd name="adj" fmla="val 13158"/>
            </a:avLst>
          </a:prstGeom>
          <a:solidFill>
            <a:srgbClr val="FFFFFF"/>
          </a:solidFill>
          <a:ln/>
        </p:spPr>
      </p:sp>
      <p:sp>
        <p:nvSpPr>
          <p:cNvPr id="30" name="Text 28"/>
          <p:cNvSpPr txBox="1"/>
          <p:nvPr/>
        </p:nvSpPr>
        <p:spPr>
          <a:xfrm>
            <a:off x="8387791" y="3273552"/>
            <a:ext cx="2194560" cy="347472"/>
          </a:xfrm>
          <a:prstGeom prst="rect">
            <a:avLst/>
          </a:prstGeom>
          <a:noFill/>
          <a:ln/>
        </p:spPr>
        <p:txBody>
          <a:bodyPr wrap="square" lIns="0" tIns="0" rIns="0" bIns="0" rtlCol="0" anchor="ctr"/>
          <a:lstStyle/>
          <a:p>
            <a:pPr algn="ctr" indent="0" marL="0">
              <a:buNone/>
            </a:pPr>
            <a:r>
              <a:rPr lang="en-US" sz="1000" b="1" dirty="0">
                <a:solidFill>
                  <a:srgbClr val="2B2F77"/>
                </a:solidFill>
                <a:latin typeface="Arial" pitchFamily="34" charset="0"/>
                <a:ea typeface="Arial" pitchFamily="34" charset="-122"/>
                <a:cs typeface="Arial" pitchFamily="34" charset="-120"/>
              </a:rPr>
              <a:t>「入れ替えられる」への答え</a:t>
            </a:r>
            <a:endParaRPr lang="en-US" sz="1000" dirty="0"/>
          </a:p>
        </p:txBody>
      </p:sp>
      <p:sp>
        <p:nvSpPr>
          <p:cNvPr id="31" name="Text 29"/>
          <p:cNvSpPr txBox="1"/>
          <p:nvPr/>
        </p:nvSpPr>
        <p:spPr>
          <a:xfrm>
            <a:off x="8387791" y="3767328"/>
            <a:ext cx="2871216" cy="41148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構成に束縛する</a:t>
            </a:r>
            <a:endParaRPr lang="en-US" sz="1700" dirty="0"/>
          </a:p>
        </p:txBody>
      </p:sp>
      <p:sp>
        <p:nvSpPr>
          <p:cNvPr id="32" name="Text 30"/>
          <p:cNvSpPr txBox="1"/>
          <p:nvPr/>
        </p:nvSpPr>
        <p:spPr>
          <a:xfrm>
            <a:off x="8387791" y="4261104"/>
            <a:ext cx="2871216" cy="868680"/>
          </a:xfrm>
          <a:prstGeom prst="rect">
            <a:avLst/>
          </a:prstGeom>
          <a:noFill/>
          <a:ln/>
        </p:spPr>
        <p:txBody>
          <a:bodyPr wrap="square" lIns="0" tIns="0" rIns="0" bIns="0" rtlCol="0" anchor="ctr"/>
          <a:lstStyle/>
          <a:p>
            <a:pPr indent="0" marL="0">
              <a:lnSpc>
                <a:spcPts val="2100"/>
              </a:lnSpc>
              <a:buNone/>
            </a:pPr>
            <a:r>
              <a:rPr lang="en-US" sz="1300" dirty="0">
                <a:solidFill>
                  <a:srgbClr val="DFE1F1"/>
                </a:solidFill>
                <a:latin typeface="Arial" pitchFamily="34" charset="0"/>
                <a:ea typeface="Arial" pitchFamily="34" charset="-122"/>
                <a:cs typeface="Arial" pitchFamily="34" charset="-120"/>
              </a:rPr>
              <a:t>実績は名前ではなく、構成のハッシュに結び付く</a:t>
            </a:r>
            <a:endParaRPr lang="en-US" sz="1300" dirty="0"/>
          </a:p>
        </p:txBody>
      </p:sp>
      <p:sp>
        <p:nvSpPr>
          <p:cNvPr id="33" name="Text 31"/>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05 ─ 開示</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予約サービスに渡るのは、164 バイトの証明だけ</a:t>
            </a:r>
            <a:endParaRPr lang="en-US" sz="2900" dirty="0"/>
          </a:p>
        </p:txBody>
      </p:sp>
      <p:sp>
        <p:nvSpPr>
          <p:cNvPr id="4" name="Shape 2"/>
          <p:cNvSpPr/>
          <p:nvPr/>
        </p:nvSpPr>
        <p:spPr>
          <a:xfrm>
            <a:off x="663489" y="1355141"/>
            <a:ext cx="245791" cy="239939"/>
          </a:xfrm>
          <a:prstGeom prst="roundRect">
            <a:avLst>
              <a:gd name="adj" fmla="val 6098"/>
            </a:avLst>
          </a:prstGeom>
          <a:solidFill>
            <a:srgbClr val="2B2F77"/>
          </a:solidFill>
          <a:ln/>
        </p:spPr>
      </p:sp>
      <p:sp>
        <p:nvSpPr>
          <p:cNvPr id="5" name="Shape 3"/>
          <p:cNvSpPr/>
          <p:nvPr/>
        </p:nvSpPr>
        <p:spPr>
          <a:xfrm>
            <a:off x="704454" y="1401958"/>
            <a:ext cx="52669" cy="40965"/>
          </a:xfrm>
          <a:prstGeom prst="rect">
            <a:avLst/>
          </a:prstGeom>
          <a:solidFill>
            <a:srgbClr val="FFFFFF"/>
          </a:solidFill>
          <a:ln/>
        </p:spPr>
      </p:sp>
      <p:sp>
        <p:nvSpPr>
          <p:cNvPr id="6" name="Shape 4"/>
          <p:cNvSpPr/>
          <p:nvPr/>
        </p:nvSpPr>
        <p:spPr>
          <a:xfrm>
            <a:off x="803940" y="1401958"/>
            <a:ext cx="52669" cy="40965"/>
          </a:xfrm>
          <a:prstGeom prst="rect">
            <a:avLst/>
          </a:prstGeom>
          <a:solidFill>
            <a:srgbClr val="FFFFFF"/>
          </a:solidFill>
          <a:ln/>
        </p:spPr>
      </p:sp>
      <p:sp>
        <p:nvSpPr>
          <p:cNvPr id="7" name="Shape 5"/>
          <p:cNvSpPr/>
          <p:nvPr/>
        </p:nvSpPr>
        <p:spPr>
          <a:xfrm>
            <a:off x="704454" y="1466332"/>
            <a:ext cx="52669" cy="40965"/>
          </a:xfrm>
          <a:prstGeom prst="rect">
            <a:avLst/>
          </a:prstGeom>
          <a:solidFill>
            <a:srgbClr val="FFFFFF"/>
          </a:solidFill>
          <a:ln/>
        </p:spPr>
      </p:sp>
      <p:sp>
        <p:nvSpPr>
          <p:cNvPr id="8" name="Shape 6"/>
          <p:cNvSpPr/>
          <p:nvPr/>
        </p:nvSpPr>
        <p:spPr>
          <a:xfrm>
            <a:off x="803940" y="1466332"/>
            <a:ext cx="52669" cy="40965"/>
          </a:xfrm>
          <a:prstGeom prst="rect">
            <a:avLst/>
          </a:prstGeom>
          <a:solidFill>
            <a:srgbClr val="FFFFFF"/>
          </a:solidFill>
          <a:ln/>
        </p:spPr>
      </p:sp>
      <p:sp>
        <p:nvSpPr>
          <p:cNvPr id="9" name="Shape 7"/>
          <p:cNvSpPr/>
          <p:nvPr/>
        </p:nvSpPr>
        <p:spPr>
          <a:xfrm>
            <a:off x="754197" y="1536558"/>
            <a:ext cx="52669" cy="58522"/>
          </a:xfrm>
          <a:prstGeom prst="rect">
            <a:avLst/>
          </a:prstGeom>
          <a:solidFill>
            <a:srgbClr val="FFFFFF"/>
          </a:solidFill>
          <a:ln/>
        </p:spPr>
      </p:sp>
      <p:sp>
        <p:nvSpPr>
          <p:cNvPr id="10" name="Text 8"/>
          <p:cNvSpPr txBox="1"/>
          <p:nvPr/>
        </p:nvSpPr>
        <p:spPr>
          <a:xfrm>
            <a:off x="1042416" y="1307592"/>
            <a:ext cx="10509199" cy="329184"/>
          </a:xfrm>
          <a:prstGeom prst="rect">
            <a:avLst/>
          </a:prstGeom>
          <a:noFill/>
          <a:ln/>
        </p:spPr>
        <p:txBody>
          <a:bodyPr wrap="square" lIns="0" tIns="0" rIns="0" bIns="0" rtlCol="0" anchor="ctr"/>
          <a:lstStyle/>
          <a:p>
            <a:pPr indent="0" marL="0">
              <a:buNone/>
            </a:pPr>
            <a:r>
              <a:rPr lang="en-US" sz="1150" dirty="0">
                <a:solidFill>
                  <a:srgbClr val="6A6F93"/>
                </a:solidFill>
                <a:latin typeface="Arial" pitchFamily="34" charset="0"/>
                <a:ea typeface="Arial" pitchFamily="34" charset="-122"/>
                <a:cs typeface="Arial" pitchFamily="34" charset="-120"/>
              </a:rPr>
              <a:t>予約サービス = 証明を受け取って判断する側（構成図では Service）</a:t>
            </a:r>
            <a:endParaRPr lang="en-US" sz="1150" dirty="0"/>
          </a:p>
        </p:txBody>
      </p:sp>
      <p:sp>
        <p:nvSpPr>
          <p:cNvPr id="11" name="Shape 9"/>
          <p:cNvSpPr/>
          <p:nvPr/>
        </p:nvSpPr>
        <p:spPr>
          <a:xfrm>
            <a:off x="640080" y="1737360"/>
            <a:ext cx="10911535" cy="731520"/>
          </a:xfrm>
          <a:prstGeom prst="roundRect">
            <a:avLst>
              <a:gd name="adj" fmla="val 10000"/>
            </a:avLst>
          </a:prstGeom>
          <a:solidFill>
            <a:srgbClr val="0F1024"/>
          </a:solidFill>
          <a:ln/>
          <a:effectLst>
            <a:outerShdw sx="100000" sy="100000" kx="0" ky="0" algn="bl" rotWithShape="0" blurRad="127000" dist="19050" dir="5400000">
              <a:srgbClr val="2B2F77">
                <a:alpha val="12000"/>
              </a:srgbClr>
            </a:outerShdw>
          </a:effectLst>
        </p:spPr>
      </p:sp>
      <p:sp>
        <p:nvSpPr>
          <p:cNvPr id="12" name="Text 10"/>
          <p:cNvSpPr txBox="1"/>
          <p:nvPr/>
        </p:nvSpPr>
        <p:spPr>
          <a:xfrm>
            <a:off x="914400" y="1737360"/>
            <a:ext cx="10362895" cy="731520"/>
          </a:xfrm>
          <a:prstGeom prst="rect">
            <a:avLst/>
          </a:prstGeom>
          <a:noFill/>
          <a:ln/>
        </p:spPr>
        <p:txBody>
          <a:bodyPr wrap="square" lIns="0" tIns="0" rIns="0" bIns="0" rtlCol="0" anchor="ctr"/>
          <a:lstStyle/>
          <a:p>
            <a:pPr algn="ctr" indent="0" marL="0">
              <a:buNone/>
            </a:pPr>
            <a:r>
              <a:rPr lang="en-US" sz="1400" b="1" dirty="0">
                <a:solidFill>
                  <a:srgbClr val="00875F"/>
                </a:solidFill>
                <a:latin typeface="Courier New" pitchFamily="34" charset="0"/>
                <a:ea typeface="Courier New" pitchFamily="34" charset="-122"/>
                <a:cs typeface="Courier New" pitchFamily="34" charset="-120"/>
              </a:rPr>
              <a:t>nullifier = Hash( agentSecret , verifierId )　←　サービスごとに別の値になる</a:t>
            </a:r>
            <a:endParaRPr lang="en-US" sz="1400" dirty="0"/>
          </a:p>
        </p:txBody>
      </p:sp>
      <p:sp>
        <p:nvSpPr>
          <p:cNvPr id="13" name="Shape 11"/>
          <p:cNvSpPr/>
          <p:nvPr/>
        </p:nvSpPr>
        <p:spPr>
          <a:xfrm>
            <a:off x="640080" y="2697480"/>
            <a:ext cx="5250028" cy="2697480"/>
          </a:xfrm>
          <a:prstGeom prst="roundRect">
            <a:avLst>
              <a:gd name="adj" fmla="val 2712"/>
            </a:avLst>
          </a:prstGeom>
          <a:solidFill>
            <a:srgbClr val="E2F3EC"/>
          </a:solidFill>
          <a:ln/>
          <a:effectLst>
            <a:outerShdw sx="100000" sy="100000" kx="0" ky="0" algn="bl" rotWithShape="0" blurRad="127000" dist="19050" dir="5400000">
              <a:srgbClr val="2B2F77">
                <a:alpha val="12000"/>
              </a:srgbClr>
            </a:outerShdw>
          </a:effectLst>
        </p:spPr>
      </p:sp>
      <p:sp>
        <p:nvSpPr>
          <p:cNvPr id="14" name="Shape 12"/>
          <p:cNvSpPr/>
          <p:nvPr/>
        </p:nvSpPr>
        <p:spPr>
          <a:xfrm>
            <a:off x="5125669" y="2957170"/>
            <a:ext cx="395021" cy="504749"/>
          </a:xfrm>
          <a:prstGeom prst="roundRect">
            <a:avLst>
              <a:gd name="adj" fmla="val 6944"/>
            </a:avLst>
          </a:prstGeom>
          <a:solidFill>
            <a:srgbClr val="00875F"/>
          </a:solidFill>
          <a:ln/>
        </p:spPr>
      </p:sp>
      <p:sp>
        <p:nvSpPr>
          <p:cNvPr id="15" name="Shape 13"/>
          <p:cNvSpPr/>
          <p:nvPr/>
        </p:nvSpPr>
        <p:spPr>
          <a:xfrm>
            <a:off x="5191506" y="3066898"/>
            <a:ext cx="263347" cy="38405"/>
          </a:xfrm>
          <a:prstGeom prst="rect">
            <a:avLst/>
          </a:prstGeom>
          <a:solidFill>
            <a:srgbClr val="E2F3EC"/>
          </a:solidFill>
          <a:ln/>
        </p:spPr>
      </p:sp>
      <p:sp>
        <p:nvSpPr>
          <p:cNvPr id="16" name="Shape 14"/>
          <p:cNvSpPr/>
          <p:nvPr/>
        </p:nvSpPr>
        <p:spPr>
          <a:xfrm>
            <a:off x="5191506" y="3154680"/>
            <a:ext cx="263347" cy="38405"/>
          </a:xfrm>
          <a:prstGeom prst="rect">
            <a:avLst/>
          </a:prstGeom>
          <a:solidFill>
            <a:srgbClr val="E2F3EC"/>
          </a:solidFill>
          <a:ln/>
        </p:spPr>
      </p:sp>
      <p:sp>
        <p:nvSpPr>
          <p:cNvPr id="17" name="Shape 15"/>
          <p:cNvSpPr/>
          <p:nvPr/>
        </p:nvSpPr>
        <p:spPr>
          <a:xfrm>
            <a:off x="5191506" y="3242462"/>
            <a:ext cx="263347" cy="38405"/>
          </a:xfrm>
          <a:prstGeom prst="rect">
            <a:avLst/>
          </a:prstGeom>
          <a:solidFill>
            <a:srgbClr val="E2F3EC"/>
          </a:solidFill>
          <a:ln/>
        </p:spPr>
      </p:sp>
      <p:sp>
        <p:nvSpPr>
          <p:cNvPr id="18" name="Shape 16"/>
          <p:cNvSpPr/>
          <p:nvPr/>
        </p:nvSpPr>
        <p:spPr>
          <a:xfrm>
            <a:off x="5246370" y="3319272"/>
            <a:ext cx="109728" cy="109728"/>
          </a:xfrm>
          <a:prstGeom prst="ellipse">
            <a:avLst/>
          </a:prstGeom>
          <a:solidFill>
            <a:srgbClr val="E2F3EC"/>
          </a:solidFill>
          <a:ln/>
        </p:spPr>
      </p:sp>
      <p:sp>
        <p:nvSpPr>
          <p:cNvPr id="19" name="Text 17"/>
          <p:cNvSpPr txBox="1"/>
          <p:nvPr/>
        </p:nvSpPr>
        <p:spPr>
          <a:xfrm>
            <a:off x="960120" y="2971800"/>
            <a:ext cx="4609948" cy="384048"/>
          </a:xfrm>
          <a:prstGeom prst="rect">
            <a:avLst/>
          </a:prstGeom>
          <a:noFill/>
          <a:ln/>
        </p:spPr>
        <p:txBody>
          <a:bodyPr wrap="square" lIns="0" tIns="0" rIns="0" bIns="0" rtlCol="0" anchor="ctr"/>
          <a:lstStyle/>
          <a:p>
            <a:pPr indent="0" marL="0">
              <a:buNone/>
            </a:pPr>
            <a:r>
              <a:rPr lang="en-US" sz="1700" b="1" dirty="0">
                <a:solidFill>
                  <a:srgbClr val="00875F"/>
                </a:solidFill>
                <a:latin typeface="Arial" pitchFamily="34" charset="0"/>
                <a:ea typeface="Arial" pitchFamily="34" charset="-122"/>
                <a:cs typeface="Arial" pitchFamily="34" charset="-120"/>
              </a:rPr>
              <a:t>予約サービスが受け取るもの</a:t>
            </a:r>
            <a:endParaRPr lang="en-US" sz="1700" dirty="0"/>
          </a:p>
        </p:txBody>
      </p:sp>
      <p:sp>
        <p:nvSpPr>
          <p:cNvPr id="20" name="Text 18"/>
          <p:cNvSpPr txBox="1"/>
          <p:nvPr/>
        </p:nvSpPr>
        <p:spPr>
          <a:xfrm>
            <a:off x="960120" y="3502152"/>
            <a:ext cx="4609948" cy="17373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50" dirty="0">
                <a:solidFill>
                  <a:srgbClr val="23483C"/>
                </a:solidFill>
                <a:latin typeface="Arial" pitchFamily="34" charset="0"/>
                <a:ea typeface="Arial" pitchFamily="34" charset="-122"/>
                <a:cs typeface="Arial" pitchFamily="34" charset="-120"/>
              </a:rPr>
              <a:t>Groth16 の証明 1 つ（164 bytes）</a:t>
            </a:r>
            <a:endParaRPr lang="en-US" sz="1350" dirty="0"/>
          </a:p>
          <a:p>
            <a:pPr marL="342900" indent="-342900">
              <a:lnSpc>
                <a:spcPts val="2200"/>
              </a:lnSpc>
              <a:spcAft>
                <a:spcPts val="1000"/>
              </a:spcAft>
              <a:buSzPct val="100000"/>
              <a:buChar char="•"/>
            </a:pPr>
            <a:r>
              <a:rPr lang="en-US" sz="1350" dirty="0">
                <a:solidFill>
                  <a:srgbClr val="23483C"/>
                </a:solidFill>
                <a:latin typeface="Arial" pitchFamily="34" charset="0"/>
                <a:ea typeface="Arial" pitchFamily="34" charset="-122"/>
                <a:cs typeface="Arial" pitchFamily="34" charset="-120"/>
              </a:rPr>
              <a:t>公開入力 20 個</a:t>
            </a:r>
            <a:endParaRPr lang="en-US" sz="1350" dirty="0"/>
          </a:p>
          <a:p>
            <a:pPr marL="342900" indent="-342900">
              <a:lnSpc>
                <a:spcPts val="2200"/>
              </a:lnSpc>
              <a:spcAft>
                <a:spcPts val="1000"/>
              </a:spcAft>
              <a:buSzPct val="100000"/>
              <a:buChar char="•"/>
            </a:pPr>
            <a:r>
              <a:rPr lang="en-US" sz="1350" dirty="0">
                <a:solidFill>
                  <a:srgbClr val="23483C"/>
                </a:solidFill>
                <a:latin typeface="Arial" pitchFamily="34" charset="0"/>
                <a:ea typeface="Arial" pitchFamily="34" charset="-122"/>
                <a:cs typeface="Arial" pitchFamily="34" charset="-120"/>
              </a:rPr>
              <a:t>そのサービス専用の nullifier</a:t>
            </a:r>
            <a:endParaRPr lang="en-US" sz="1350" dirty="0"/>
          </a:p>
        </p:txBody>
      </p:sp>
      <p:sp>
        <p:nvSpPr>
          <p:cNvPr id="21" name="Shape 19"/>
          <p:cNvSpPr/>
          <p:nvPr/>
        </p:nvSpPr>
        <p:spPr>
          <a:xfrm>
            <a:off x="6301588" y="2697480"/>
            <a:ext cx="5250028" cy="2697480"/>
          </a:xfrm>
          <a:prstGeom prst="roundRect">
            <a:avLst>
              <a:gd name="adj" fmla="val 2712"/>
            </a:avLst>
          </a:prstGeom>
          <a:solidFill>
            <a:srgbClr val="EDEEF7"/>
          </a:solidFill>
          <a:ln/>
          <a:effectLst>
            <a:outerShdw sx="100000" sy="100000" kx="0" ky="0" algn="bl" rotWithShape="0" blurRad="127000" dist="19050" dir="5400000">
              <a:srgbClr val="2B2F77">
                <a:alpha val="12000"/>
              </a:srgbClr>
            </a:outerShdw>
          </a:effectLst>
        </p:spPr>
      </p:sp>
      <p:sp>
        <p:nvSpPr>
          <p:cNvPr id="22" name="Shape 20"/>
          <p:cNvSpPr/>
          <p:nvPr/>
        </p:nvSpPr>
        <p:spPr>
          <a:xfrm>
            <a:off x="10655503" y="3096524"/>
            <a:ext cx="566928" cy="317480"/>
          </a:xfrm>
          <a:prstGeom prst="ellipse">
            <a:avLst/>
          </a:prstGeom>
          <a:solidFill>
            <a:srgbClr val="2B2F77"/>
          </a:solidFill>
          <a:ln/>
        </p:spPr>
      </p:sp>
      <p:sp>
        <p:nvSpPr>
          <p:cNvPr id="23" name="Shape 21"/>
          <p:cNvSpPr/>
          <p:nvPr/>
        </p:nvSpPr>
        <p:spPr>
          <a:xfrm>
            <a:off x="10848259" y="3164556"/>
            <a:ext cx="181417" cy="181417"/>
          </a:xfrm>
          <a:prstGeom prst="ellipse">
            <a:avLst/>
          </a:prstGeom>
          <a:solidFill>
            <a:srgbClr val="EDEEF7"/>
          </a:solidFill>
          <a:ln/>
        </p:spPr>
      </p:sp>
      <p:sp>
        <p:nvSpPr>
          <p:cNvPr id="24" name="Shape 22"/>
          <p:cNvSpPr/>
          <p:nvPr/>
        </p:nvSpPr>
        <p:spPr>
          <a:xfrm rot="-2100000">
            <a:off x="10644165" y="3221248"/>
            <a:ext cx="589605" cy="68031"/>
          </a:xfrm>
          <a:prstGeom prst="rect">
            <a:avLst/>
          </a:prstGeom>
          <a:solidFill>
            <a:srgbClr val="EDEEF7"/>
          </a:solidFill>
          <a:ln/>
        </p:spPr>
      </p:sp>
      <p:sp>
        <p:nvSpPr>
          <p:cNvPr id="25" name="Shape 23"/>
          <p:cNvSpPr/>
          <p:nvPr/>
        </p:nvSpPr>
        <p:spPr>
          <a:xfrm rot="-2100000">
            <a:off x="10666842" y="3232587"/>
            <a:ext cx="544251" cy="39685"/>
          </a:xfrm>
          <a:prstGeom prst="rect">
            <a:avLst/>
          </a:prstGeom>
          <a:solidFill>
            <a:srgbClr val="2B2F77"/>
          </a:solidFill>
          <a:ln/>
        </p:spPr>
      </p:sp>
      <p:sp>
        <p:nvSpPr>
          <p:cNvPr id="26" name="Text 24"/>
          <p:cNvSpPr txBox="1"/>
          <p:nvPr/>
        </p:nvSpPr>
        <p:spPr>
          <a:xfrm>
            <a:off x="6621628" y="2971800"/>
            <a:ext cx="4609948" cy="384048"/>
          </a:xfrm>
          <a:prstGeom prst="rect">
            <a:avLst/>
          </a:prstGeom>
          <a:noFill/>
          <a:ln/>
        </p:spPr>
        <p:txBody>
          <a:bodyPr wrap="square" lIns="0" tIns="0" rIns="0" bIns="0" rtlCol="0" anchor="ctr"/>
          <a:lstStyle/>
          <a:p>
            <a:pPr indent="0" marL="0">
              <a:buNone/>
            </a:pPr>
            <a:r>
              <a:rPr lang="en-US" sz="1700" b="1" dirty="0">
                <a:solidFill>
                  <a:srgbClr val="2B2F77"/>
                </a:solidFill>
                <a:latin typeface="Arial" pitchFamily="34" charset="0"/>
                <a:ea typeface="Arial" pitchFamily="34" charset="-122"/>
                <a:cs typeface="Arial" pitchFamily="34" charset="-120"/>
              </a:rPr>
              <a:t>予約サービスが受け取らないもの</a:t>
            </a:r>
            <a:endParaRPr lang="en-US" sz="1700" dirty="0"/>
          </a:p>
        </p:txBody>
      </p:sp>
      <p:sp>
        <p:nvSpPr>
          <p:cNvPr id="27" name="Text 25"/>
          <p:cNvSpPr txBox="1"/>
          <p:nvPr/>
        </p:nvSpPr>
        <p:spPr>
          <a:xfrm>
            <a:off x="6621628" y="3502152"/>
            <a:ext cx="4609948" cy="173736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50" dirty="0">
                <a:solidFill>
                  <a:srgbClr val="3A3F63"/>
                </a:solidFill>
                <a:latin typeface="Arial" pitchFamily="34" charset="0"/>
                <a:ea typeface="Arial" pitchFamily="34" charset="-122"/>
                <a:cs typeface="Arial" pitchFamily="34" charset="-120"/>
              </a:rPr>
              <a:t>個別の評価・取引先の名前・合計点</a:t>
            </a:r>
            <a:endParaRPr lang="en-US" sz="1350" dirty="0"/>
          </a:p>
          <a:p>
            <a:pPr marL="342900" indent="-342900">
              <a:lnSpc>
                <a:spcPts val="2200"/>
              </a:lnSpc>
              <a:spcAft>
                <a:spcPts val="1000"/>
              </a:spcAft>
              <a:buSzPct val="100000"/>
              <a:buChar char="•"/>
            </a:pPr>
            <a:r>
              <a:rPr lang="en-US" sz="1350" dirty="0">
                <a:solidFill>
                  <a:srgbClr val="3A3F63"/>
                </a:solidFill>
                <a:latin typeface="Arial" pitchFamily="34" charset="0"/>
                <a:ea typeface="Arial" pitchFamily="34" charset="-122"/>
                <a:cs typeface="Arial" pitchFamily="34" charset="-120"/>
              </a:rPr>
              <a:t>Receipt の件数</a:t>
            </a:r>
            <a:endParaRPr lang="en-US" sz="1350" dirty="0"/>
          </a:p>
          <a:p>
            <a:pPr marL="342900" indent="-342900">
              <a:lnSpc>
                <a:spcPts val="2200"/>
              </a:lnSpc>
              <a:spcAft>
                <a:spcPts val="1000"/>
              </a:spcAft>
              <a:buSzPct val="100000"/>
              <a:buChar char="•"/>
            </a:pPr>
            <a:r>
              <a:rPr lang="en-US" sz="1350" dirty="0">
                <a:solidFill>
                  <a:srgbClr val="3A3F63"/>
                </a:solidFill>
                <a:latin typeface="Arial" pitchFamily="34" charset="0"/>
                <a:ea typeface="Arial" pitchFamily="34" charset="-122"/>
                <a:cs typeface="Arial" pitchFamily="34" charset="-120"/>
              </a:rPr>
              <a:t>証明書そのもの</a:t>
            </a:r>
            <a:endParaRPr lang="en-US" sz="1350" dirty="0"/>
          </a:p>
          <a:p>
            <a:pPr marL="342900" indent="-342900">
              <a:lnSpc>
                <a:spcPts val="2200"/>
              </a:lnSpc>
              <a:spcAft>
                <a:spcPts val="1000"/>
              </a:spcAft>
              <a:buSzPct val="100000"/>
              <a:buChar char="•"/>
            </a:pPr>
            <a:r>
              <a:rPr lang="en-US" sz="1350" dirty="0">
                <a:solidFill>
                  <a:srgbClr val="3A3F63"/>
                </a:solidFill>
                <a:latin typeface="Arial" pitchFamily="34" charset="0"/>
                <a:ea typeface="Arial" pitchFamily="34" charset="-122"/>
                <a:cs typeface="Arial" pitchFamily="34" charset="-120"/>
              </a:rPr>
              <a:t>passportCommitment・agentSecret</a:t>
            </a:r>
            <a:endParaRPr lang="en-US" sz="1350" dirty="0"/>
          </a:p>
        </p:txBody>
      </p:sp>
      <p:sp>
        <p:nvSpPr>
          <p:cNvPr id="28" name="Text 26"/>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06 ─ 構成</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仕事の評価が、証明になるまでの 5 ステップ</a:t>
            </a:r>
            <a:endParaRPr lang="en-US" sz="2900" dirty="0"/>
          </a:p>
        </p:txBody>
      </p:sp>
      <p:sp>
        <p:nvSpPr>
          <p:cNvPr id="4" name="Shape 2"/>
          <p:cNvSpPr/>
          <p:nvPr/>
        </p:nvSpPr>
        <p:spPr>
          <a:xfrm>
            <a:off x="640080" y="1783080"/>
            <a:ext cx="1828800" cy="2240280"/>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5" name="Shape 3"/>
          <p:cNvSpPr/>
          <p:nvPr/>
        </p:nvSpPr>
        <p:spPr>
          <a:xfrm>
            <a:off x="1130930" y="2026310"/>
            <a:ext cx="353324" cy="344912"/>
          </a:xfrm>
          <a:prstGeom prst="roundRect">
            <a:avLst>
              <a:gd name="adj" fmla="val 6098"/>
            </a:avLst>
          </a:prstGeom>
          <a:solidFill>
            <a:srgbClr val="2B2F77"/>
          </a:solidFill>
          <a:ln/>
        </p:spPr>
      </p:sp>
      <p:sp>
        <p:nvSpPr>
          <p:cNvPr id="6" name="Shape 4"/>
          <p:cNvSpPr/>
          <p:nvPr/>
        </p:nvSpPr>
        <p:spPr>
          <a:xfrm>
            <a:off x="1189817" y="2093610"/>
            <a:ext cx="75712" cy="58887"/>
          </a:xfrm>
          <a:prstGeom prst="rect">
            <a:avLst/>
          </a:prstGeom>
          <a:solidFill>
            <a:srgbClr val="EDEEF7"/>
          </a:solidFill>
          <a:ln/>
        </p:spPr>
      </p:sp>
      <p:sp>
        <p:nvSpPr>
          <p:cNvPr id="7" name="Shape 5"/>
          <p:cNvSpPr/>
          <p:nvPr/>
        </p:nvSpPr>
        <p:spPr>
          <a:xfrm>
            <a:off x="1332829" y="2093610"/>
            <a:ext cx="75712" cy="58887"/>
          </a:xfrm>
          <a:prstGeom prst="rect">
            <a:avLst/>
          </a:prstGeom>
          <a:solidFill>
            <a:srgbClr val="EDEEF7"/>
          </a:solidFill>
          <a:ln/>
        </p:spPr>
      </p:sp>
      <p:sp>
        <p:nvSpPr>
          <p:cNvPr id="8" name="Shape 6"/>
          <p:cNvSpPr/>
          <p:nvPr/>
        </p:nvSpPr>
        <p:spPr>
          <a:xfrm>
            <a:off x="1189817" y="2186148"/>
            <a:ext cx="75712" cy="58887"/>
          </a:xfrm>
          <a:prstGeom prst="rect">
            <a:avLst/>
          </a:prstGeom>
          <a:solidFill>
            <a:srgbClr val="EDEEF7"/>
          </a:solidFill>
          <a:ln/>
        </p:spPr>
      </p:sp>
      <p:sp>
        <p:nvSpPr>
          <p:cNvPr id="9" name="Shape 7"/>
          <p:cNvSpPr/>
          <p:nvPr/>
        </p:nvSpPr>
        <p:spPr>
          <a:xfrm>
            <a:off x="1332829" y="2186148"/>
            <a:ext cx="75712" cy="58887"/>
          </a:xfrm>
          <a:prstGeom prst="rect">
            <a:avLst/>
          </a:prstGeom>
          <a:solidFill>
            <a:srgbClr val="EDEEF7"/>
          </a:solidFill>
          <a:ln/>
        </p:spPr>
      </p:sp>
      <p:sp>
        <p:nvSpPr>
          <p:cNvPr id="10" name="Shape 8"/>
          <p:cNvSpPr/>
          <p:nvPr/>
        </p:nvSpPr>
        <p:spPr>
          <a:xfrm>
            <a:off x="1261323" y="2287097"/>
            <a:ext cx="75712" cy="84125"/>
          </a:xfrm>
          <a:prstGeom prst="rect">
            <a:avLst/>
          </a:prstGeom>
          <a:solidFill>
            <a:srgbClr val="EDEEF7"/>
          </a:solidFill>
          <a:ln/>
        </p:spPr>
      </p:sp>
      <p:sp>
        <p:nvSpPr>
          <p:cNvPr id="11" name="Shape 9"/>
          <p:cNvSpPr/>
          <p:nvPr/>
        </p:nvSpPr>
        <p:spPr>
          <a:xfrm>
            <a:off x="1627632" y="2002536"/>
            <a:ext cx="384048" cy="384048"/>
          </a:xfrm>
          <a:prstGeom prst="ellipse">
            <a:avLst/>
          </a:prstGeom>
          <a:solidFill>
            <a:srgbClr val="2B2F77"/>
          </a:solidFill>
          <a:ln/>
        </p:spPr>
      </p:sp>
      <p:sp>
        <p:nvSpPr>
          <p:cNvPr id="12" name="Text 10"/>
          <p:cNvSpPr txBox="1"/>
          <p:nvPr/>
        </p:nvSpPr>
        <p:spPr>
          <a:xfrm>
            <a:off x="1627632"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Text 11"/>
          <p:cNvSpPr txBox="1"/>
          <p:nvPr/>
        </p:nvSpPr>
        <p:spPr>
          <a:xfrm>
            <a:off x="768096" y="2569464"/>
            <a:ext cx="1572768" cy="566928"/>
          </a:xfrm>
          <a:prstGeom prst="rect">
            <a:avLst/>
          </a:prstGeom>
          <a:noFill/>
          <a:ln/>
        </p:spPr>
        <p:txBody>
          <a:bodyPr wrap="square" lIns="0" tIns="0" rIns="0" bIns="0" rtlCol="0" anchor="ctr"/>
          <a:lstStyle/>
          <a:p>
            <a:pPr algn="ctr" indent="0" marL="0">
              <a:buNone/>
            </a:pPr>
            <a:r>
              <a:rPr lang="en-US" sz="1300" b="1" dirty="0">
                <a:solidFill>
                  <a:srgbClr val="2B2F77"/>
                </a:solidFill>
                <a:latin typeface="Arial" pitchFamily="34" charset="0"/>
                <a:ea typeface="Arial" pitchFamily="34" charset="-122"/>
                <a:cs typeface="Arial" pitchFamily="34" charset="-120"/>
              </a:rPr>
              <a:t>Task Provider</a:t>
            </a:r>
            <a:endParaRPr lang="en-US" sz="1300" dirty="0"/>
          </a:p>
          <a:p>
            <a:pPr algn="ctr" indent="0" marL="0">
              <a:buNone/>
            </a:pPr>
            <a:r>
              <a:rPr lang="en-US" sz="1300" b="1" dirty="0">
                <a:solidFill>
                  <a:srgbClr val="2B2F77"/>
                </a:solidFill>
                <a:latin typeface="Arial" pitchFamily="34" charset="0"/>
                <a:ea typeface="Arial" pitchFamily="34" charset="-122"/>
                <a:cs typeface="Arial" pitchFamily="34" charset="-120"/>
              </a:rPr>
              <a:t>（取引先）</a:t>
            </a:r>
            <a:endParaRPr lang="en-US" sz="1300" dirty="0"/>
          </a:p>
        </p:txBody>
      </p:sp>
      <p:sp>
        <p:nvSpPr>
          <p:cNvPr id="14" name="Text 12"/>
          <p:cNvSpPr txBox="1"/>
          <p:nvPr/>
        </p:nvSpPr>
        <p:spPr>
          <a:xfrm>
            <a:off x="768096" y="3172968"/>
            <a:ext cx="1572768" cy="777240"/>
          </a:xfrm>
          <a:prstGeom prst="rect">
            <a:avLst/>
          </a:prstGeom>
          <a:noFill/>
          <a:ln/>
        </p:spPr>
        <p:txBody>
          <a:bodyPr wrap="square" lIns="0" tIns="0" rIns="0" bIns="0" rtlCol="0" anchor="ctr"/>
          <a:lstStyle/>
          <a:p>
            <a:pPr algn="ctr" indent="0" marL="0">
              <a:lnSpc>
                <a:spcPts val="1500"/>
              </a:lnSpc>
              <a:buNone/>
            </a:pPr>
            <a:r>
              <a:rPr lang="en-US" sz="1000" dirty="0">
                <a:solidFill>
                  <a:srgbClr val="3A3F63"/>
                </a:solidFill>
                <a:latin typeface="Arial" pitchFamily="34" charset="0"/>
                <a:ea typeface="Arial" pitchFamily="34" charset="-122"/>
                <a:cs typeface="Arial" pitchFamily="34" charset="-120"/>
              </a:rPr>
              <a:t>評価を出した取引先。デモでは A・B・C の 3 社</a:t>
            </a:r>
            <a:endParaRPr lang="en-US" sz="1000" dirty="0"/>
          </a:p>
        </p:txBody>
      </p:sp>
      <p:sp>
        <p:nvSpPr>
          <p:cNvPr id="15" name="Shape 13"/>
          <p:cNvSpPr/>
          <p:nvPr/>
        </p:nvSpPr>
        <p:spPr>
          <a:xfrm>
            <a:off x="2506942" y="2697480"/>
            <a:ext cx="365760" cy="310896"/>
          </a:xfrm>
          <a:prstGeom prst="rightArrow">
            <a:avLst/>
          </a:prstGeom>
          <a:solidFill>
            <a:srgbClr val="5257AE"/>
          </a:solidFill>
          <a:ln/>
        </p:spPr>
      </p:sp>
      <p:sp>
        <p:nvSpPr>
          <p:cNvPr id="16" name="Shape 14"/>
          <p:cNvSpPr/>
          <p:nvPr/>
        </p:nvSpPr>
        <p:spPr>
          <a:xfrm>
            <a:off x="2910764" y="1783080"/>
            <a:ext cx="1828800" cy="2240280"/>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17" name="Shape 15"/>
          <p:cNvSpPr/>
          <p:nvPr/>
        </p:nvSpPr>
        <p:spPr>
          <a:xfrm rot="10800000">
            <a:off x="3384789" y="2026310"/>
            <a:ext cx="386974" cy="218724"/>
          </a:xfrm>
          <a:prstGeom prst="triangle">
            <a:avLst/>
          </a:prstGeom>
          <a:solidFill>
            <a:srgbClr val="2B2F77"/>
          </a:solidFill>
          <a:ln/>
        </p:spPr>
      </p:sp>
      <p:sp>
        <p:nvSpPr>
          <p:cNvPr id="18" name="Shape 16"/>
          <p:cNvSpPr/>
          <p:nvPr/>
        </p:nvSpPr>
        <p:spPr>
          <a:xfrm>
            <a:off x="3548832" y="2228210"/>
            <a:ext cx="58887" cy="134600"/>
          </a:xfrm>
          <a:prstGeom prst="rect">
            <a:avLst/>
          </a:prstGeom>
          <a:solidFill>
            <a:srgbClr val="2B2F77"/>
          </a:solidFill>
          <a:ln/>
        </p:spPr>
      </p:sp>
      <p:sp>
        <p:nvSpPr>
          <p:cNvPr id="19" name="Shape 17"/>
          <p:cNvSpPr/>
          <p:nvPr/>
        </p:nvSpPr>
        <p:spPr>
          <a:xfrm>
            <a:off x="3898316" y="2002536"/>
            <a:ext cx="384048" cy="384048"/>
          </a:xfrm>
          <a:prstGeom prst="ellipse">
            <a:avLst/>
          </a:prstGeom>
          <a:solidFill>
            <a:srgbClr val="2B2F77"/>
          </a:solidFill>
          <a:ln/>
        </p:spPr>
      </p:sp>
      <p:sp>
        <p:nvSpPr>
          <p:cNvPr id="20" name="Text 18"/>
          <p:cNvSpPr txBox="1"/>
          <p:nvPr/>
        </p:nvSpPr>
        <p:spPr>
          <a:xfrm>
            <a:off x="3898316"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1" name="Text 19"/>
          <p:cNvSpPr txBox="1"/>
          <p:nvPr/>
        </p:nvSpPr>
        <p:spPr>
          <a:xfrm>
            <a:off x="3038780" y="2569464"/>
            <a:ext cx="1572768" cy="566928"/>
          </a:xfrm>
          <a:prstGeom prst="rect">
            <a:avLst/>
          </a:prstGeom>
          <a:noFill/>
          <a:ln/>
        </p:spPr>
        <p:txBody>
          <a:bodyPr wrap="square" lIns="0" tIns="0" rIns="0" bIns="0" rtlCol="0" anchor="ctr"/>
          <a:lstStyle/>
          <a:p>
            <a:pPr algn="ctr" indent="0" marL="0">
              <a:buNone/>
            </a:pPr>
            <a:r>
              <a:rPr lang="en-US" sz="1300" b="1" dirty="0">
                <a:solidFill>
                  <a:srgbClr val="2B2F77"/>
                </a:solidFill>
                <a:latin typeface="Arial" pitchFamily="34" charset="0"/>
                <a:ea typeface="Arial" pitchFamily="34" charset="-122"/>
                <a:cs typeface="Arial" pitchFamily="34" charset="-120"/>
              </a:rPr>
              <a:t>Input Gateway</a:t>
            </a:r>
            <a:endParaRPr lang="en-US" sz="1300" dirty="0"/>
          </a:p>
        </p:txBody>
      </p:sp>
      <p:sp>
        <p:nvSpPr>
          <p:cNvPr id="22" name="Text 20"/>
          <p:cNvSpPr txBox="1"/>
          <p:nvPr/>
        </p:nvSpPr>
        <p:spPr>
          <a:xfrm>
            <a:off x="3038780" y="3172968"/>
            <a:ext cx="1572768" cy="777240"/>
          </a:xfrm>
          <a:prstGeom prst="rect">
            <a:avLst/>
          </a:prstGeom>
          <a:noFill/>
          <a:ln/>
        </p:spPr>
        <p:txBody>
          <a:bodyPr wrap="square" lIns="0" tIns="0" rIns="0" bIns="0" rtlCol="0" anchor="ctr"/>
          <a:lstStyle/>
          <a:p>
            <a:pPr algn="ctr" indent="0" marL="0">
              <a:lnSpc>
                <a:spcPts val="1500"/>
              </a:lnSpc>
              <a:buNone/>
            </a:pPr>
            <a:r>
              <a:rPr lang="en-US" sz="1000" dirty="0">
                <a:solidFill>
                  <a:srgbClr val="3A3F63"/>
                </a:solidFill>
                <a:latin typeface="Arial" pitchFamily="34" charset="0"/>
                <a:ea typeface="Arial" pitchFamily="34" charset="-122"/>
                <a:cs typeface="Arial" pitchFamily="34" charset="-120"/>
              </a:rPr>
              <a:t>6 つの検査を通し、3 ノードへ分割</a:t>
            </a:r>
            <a:endParaRPr lang="en-US" sz="1000" dirty="0"/>
          </a:p>
        </p:txBody>
      </p:sp>
      <p:sp>
        <p:nvSpPr>
          <p:cNvPr id="23" name="Shape 21"/>
          <p:cNvSpPr/>
          <p:nvPr/>
        </p:nvSpPr>
        <p:spPr>
          <a:xfrm>
            <a:off x="4777626" y="2697480"/>
            <a:ext cx="365760" cy="310896"/>
          </a:xfrm>
          <a:prstGeom prst="rightArrow">
            <a:avLst/>
          </a:prstGeom>
          <a:solidFill>
            <a:srgbClr val="5257AE"/>
          </a:solidFill>
          <a:ln/>
        </p:spPr>
      </p:sp>
      <p:sp>
        <p:nvSpPr>
          <p:cNvPr id="24" name="Shape 22"/>
          <p:cNvSpPr/>
          <p:nvPr/>
        </p:nvSpPr>
        <p:spPr>
          <a:xfrm>
            <a:off x="5181448" y="1783080"/>
            <a:ext cx="1828800" cy="2240280"/>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25" name="Shape 23"/>
          <p:cNvSpPr/>
          <p:nvPr/>
        </p:nvSpPr>
        <p:spPr>
          <a:xfrm>
            <a:off x="5722772" y="2102023"/>
            <a:ext cx="252374" cy="25237"/>
          </a:xfrm>
          <a:prstGeom prst="rect">
            <a:avLst/>
          </a:prstGeom>
          <a:solidFill>
            <a:srgbClr val="2B2F77"/>
          </a:solidFill>
          <a:ln/>
        </p:spPr>
      </p:sp>
      <p:sp>
        <p:nvSpPr>
          <p:cNvPr id="26" name="Shape 24"/>
          <p:cNvSpPr/>
          <p:nvPr/>
        </p:nvSpPr>
        <p:spPr>
          <a:xfrm>
            <a:off x="5836341" y="2110435"/>
            <a:ext cx="25237" cy="151425"/>
          </a:xfrm>
          <a:prstGeom prst="rect">
            <a:avLst/>
          </a:prstGeom>
          <a:solidFill>
            <a:srgbClr val="2B2F77"/>
          </a:solidFill>
          <a:ln/>
        </p:spPr>
      </p:sp>
      <p:sp>
        <p:nvSpPr>
          <p:cNvPr id="27" name="Shape 25"/>
          <p:cNvSpPr/>
          <p:nvPr/>
        </p:nvSpPr>
        <p:spPr>
          <a:xfrm>
            <a:off x="5655473" y="2043135"/>
            <a:ext cx="126187" cy="126187"/>
          </a:xfrm>
          <a:prstGeom prst="ellipse">
            <a:avLst/>
          </a:prstGeom>
          <a:solidFill>
            <a:srgbClr val="2B2F77"/>
          </a:solidFill>
          <a:ln/>
        </p:spPr>
      </p:sp>
      <p:sp>
        <p:nvSpPr>
          <p:cNvPr id="28" name="Shape 26"/>
          <p:cNvSpPr/>
          <p:nvPr/>
        </p:nvSpPr>
        <p:spPr>
          <a:xfrm>
            <a:off x="5916259" y="2043135"/>
            <a:ext cx="126187" cy="126187"/>
          </a:xfrm>
          <a:prstGeom prst="ellipse">
            <a:avLst/>
          </a:prstGeom>
          <a:solidFill>
            <a:srgbClr val="2B2F77"/>
          </a:solidFill>
          <a:ln/>
        </p:spPr>
      </p:sp>
      <p:sp>
        <p:nvSpPr>
          <p:cNvPr id="29" name="Shape 27"/>
          <p:cNvSpPr/>
          <p:nvPr/>
        </p:nvSpPr>
        <p:spPr>
          <a:xfrm>
            <a:off x="5785866" y="2245035"/>
            <a:ext cx="126187" cy="126187"/>
          </a:xfrm>
          <a:prstGeom prst="ellipse">
            <a:avLst/>
          </a:prstGeom>
          <a:solidFill>
            <a:srgbClr val="00875F"/>
          </a:solidFill>
          <a:ln/>
        </p:spPr>
      </p:sp>
      <p:sp>
        <p:nvSpPr>
          <p:cNvPr id="30" name="Shape 28"/>
          <p:cNvSpPr/>
          <p:nvPr/>
        </p:nvSpPr>
        <p:spPr>
          <a:xfrm>
            <a:off x="6169000" y="2002536"/>
            <a:ext cx="384048" cy="384048"/>
          </a:xfrm>
          <a:prstGeom prst="ellipse">
            <a:avLst/>
          </a:prstGeom>
          <a:solidFill>
            <a:srgbClr val="2B2F77"/>
          </a:solidFill>
          <a:ln/>
        </p:spPr>
      </p:sp>
      <p:sp>
        <p:nvSpPr>
          <p:cNvPr id="31" name="Text 29"/>
          <p:cNvSpPr txBox="1"/>
          <p:nvPr/>
        </p:nvSpPr>
        <p:spPr>
          <a:xfrm>
            <a:off x="6169000"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2" name="Text 30"/>
          <p:cNvSpPr txBox="1"/>
          <p:nvPr/>
        </p:nvSpPr>
        <p:spPr>
          <a:xfrm>
            <a:off x="5309464" y="2569464"/>
            <a:ext cx="1572768" cy="566928"/>
          </a:xfrm>
          <a:prstGeom prst="rect">
            <a:avLst/>
          </a:prstGeom>
          <a:noFill/>
          <a:ln/>
        </p:spPr>
        <p:txBody>
          <a:bodyPr wrap="square" lIns="0" tIns="0" rIns="0" bIns="0" rtlCol="0" anchor="ctr"/>
          <a:lstStyle/>
          <a:p>
            <a:pPr algn="ctr" indent="0" marL="0">
              <a:buNone/>
            </a:pPr>
            <a:r>
              <a:rPr lang="en-US" sz="1300" b="1" dirty="0">
                <a:solidFill>
                  <a:srgbClr val="2B2F77"/>
                </a:solidFill>
                <a:latin typeface="Arial" pitchFamily="34" charset="0"/>
                <a:ea typeface="Arial" pitchFamily="34" charset="-122"/>
                <a:cs typeface="Arial" pitchFamily="34" charset="-120"/>
              </a:rPr>
              <a:t>Reputation Committee</a:t>
            </a:r>
            <a:endParaRPr lang="en-US" sz="1300" dirty="0"/>
          </a:p>
        </p:txBody>
      </p:sp>
      <p:sp>
        <p:nvSpPr>
          <p:cNvPr id="33" name="Text 31"/>
          <p:cNvSpPr txBox="1"/>
          <p:nvPr/>
        </p:nvSpPr>
        <p:spPr>
          <a:xfrm>
            <a:off x="5309464" y="3172968"/>
            <a:ext cx="1572768" cy="777240"/>
          </a:xfrm>
          <a:prstGeom prst="rect">
            <a:avLst/>
          </a:prstGeom>
          <a:noFill/>
          <a:ln/>
        </p:spPr>
        <p:txBody>
          <a:bodyPr wrap="square" lIns="0" tIns="0" rIns="0" bIns="0" rtlCol="0" anchor="ctr"/>
          <a:lstStyle/>
          <a:p>
            <a:pPr algn="ctr" indent="0" marL="0">
              <a:lnSpc>
                <a:spcPts val="1500"/>
              </a:lnSpc>
              <a:buNone/>
            </a:pPr>
            <a:r>
              <a:rPr lang="en-US" sz="1000" dirty="0">
                <a:solidFill>
                  <a:srgbClr val="3A3F63"/>
                </a:solidFill>
                <a:latin typeface="Arial" pitchFamily="34" charset="0"/>
                <a:ea typeface="Arial" pitchFamily="34" charset="-122"/>
                <a:cs typeface="Arial" pitchFamily="34" charset="-120"/>
              </a:rPr>
              <a:t>部分和から証明書を作り、2-of-3 で署名</a:t>
            </a:r>
            <a:endParaRPr lang="en-US" sz="1000" dirty="0"/>
          </a:p>
        </p:txBody>
      </p:sp>
      <p:sp>
        <p:nvSpPr>
          <p:cNvPr id="34" name="Shape 32"/>
          <p:cNvSpPr/>
          <p:nvPr/>
        </p:nvSpPr>
        <p:spPr>
          <a:xfrm>
            <a:off x="7048310" y="2697480"/>
            <a:ext cx="365760" cy="310896"/>
          </a:xfrm>
          <a:prstGeom prst="rightArrow">
            <a:avLst/>
          </a:prstGeom>
          <a:solidFill>
            <a:srgbClr val="5257AE"/>
          </a:solidFill>
          <a:ln/>
        </p:spPr>
      </p:sp>
      <p:sp>
        <p:nvSpPr>
          <p:cNvPr id="35" name="Shape 33"/>
          <p:cNvSpPr/>
          <p:nvPr/>
        </p:nvSpPr>
        <p:spPr>
          <a:xfrm>
            <a:off x="7452131" y="1783080"/>
            <a:ext cx="1828800" cy="2240280"/>
          </a:xfrm>
          <a:prstGeom prst="roundRect">
            <a:avLst>
              <a:gd name="adj" fmla="val 4000"/>
            </a:avLst>
          </a:prstGeom>
          <a:solidFill>
            <a:srgbClr val="2B2F77"/>
          </a:solidFill>
          <a:ln/>
          <a:effectLst>
            <a:outerShdw sx="100000" sy="100000" kx="0" ky="0" algn="bl" rotWithShape="0" blurRad="127000" dist="19050" dir="5400000">
              <a:srgbClr val="2B2F77">
                <a:alpha val="12000"/>
              </a:srgbClr>
            </a:outerShdw>
          </a:effectLst>
        </p:spPr>
      </p:sp>
      <p:sp>
        <p:nvSpPr>
          <p:cNvPr id="36" name="Shape 34"/>
          <p:cNvSpPr/>
          <p:nvPr/>
        </p:nvSpPr>
        <p:spPr>
          <a:xfrm>
            <a:off x="8086725" y="2002536"/>
            <a:ext cx="47732" cy="47732"/>
          </a:xfrm>
          <a:prstGeom prst="ellipse">
            <a:avLst/>
          </a:prstGeom>
          <a:solidFill>
            <a:srgbClr val="00875F"/>
          </a:solidFill>
          <a:ln/>
        </p:spPr>
      </p:sp>
      <p:sp>
        <p:nvSpPr>
          <p:cNvPr id="37" name="Shape 35"/>
          <p:cNvSpPr/>
          <p:nvPr/>
        </p:nvSpPr>
        <p:spPr>
          <a:xfrm>
            <a:off x="8103961" y="2042312"/>
            <a:ext cx="13259" cy="53035"/>
          </a:xfrm>
          <a:prstGeom prst="rect">
            <a:avLst/>
          </a:prstGeom>
          <a:solidFill>
            <a:srgbClr val="FFFFFF"/>
          </a:solidFill>
          <a:ln/>
        </p:spPr>
      </p:sp>
      <p:sp>
        <p:nvSpPr>
          <p:cNvPr id="38" name="Shape 36"/>
          <p:cNvSpPr/>
          <p:nvPr/>
        </p:nvSpPr>
        <p:spPr>
          <a:xfrm>
            <a:off x="7932923" y="2156338"/>
            <a:ext cx="29169" cy="68946"/>
          </a:xfrm>
          <a:prstGeom prst="roundRect">
            <a:avLst>
              <a:gd name="adj" fmla="val 94045"/>
            </a:avLst>
          </a:prstGeom>
          <a:solidFill>
            <a:srgbClr val="DFE1F1"/>
          </a:solidFill>
          <a:ln/>
        </p:spPr>
      </p:sp>
      <p:sp>
        <p:nvSpPr>
          <p:cNvPr id="39" name="Shape 37"/>
          <p:cNvSpPr/>
          <p:nvPr/>
        </p:nvSpPr>
        <p:spPr>
          <a:xfrm>
            <a:off x="8256438" y="2156338"/>
            <a:ext cx="29169" cy="68946"/>
          </a:xfrm>
          <a:prstGeom prst="roundRect">
            <a:avLst>
              <a:gd name="adj" fmla="val 94045"/>
            </a:avLst>
          </a:prstGeom>
          <a:solidFill>
            <a:srgbClr val="DFE1F1"/>
          </a:solidFill>
          <a:ln/>
        </p:spPr>
      </p:sp>
      <p:sp>
        <p:nvSpPr>
          <p:cNvPr id="40" name="Shape 38"/>
          <p:cNvSpPr/>
          <p:nvPr/>
        </p:nvSpPr>
        <p:spPr>
          <a:xfrm>
            <a:off x="7959441" y="2090044"/>
            <a:ext cx="296997" cy="233355"/>
          </a:xfrm>
          <a:prstGeom prst="roundRect">
            <a:avLst>
              <a:gd name="adj" fmla="val 15909"/>
            </a:avLst>
          </a:prstGeom>
          <a:solidFill>
            <a:srgbClr val="FFFFFF"/>
          </a:solidFill>
          <a:ln/>
        </p:spPr>
      </p:sp>
      <p:sp>
        <p:nvSpPr>
          <p:cNvPr id="41" name="Shape 39"/>
          <p:cNvSpPr/>
          <p:nvPr/>
        </p:nvSpPr>
        <p:spPr>
          <a:xfrm>
            <a:off x="8028386" y="2153686"/>
            <a:ext cx="45080" cy="45080"/>
          </a:xfrm>
          <a:prstGeom prst="ellipse">
            <a:avLst/>
          </a:prstGeom>
          <a:solidFill>
            <a:srgbClr val="00875F"/>
          </a:solidFill>
          <a:ln/>
        </p:spPr>
      </p:sp>
      <p:sp>
        <p:nvSpPr>
          <p:cNvPr id="42" name="Shape 40"/>
          <p:cNvSpPr/>
          <p:nvPr/>
        </p:nvSpPr>
        <p:spPr>
          <a:xfrm>
            <a:off x="8142412" y="2153686"/>
            <a:ext cx="45080" cy="45080"/>
          </a:xfrm>
          <a:prstGeom prst="ellipse">
            <a:avLst/>
          </a:prstGeom>
          <a:solidFill>
            <a:srgbClr val="00875F"/>
          </a:solidFill>
          <a:ln/>
        </p:spPr>
      </p:sp>
      <p:sp>
        <p:nvSpPr>
          <p:cNvPr id="43" name="Shape 41"/>
          <p:cNvSpPr/>
          <p:nvPr/>
        </p:nvSpPr>
        <p:spPr>
          <a:xfrm>
            <a:off x="8060207" y="2246498"/>
            <a:ext cx="95463" cy="26518"/>
          </a:xfrm>
          <a:prstGeom prst="roundRect">
            <a:avLst>
              <a:gd name="adj" fmla="val 30000"/>
            </a:avLst>
          </a:prstGeom>
          <a:solidFill>
            <a:srgbClr val="2B2F77"/>
          </a:solidFill>
          <a:ln/>
        </p:spPr>
      </p:sp>
      <p:sp>
        <p:nvSpPr>
          <p:cNvPr id="44" name="Shape 42"/>
          <p:cNvSpPr/>
          <p:nvPr/>
        </p:nvSpPr>
        <p:spPr>
          <a:xfrm>
            <a:off x="8092029" y="2323399"/>
            <a:ext cx="31821" cy="26518"/>
          </a:xfrm>
          <a:prstGeom prst="rect">
            <a:avLst/>
          </a:prstGeom>
          <a:solidFill>
            <a:srgbClr val="DFE1F1"/>
          </a:solidFill>
          <a:ln/>
        </p:spPr>
      </p:sp>
      <p:sp>
        <p:nvSpPr>
          <p:cNvPr id="45" name="Shape 43"/>
          <p:cNvSpPr/>
          <p:nvPr/>
        </p:nvSpPr>
        <p:spPr>
          <a:xfrm>
            <a:off x="8007172" y="2347265"/>
            <a:ext cx="201534" cy="100767"/>
          </a:xfrm>
          <a:prstGeom prst="roundRect">
            <a:avLst>
              <a:gd name="adj" fmla="val 26316"/>
            </a:avLst>
          </a:prstGeom>
          <a:solidFill>
            <a:srgbClr val="DFE1F1"/>
          </a:solidFill>
          <a:ln/>
        </p:spPr>
      </p:sp>
      <p:sp>
        <p:nvSpPr>
          <p:cNvPr id="46" name="Shape 44"/>
          <p:cNvSpPr/>
          <p:nvPr/>
        </p:nvSpPr>
        <p:spPr>
          <a:xfrm>
            <a:off x="8439683" y="2002536"/>
            <a:ext cx="384048" cy="384048"/>
          </a:xfrm>
          <a:prstGeom prst="ellipse">
            <a:avLst/>
          </a:prstGeom>
          <a:solidFill>
            <a:srgbClr val="FFFFFF"/>
          </a:solidFill>
          <a:ln/>
        </p:spPr>
      </p:sp>
      <p:sp>
        <p:nvSpPr>
          <p:cNvPr id="47" name="Text 45"/>
          <p:cNvSpPr txBox="1"/>
          <p:nvPr/>
        </p:nvSpPr>
        <p:spPr>
          <a:xfrm>
            <a:off x="8439683" y="2002536"/>
            <a:ext cx="384048" cy="384048"/>
          </a:xfrm>
          <a:prstGeom prst="rect">
            <a:avLst/>
          </a:prstGeom>
          <a:noFill/>
          <a:ln/>
        </p:spPr>
        <p:txBody>
          <a:bodyPr wrap="square" lIns="0" tIns="0" rIns="0" bIns="0" rtlCol="0" anchor="ctr"/>
          <a:lstStyle/>
          <a:p>
            <a:pPr algn="ctr" indent="0" marL="0">
              <a:buNone/>
            </a:pPr>
            <a:r>
              <a:rPr lang="en-US" sz="1400" b="1" dirty="0">
                <a:solidFill>
                  <a:srgbClr val="2B2F77"/>
                </a:solidFill>
                <a:latin typeface="Arial" pitchFamily="34" charset="0"/>
                <a:ea typeface="Arial" pitchFamily="34" charset="-122"/>
                <a:cs typeface="Arial" pitchFamily="34" charset="-120"/>
              </a:rPr>
              <a:t>4</a:t>
            </a:r>
            <a:endParaRPr lang="en-US" sz="1400" dirty="0"/>
          </a:p>
        </p:txBody>
      </p:sp>
      <p:sp>
        <p:nvSpPr>
          <p:cNvPr id="48" name="Text 46"/>
          <p:cNvSpPr txBox="1"/>
          <p:nvPr/>
        </p:nvSpPr>
        <p:spPr>
          <a:xfrm>
            <a:off x="7580147" y="2569464"/>
            <a:ext cx="157276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Agent</a:t>
            </a:r>
            <a:endParaRPr lang="en-US" sz="1300" dirty="0"/>
          </a:p>
        </p:txBody>
      </p:sp>
      <p:sp>
        <p:nvSpPr>
          <p:cNvPr id="49" name="Text 47"/>
          <p:cNvSpPr txBox="1"/>
          <p:nvPr/>
        </p:nvSpPr>
        <p:spPr>
          <a:xfrm>
            <a:off x="7580147" y="3172968"/>
            <a:ext cx="1572768" cy="777240"/>
          </a:xfrm>
          <a:prstGeom prst="rect">
            <a:avLst/>
          </a:prstGeom>
          <a:noFill/>
          <a:ln/>
        </p:spPr>
        <p:txBody>
          <a:bodyPr wrap="square" lIns="0" tIns="0" rIns="0" bIns="0" rtlCol="0" anchor="ctr"/>
          <a:lstStyle/>
          <a:p>
            <a:pPr algn="ctr" indent="0" marL="0">
              <a:lnSpc>
                <a:spcPts val="1500"/>
              </a:lnSpc>
              <a:buNone/>
            </a:pPr>
            <a:r>
              <a:rPr lang="en-US" sz="1000" dirty="0">
                <a:solidFill>
                  <a:srgbClr val="DFE1F1"/>
                </a:solidFill>
                <a:latin typeface="Arial" pitchFamily="34" charset="0"/>
                <a:ea typeface="Arial" pitchFamily="34" charset="-122"/>
                <a:cs typeface="Arial" pitchFamily="34" charset="-120"/>
              </a:rPr>
              <a:t>秘密と Manifest を持ち、証明を作る</a:t>
            </a:r>
            <a:endParaRPr lang="en-US" sz="1000" dirty="0"/>
          </a:p>
        </p:txBody>
      </p:sp>
      <p:sp>
        <p:nvSpPr>
          <p:cNvPr id="50" name="Shape 48"/>
          <p:cNvSpPr/>
          <p:nvPr/>
        </p:nvSpPr>
        <p:spPr>
          <a:xfrm>
            <a:off x="9318993" y="2697480"/>
            <a:ext cx="365760" cy="310896"/>
          </a:xfrm>
          <a:prstGeom prst="rightArrow">
            <a:avLst/>
          </a:prstGeom>
          <a:solidFill>
            <a:srgbClr val="00875F"/>
          </a:solidFill>
          <a:ln/>
        </p:spPr>
      </p:sp>
      <p:sp>
        <p:nvSpPr>
          <p:cNvPr id="51" name="Shape 49"/>
          <p:cNvSpPr/>
          <p:nvPr/>
        </p:nvSpPr>
        <p:spPr>
          <a:xfrm>
            <a:off x="9722815" y="1783080"/>
            <a:ext cx="1828800" cy="2240280"/>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52" name="Shape 50"/>
          <p:cNvSpPr/>
          <p:nvPr/>
        </p:nvSpPr>
        <p:spPr>
          <a:xfrm>
            <a:off x="10213665" y="2026310"/>
            <a:ext cx="353324" cy="344912"/>
          </a:xfrm>
          <a:prstGeom prst="roundRect">
            <a:avLst>
              <a:gd name="adj" fmla="val 6098"/>
            </a:avLst>
          </a:prstGeom>
          <a:solidFill>
            <a:srgbClr val="2B2F77"/>
          </a:solidFill>
          <a:ln/>
        </p:spPr>
      </p:sp>
      <p:sp>
        <p:nvSpPr>
          <p:cNvPr id="53" name="Shape 51"/>
          <p:cNvSpPr/>
          <p:nvPr/>
        </p:nvSpPr>
        <p:spPr>
          <a:xfrm>
            <a:off x="10272552" y="2093610"/>
            <a:ext cx="75712" cy="58887"/>
          </a:xfrm>
          <a:prstGeom prst="rect">
            <a:avLst/>
          </a:prstGeom>
          <a:solidFill>
            <a:srgbClr val="EDEEF7"/>
          </a:solidFill>
          <a:ln/>
        </p:spPr>
      </p:sp>
      <p:sp>
        <p:nvSpPr>
          <p:cNvPr id="54" name="Shape 52"/>
          <p:cNvSpPr/>
          <p:nvPr/>
        </p:nvSpPr>
        <p:spPr>
          <a:xfrm>
            <a:off x="10415565" y="2093610"/>
            <a:ext cx="75712" cy="58887"/>
          </a:xfrm>
          <a:prstGeom prst="rect">
            <a:avLst/>
          </a:prstGeom>
          <a:solidFill>
            <a:srgbClr val="EDEEF7"/>
          </a:solidFill>
          <a:ln/>
        </p:spPr>
      </p:sp>
      <p:sp>
        <p:nvSpPr>
          <p:cNvPr id="55" name="Shape 53"/>
          <p:cNvSpPr/>
          <p:nvPr/>
        </p:nvSpPr>
        <p:spPr>
          <a:xfrm>
            <a:off x="10272552" y="2186148"/>
            <a:ext cx="75712" cy="58887"/>
          </a:xfrm>
          <a:prstGeom prst="rect">
            <a:avLst/>
          </a:prstGeom>
          <a:solidFill>
            <a:srgbClr val="EDEEF7"/>
          </a:solidFill>
          <a:ln/>
        </p:spPr>
      </p:sp>
      <p:sp>
        <p:nvSpPr>
          <p:cNvPr id="56" name="Shape 54"/>
          <p:cNvSpPr/>
          <p:nvPr/>
        </p:nvSpPr>
        <p:spPr>
          <a:xfrm>
            <a:off x="10415565" y="2186148"/>
            <a:ext cx="75712" cy="58887"/>
          </a:xfrm>
          <a:prstGeom prst="rect">
            <a:avLst/>
          </a:prstGeom>
          <a:solidFill>
            <a:srgbClr val="EDEEF7"/>
          </a:solidFill>
          <a:ln/>
        </p:spPr>
      </p:sp>
      <p:sp>
        <p:nvSpPr>
          <p:cNvPr id="57" name="Shape 55"/>
          <p:cNvSpPr/>
          <p:nvPr/>
        </p:nvSpPr>
        <p:spPr>
          <a:xfrm>
            <a:off x="10344059" y="2287097"/>
            <a:ext cx="75712" cy="84125"/>
          </a:xfrm>
          <a:prstGeom prst="rect">
            <a:avLst/>
          </a:prstGeom>
          <a:solidFill>
            <a:srgbClr val="EDEEF7"/>
          </a:solidFill>
          <a:ln/>
        </p:spPr>
      </p:sp>
      <p:sp>
        <p:nvSpPr>
          <p:cNvPr id="58" name="Shape 56"/>
          <p:cNvSpPr/>
          <p:nvPr/>
        </p:nvSpPr>
        <p:spPr>
          <a:xfrm>
            <a:off x="10710367" y="2002536"/>
            <a:ext cx="384048" cy="384048"/>
          </a:xfrm>
          <a:prstGeom prst="ellipse">
            <a:avLst/>
          </a:prstGeom>
          <a:solidFill>
            <a:srgbClr val="2B2F77"/>
          </a:solidFill>
          <a:ln/>
        </p:spPr>
      </p:sp>
      <p:sp>
        <p:nvSpPr>
          <p:cNvPr id="59" name="Text 57"/>
          <p:cNvSpPr txBox="1"/>
          <p:nvPr/>
        </p:nvSpPr>
        <p:spPr>
          <a:xfrm>
            <a:off x="10710367" y="20025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60" name="Text 58"/>
          <p:cNvSpPr txBox="1"/>
          <p:nvPr/>
        </p:nvSpPr>
        <p:spPr>
          <a:xfrm>
            <a:off x="9850831" y="2569464"/>
            <a:ext cx="1572768" cy="566928"/>
          </a:xfrm>
          <a:prstGeom prst="rect">
            <a:avLst/>
          </a:prstGeom>
          <a:noFill/>
          <a:ln/>
        </p:spPr>
        <p:txBody>
          <a:bodyPr wrap="square" lIns="0" tIns="0" rIns="0" bIns="0" rtlCol="0" anchor="ctr"/>
          <a:lstStyle/>
          <a:p>
            <a:pPr algn="ctr" indent="0" marL="0">
              <a:buNone/>
            </a:pPr>
            <a:r>
              <a:rPr lang="en-US" sz="1300" b="1" dirty="0">
                <a:solidFill>
                  <a:srgbClr val="2B2F77"/>
                </a:solidFill>
                <a:latin typeface="Arial" pitchFamily="34" charset="0"/>
                <a:ea typeface="Arial" pitchFamily="34" charset="-122"/>
                <a:cs typeface="Arial" pitchFamily="34" charset="-120"/>
              </a:rPr>
              <a:t>Service（検証者）</a:t>
            </a:r>
            <a:endParaRPr lang="en-US" sz="1300" dirty="0"/>
          </a:p>
        </p:txBody>
      </p:sp>
      <p:sp>
        <p:nvSpPr>
          <p:cNvPr id="61" name="Text 59"/>
          <p:cNvSpPr txBox="1"/>
          <p:nvPr/>
        </p:nvSpPr>
        <p:spPr>
          <a:xfrm>
            <a:off x="9850831" y="3172968"/>
            <a:ext cx="1572768" cy="777240"/>
          </a:xfrm>
          <a:prstGeom prst="rect">
            <a:avLst/>
          </a:prstGeom>
          <a:noFill/>
          <a:ln/>
        </p:spPr>
        <p:txBody>
          <a:bodyPr wrap="square" lIns="0" tIns="0" rIns="0" bIns="0" rtlCol="0" anchor="ctr"/>
          <a:lstStyle/>
          <a:p>
            <a:pPr algn="ctr" indent="0" marL="0">
              <a:lnSpc>
                <a:spcPts val="1500"/>
              </a:lnSpc>
              <a:buNone/>
            </a:pPr>
            <a:r>
              <a:rPr lang="en-US" sz="1000" dirty="0">
                <a:solidFill>
                  <a:srgbClr val="3A3F63"/>
                </a:solidFill>
                <a:latin typeface="Arial" pitchFamily="34" charset="0"/>
                <a:ea typeface="Arial" pitchFamily="34" charset="-122"/>
                <a:cs typeface="Arial" pitchFamily="34" charset="-120"/>
              </a:rPr>
              <a:t>予約サービス。Policy と nonce を出す</a:t>
            </a:r>
            <a:endParaRPr lang="en-US" sz="1000" dirty="0"/>
          </a:p>
        </p:txBody>
      </p:sp>
      <p:sp>
        <p:nvSpPr>
          <p:cNvPr id="62" name="Text 60"/>
          <p:cNvSpPr txBox="1"/>
          <p:nvPr/>
        </p:nvSpPr>
        <p:spPr>
          <a:xfrm>
            <a:off x="640080" y="4078224"/>
            <a:ext cx="10911535" cy="274320"/>
          </a:xfrm>
          <a:prstGeom prst="rect">
            <a:avLst/>
          </a:prstGeom>
          <a:noFill/>
          <a:ln/>
        </p:spPr>
        <p:txBody>
          <a:bodyPr wrap="square" lIns="0" tIns="0" rIns="0" bIns="0" rtlCol="0" anchor="ctr"/>
          <a:lstStyle/>
          <a:p>
            <a:pPr indent="0" marL="0">
              <a:buNone/>
            </a:pPr>
            <a:r>
              <a:rPr lang="en-US" sz="1050" dirty="0">
                <a:solidFill>
                  <a:srgbClr val="6A6F93"/>
                </a:solidFill>
                <a:latin typeface="Arial" pitchFamily="34" charset="0"/>
                <a:ea typeface="Arial" pitchFamily="34" charset="-122"/>
                <a:cs typeface="Arial" pitchFamily="34" charset="-120"/>
              </a:rPr>
              <a:t>取引先の 3 社はデモの都合。Committee の 3 ノードは回路の固定値。</a:t>
            </a:r>
            <a:endParaRPr lang="en-US" sz="1050" dirty="0"/>
          </a:p>
        </p:txBody>
      </p:sp>
      <p:sp>
        <p:nvSpPr>
          <p:cNvPr id="63" name="Shape 61"/>
          <p:cNvSpPr/>
          <p:nvPr/>
        </p:nvSpPr>
        <p:spPr>
          <a:xfrm>
            <a:off x="640080" y="4443984"/>
            <a:ext cx="10911535" cy="713232"/>
          </a:xfrm>
          <a:prstGeom prst="roundRect">
            <a:avLst>
              <a:gd name="adj" fmla="val 10256"/>
            </a:avLst>
          </a:prstGeom>
          <a:solidFill>
            <a:srgbClr val="E2F3EC"/>
          </a:solidFill>
          <a:ln/>
        </p:spPr>
      </p:sp>
      <p:sp>
        <p:nvSpPr>
          <p:cNvPr id="64" name="Text 62"/>
          <p:cNvSpPr txBox="1"/>
          <p:nvPr/>
        </p:nvSpPr>
        <p:spPr>
          <a:xfrm>
            <a:off x="960120" y="4443984"/>
            <a:ext cx="10271455" cy="713232"/>
          </a:xfrm>
          <a:prstGeom prst="rect">
            <a:avLst/>
          </a:prstGeom>
          <a:noFill/>
          <a:ln/>
        </p:spPr>
        <p:txBody>
          <a:bodyPr wrap="square" lIns="0" tIns="0" rIns="0" bIns="0" rtlCol="0" anchor="ctr"/>
          <a:lstStyle/>
          <a:p>
            <a:pPr indent="0" marL="0">
              <a:buNone/>
            </a:pPr>
            <a:r>
              <a:rPr lang="en-US" sz="1500" b="1" dirty="0">
                <a:solidFill>
                  <a:srgbClr val="00875F"/>
                </a:solidFill>
                <a:latin typeface="Arial" pitchFamily="34" charset="0"/>
                <a:ea typeface="Arial" pitchFamily="34" charset="-122"/>
                <a:cs typeface="Arial" pitchFamily="34" charset="-120"/>
              </a:rPr>
              <a:t>証明書は Agent で止まる。4 → 5 が運ぶのは、証明と公開入力 20 個だけ。</a:t>
            </a:r>
            <a:endParaRPr lang="en-US" sz="1500" dirty="0"/>
          </a:p>
        </p:txBody>
      </p:sp>
      <p:sp>
        <p:nvSpPr>
          <p:cNvPr id="65" name="Shape 63"/>
          <p:cNvSpPr/>
          <p:nvPr/>
        </p:nvSpPr>
        <p:spPr>
          <a:xfrm>
            <a:off x="640080" y="5303520"/>
            <a:ext cx="10911535" cy="731520"/>
          </a:xfrm>
          <a:prstGeom prst="roundRect">
            <a:avLst>
              <a:gd name="adj" fmla="val 10000"/>
            </a:avLst>
          </a:prstGeom>
          <a:solidFill>
            <a:srgbClr val="EDEEF7"/>
          </a:solidFill>
          <a:ln/>
        </p:spPr>
      </p:sp>
      <p:sp>
        <p:nvSpPr>
          <p:cNvPr id="66" name="Text 64"/>
          <p:cNvSpPr txBox="1"/>
          <p:nvPr/>
        </p:nvSpPr>
        <p:spPr>
          <a:xfrm>
            <a:off x="960120" y="5303520"/>
            <a:ext cx="10271455" cy="731520"/>
          </a:xfrm>
          <a:prstGeom prst="rect">
            <a:avLst/>
          </a:prstGeom>
          <a:noFill/>
          <a:ln/>
        </p:spPr>
        <p:txBody>
          <a:bodyPr wrap="square" lIns="0" tIns="0" rIns="0" bIns="0" rtlCol="0" anchor="ctr"/>
          <a:lstStyle/>
          <a:p>
            <a:pPr indent="0" marL="0">
              <a:buNone/>
            </a:pPr>
            <a:r>
              <a:rPr lang="en-US" sz="1150" dirty="0">
                <a:solidFill>
                  <a:srgbClr val="3A3F63"/>
                </a:solidFill>
                <a:latin typeface="Arial" pitchFamily="34" charset="0"/>
                <a:ea typeface="Arial" pitchFamily="34" charset="-122"/>
                <a:cs typeface="Arial" pitchFamily="34" charset="-120"/>
              </a:rPr>
              <a:t>Go 1.25（外部サービス不要）　·　Groth16 / BN254（gnark）　·　Poseidon2　·　Committee 署名は回路内で検証　·　集計は加算的秘密分散</a:t>
            </a:r>
            <a:endParaRPr lang="en-US" sz="1150" dirty="0"/>
          </a:p>
        </p:txBody>
      </p:sp>
      <p:sp>
        <p:nvSpPr>
          <p:cNvPr id="67" name="Text 65"/>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07 ─ 独自点</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実績は名前ではなく、この 4 項目に付く</a:t>
            </a:r>
            <a:endParaRPr lang="en-US" sz="2900" dirty="0"/>
          </a:p>
        </p:txBody>
      </p:sp>
      <p:sp>
        <p:nvSpPr>
          <p:cNvPr id="4" name="Shape 2"/>
          <p:cNvSpPr/>
          <p:nvPr/>
        </p:nvSpPr>
        <p:spPr>
          <a:xfrm>
            <a:off x="640080" y="1783080"/>
            <a:ext cx="5669280" cy="3200400"/>
          </a:xfrm>
          <a:prstGeom prst="roundRect">
            <a:avLst>
              <a:gd name="adj" fmla="val 1714"/>
            </a:avLst>
          </a:prstGeom>
          <a:solidFill>
            <a:srgbClr val="F8F9FD"/>
          </a:solidFill>
          <a:ln w="28575">
            <a:solidFill>
              <a:srgbClr val="2B2F77"/>
            </a:solidFill>
            <a:prstDash val="solid"/>
          </a:ln>
          <a:effectLst>
            <a:outerShdw sx="100000" sy="100000" kx="0" ky="0" algn="bl" rotWithShape="0" blurRad="127000" dist="19050" dir="5400000">
              <a:srgbClr val="2B2F77">
                <a:alpha val="12000"/>
              </a:srgbClr>
            </a:outerShdw>
          </a:effectLst>
        </p:spPr>
      </p:sp>
      <p:sp>
        <p:nvSpPr>
          <p:cNvPr id="5" name="Shape 3"/>
          <p:cNvSpPr/>
          <p:nvPr/>
        </p:nvSpPr>
        <p:spPr>
          <a:xfrm>
            <a:off x="1089965" y="1911096"/>
            <a:ext cx="52669" cy="52669"/>
          </a:xfrm>
          <a:prstGeom prst="ellipse">
            <a:avLst/>
          </a:prstGeom>
          <a:solidFill>
            <a:srgbClr val="00875F"/>
          </a:solidFill>
          <a:ln/>
        </p:spPr>
      </p:sp>
      <p:sp>
        <p:nvSpPr>
          <p:cNvPr id="6" name="Shape 4"/>
          <p:cNvSpPr/>
          <p:nvPr/>
        </p:nvSpPr>
        <p:spPr>
          <a:xfrm>
            <a:off x="1108984" y="1954987"/>
            <a:ext cx="14630" cy="58522"/>
          </a:xfrm>
          <a:prstGeom prst="rect">
            <a:avLst/>
          </a:prstGeom>
          <a:solidFill>
            <a:srgbClr val="2B2F77"/>
          </a:solidFill>
          <a:ln/>
        </p:spPr>
      </p:sp>
      <p:sp>
        <p:nvSpPr>
          <p:cNvPr id="7" name="Shape 5"/>
          <p:cNvSpPr/>
          <p:nvPr/>
        </p:nvSpPr>
        <p:spPr>
          <a:xfrm>
            <a:off x="920252" y="2080809"/>
            <a:ext cx="32187" cy="76078"/>
          </a:xfrm>
          <a:prstGeom prst="roundRect">
            <a:avLst>
              <a:gd name="adj" fmla="val 85227"/>
            </a:avLst>
          </a:prstGeom>
          <a:solidFill>
            <a:srgbClr val="5257AE"/>
          </a:solidFill>
          <a:ln/>
        </p:spPr>
      </p:sp>
      <p:sp>
        <p:nvSpPr>
          <p:cNvPr id="8" name="Shape 6"/>
          <p:cNvSpPr/>
          <p:nvPr/>
        </p:nvSpPr>
        <p:spPr>
          <a:xfrm>
            <a:off x="1277234" y="2080809"/>
            <a:ext cx="32187" cy="76078"/>
          </a:xfrm>
          <a:prstGeom prst="roundRect">
            <a:avLst>
              <a:gd name="adj" fmla="val 85227"/>
            </a:avLst>
          </a:prstGeom>
          <a:solidFill>
            <a:srgbClr val="5257AE"/>
          </a:solidFill>
          <a:ln/>
        </p:spPr>
      </p:sp>
      <p:sp>
        <p:nvSpPr>
          <p:cNvPr id="9" name="Shape 7"/>
          <p:cNvSpPr/>
          <p:nvPr/>
        </p:nvSpPr>
        <p:spPr>
          <a:xfrm>
            <a:off x="949513" y="2007657"/>
            <a:ext cx="327721" cy="257495"/>
          </a:xfrm>
          <a:prstGeom prst="roundRect">
            <a:avLst>
              <a:gd name="adj" fmla="val 15909"/>
            </a:avLst>
          </a:prstGeom>
          <a:solidFill>
            <a:srgbClr val="2B2F77"/>
          </a:solidFill>
          <a:ln/>
        </p:spPr>
      </p:sp>
      <p:sp>
        <p:nvSpPr>
          <p:cNvPr id="10" name="Shape 8"/>
          <p:cNvSpPr/>
          <p:nvPr/>
        </p:nvSpPr>
        <p:spPr>
          <a:xfrm>
            <a:off x="1025591" y="2077883"/>
            <a:ext cx="49743" cy="49743"/>
          </a:xfrm>
          <a:prstGeom prst="ellipse">
            <a:avLst/>
          </a:prstGeom>
          <a:solidFill>
            <a:srgbClr val="00875F"/>
          </a:solidFill>
          <a:ln/>
        </p:spPr>
      </p:sp>
      <p:sp>
        <p:nvSpPr>
          <p:cNvPr id="11" name="Shape 9"/>
          <p:cNvSpPr/>
          <p:nvPr/>
        </p:nvSpPr>
        <p:spPr>
          <a:xfrm>
            <a:off x="1151412" y="2077883"/>
            <a:ext cx="49743" cy="49743"/>
          </a:xfrm>
          <a:prstGeom prst="ellipse">
            <a:avLst/>
          </a:prstGeom>
          <a:solidFill>
            <a:srgbClr val="00875F"/>
          </a:solidFill>
          <a:ln/>
        </p:spPr>
      </p:sp>
      <p:sp>
        <p:nvSpPr>
          <p:cNvPr id="12" name="Shape 10"/>
          <p:cNvSpPr/>
          <p:nvPr/>
        </p:nvSpPr>
        <p:spPr>
          <a:xfrm>
            <a:off x="1060704" y="2180295"/>
            <a:ext cx="105339" cy="29261"/>
          </a:xfrm>
          <a:prstGeom prst="roundRect">
            <a:avLst>
              <a:gd name="adj" fmla="val 30000"/>
            </a:avLst>
          </a:prstGeom>
          <a:solidFill>
            <a:srgbClr val="DFE1F1"/>
          </a:solidFill>
          <a:ln/>
        </p:spPr>
      </p:sp>
      <p:sp>
        <p:nvSpPr>
          <p:cNvPr id="13" name="Shape 11"/>
          <p:cNvSpPr/>
          <p:nvPr/>
        </p:nvSpPr>
        <p:spPr>
          <a:xfrm>
            <a:off x="1095817" y="2265152"/>
            <a:ext cx="35113" cy="29261"/>
          </a:xfrm>
          <a:prstGeom prst="rect">
            <a:avLst/>
          </a:prstGeom>
          <a:solidFill>
            <a:srgbClr val="5257AE"/>
          </a:solidFill>
          <a:ln/>
        </p:spPr>
      </p:sp>
      <p:sp>
        <p:nvSpPr>
          <p:cNvPr id="14" name="Shape 12"/>
          <p:cNvSpPr/>
          <p:nvPr/>
        </p:nvSpPr>
        <p:spPr>
          <a:xfrm>
            <a:off x="1002182" y="2291486"/>
            <a:ext cx="222382" cy="111191"/>
          </a:xfrm>
          <a:prstGeom prst="roundRect">
            <a:avLst>
              <a:gd name="adj" fmla="val 26316"/>
            </a:avLst>
          </a:prstGeom>
          <a:solidFill>
            <a:srgbClr val="5257AE"/>
          </a:solidFill>
          <a:ln/>
        </p:spPr>
      </p:sp>
      <p:sp>
        <p:nvSpPr>
          <p:cNvPr id="15" name="Shape 13"/>
          <p:cNvSpPr/>
          <p:nvPr/>
        </p:nvSpPr>
        <p:spPr>
          <a:xfrm>
            <a:off x="1417320" y="1984248"/>
            <a:ext cx="1417320" cy="384048"/>
          </a:xfrm>
          <a:prstGeom prst="roundRect">
            <a:avLst>
              <a:gd name="adj" fmla="val 14286"/>
            </a:avLst>
          </a:prstGeom>
          <a:solidFill>
            <a:srgbClr val="2B2F77"/>
          </a:solidFill>
          <a:ln/>
        </p:spPr>
      </p:sp>
      <p:sp>
        <p:nvSpPr>
          <p:cNvPr id="16" name="Text 14"/>
          <p:cNvSpPr txBox="1"/>
          <p:nvPr/>
        </p:nvSpPr>
        <p:spPr>
          <a:xfrm>
            <a:off x="1417320" y="1984248"/>
            <a:ext cx="14173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AI Agent</a:t>
            </a:r>
            <a:endParaRPr lang="en-US" sz="1300" dirty="0"/>
          </a:p>
        </p:txBody>
      </p:sp>
      <p:sp>
        <p:nvSpPr>
          <p:cNvPr id="17" name="Text 15"/>
          <p:cNvSpPr txBox="1"/>
          <p:nvPr/>
        </p:nvSpPr>
        <p:spPr>
          <a:xfrm>
            <a:off x="2971800" y="1984248"/>
            <a:ext cx="3063240" cy="384048"/>
          </a:xfrm>
          <a:prstGeom prst="rect">
            <a:avLst/>
          </a:prstGeom>
          <a:noFill/>
          <a:ln/>
        </p:spPr>
        <p:txBody>
          <a:bodyPr wrap="square" lIns="0" tIns="0" rIns="0" bIns="0" rtlCol="0" anchor="ctr"/>
          <a:lstStyle/>
          <a:p>
            <a:pPr indent="0" marL="0">
              <a:buNone/>
            </a:pPr>
            <a:r>
              <a:rPr lang="en-US" sz="1150" dirty="0">
                <a:solidFill>
                  <a:srgbClr val="6A6F93"/>
                </a:solidFill>
                <a:latin typeface="Arial" pitchFamily="34" charset="0"/>
                <a:ea typeface="Arial" pitchFamily="34" charset="-122"/>
                <a:cs typeface="Arial" pitchFamily="34" charset="-120"/>
              </a:rPr>
              <a:t>実績が結び付くのは、この 4 項目だけ</a:t>
            </a:r>
            <a:endParaRPr lang="en-US" sz="1150" dirty="0"/>
          </a:p>
        </p:txBody>
      </p:sp>
      <p:sp>
        <p:nvSpPr>
          <p:cNvPr id="18" name="Shape 16"/>
          <p:cNvSpPr/>
          <p:nvPr/>
        </p:nvSpPr>
        <p:spPr>
          <a:xfrm>
            <a:off x="914400" y="2679192"/>
            <a:ext cx="5120640" cy="493776"/>
          </a:xfrm>
          <a:prstGeom prst="roundRect">
            <a:avLst>
              <a:gd name="adj" fmla="val 11111"/>
            </a:avLst>
          </a:prstGeom>
          <a:solidFill>
            <a:srgbClr val="E2F3EC"/>
          </a:solidFill>
          <a:ln/>
        </p:spPr>
      </p:sp>
      <p:sp>
        <p:nvSpPr>
          <p:cNvPr id="19" name="Text 17"/>
          <p:cNvSpPr txBox="1"/>
          <p:nvPr/>
        </p:nvSpPr>
        <p:spPr>
          <a:xfrm>
            <a:off x="1060704" y="2679192"/>
            <a:ext cx="1783080" cy="493776"/>
          </a:xfrm>
          <a:prstGeom prst="rect">
            <a:avLst/>
          </a:prstGeom>
          <a:noFill/>
          <a:ln/>
        </p:spPr>
        <p:txBody>
          <a:bodyPr wrap="square" lIns="0" tIns="0" rIns="0" bIns="0" rtlCol="0" anchor="ctr"/>
          <a:lstStyle/>
          <a:p>
            <a:pPr indent="0" marL="0">
              <a:buNone/>
            </a:pPr>
            <a:r>
              <a:rPr lang="en-US" sz="1050" b="1" dirty="0">
                <a:solidFill>
                  <a:srgbClr val="2B2F77"/>
                </a:solidFill>
                <a:latin typeface="Courier New" pitchFamily="34" charset="0"/>
                <a:ea typeface="Courier New" pitchFamily="34" charset="-122"/>
                <a:cs typeface="Courier New" pitchFamily="34" charset="-120"/>
              </a:rPr>
              <a:t>modelId</a:t>
            </a:r>
            <a:endParaRPr lang="en-US" sz="1050" dirty="0"/>
          </a:p>
        </p:txBody>
      </p:sp>
      <p:sp>
        <p:nvSpPr>
          <p:cNvPr id="20" name="Text 18"/>
          <p:cNvSpPr txBox="1"/>
          <p:nvPr/>
        </p:nvSpPr>
        <p:spPr>
          <a:xfrm>
            <a:off x="2880360" y="2679192"/>
            <a:ext cx="1737360" cy="493776"/>
          </a:xfrm>
          <a:prstGeom prst="rect">
            <a:avLst/>
          </a:prstGeom>
          <a:noFill/>
          <a:ln/>
        </p:spPr>
        <p:txBody>
          <a:bodyPr wrap="square" lIns="0" tIns="0" rIns="0" bIns="0" rtlCol="0" anchor="ctr"/>
          <a:lstStyle/>
          <a:p>
            <a:pPr indent="0" marL="0">
              <a:buNone/>
            </a:pPr>
            <a:r>
              <a:rPr lang="en-US" sz="1100" dirty="0">
                <a:solidFill>
                  <a:srgbClr val="3A3F63"/>
                </a:solidFill>
                <a:latin typeface="Arial" pitchFamily="34" charset="0"/>
                <a:ea typeface="Arial" pitchFamily="34" charset="-122"/>
                <a:cs typeface="Arial" pitchFamily="34" charset="-120"/>
              </a:rPr>
              <a:t>どのモデルで動くか</a:t>
            </a:r>
            <a:endParaRPr lang="en-US" sz="1100" dirty="0"/>
          </a:p>
        </p:txBody>
      </p:sp>
      <p:sp>
        <p:nvSpPr>
          <p:cNvPr id="21" name="Text 19"/>
          <p:cNvSpPr txBox="1"/>
          <p:nvPr/>
        </p:nvSpPr>
        <p:spPr>
          <a:xfrm>
            <a:off x="4617720" y="2679192"/>
            <a:ext cx="1271016" cy="493776"/>
          </a:xfrm>
          <a:prstGeom prst="rect">
            <a:avLst/>
          </a:prstGeom>
          <a:noFill/>
          <a:ln/>
        </p:spPr>
        <p:txBody>
          <a:bodyPr wrap="square" lIns="0" tIns="0" rIns="0" bIns="0" rtlCol="0" anchor="ctr"/>
          <a:lstStyle/>
          <a:p>
            <a:pPr algn="r" indent="0" marL="0">
              <a:buNone/>
            </a:pPr>
            <a:r>
              <a:rPr lang="en-US" sz="1000" b="1" dirty="0">
                <a:solidFill>
                  <a:srgbClr val="00875F"/>
                </a:solidFill>
                <a:latin typeface="Courier New" pitchFamily="34" charset="0"/>
                <a:ea typeface="Courier New" pitchFamily="34" charset="-122"/>
                <a:cs typeface="Courier New" pitchFamily="34" charset="-120"/>
              </a:rPr>
              <a:t>gpt-demo-v1 → v2</a:t>
            </a:r>
            <a:endParaRPr lang="en-US" sz="1000" dirty="0"/>
          </a:p>
        </p:txBody>
      </p:sp>
      <p:sp>
        <p:nvSpPr>
          <p:cNvPr id="22" name="Shape 20"/>
          <p:cNvSpPr/>
          <p:nvPr/>
        </p:nvSpPr>
        <p:spPr>
          <a:xfrm>
            <a:off x="914400" y="3246120"/>
            <a:ext cx="5120640" cy="493776"/>
          </a:xfrm>
          <a:prstGeom prst="roundRect">
            <a:avLst>
              <a:gd name="adj" fmla="val 11111"/>
            </a:avLst>
          </a:prstGeom>
          <a:solidFill>
            <a:srgbClr val="EDEEF7"/>
          </a:solidFill>
          <a:ln/>
        </p:spPr>
      </p:sp>
      <p:sp>
        <p:nvSpPr>
          <p:cNvPr id="23" name="Text 21"/>
          <p:cNvSpPr txBox="1"/>
          <p:nvPr/>
        </p:nvSpPr>
        <p:spPr>
          <a:xfrm>
            <a:off x="1060704" y="3246120"/>
            <a:ext cx="1783080" cy="493776"/>
          </a:xfrm>
          <a:prstGeom prst="rect">
            <a:avLst/>
          </a:prstGeom>
          <a:noFill/>
          <a:ln/>
        </p:spPr>
        <p:txBody>
          <a:bodyPr wrap="square" lIns="0" tIns="0" rIns="0" bIns="0" rtlCol="0" anchor="ctr"/>
          <a:lstStyle/>
          <a:p>
            <a:pPr indent="0" marL="0">
              <a:buNone/>
            </a:pPr>
            <a:r>
              <a:rPr lang="en-US" sz="1050" b="1" dirty="0">
                <a:solidFill>
                  <a:srgbClr val="2B2F77"/>
                </a:solidFill>
                <a:latin typeface="Courier New" pitchFamily="34" charset="0"/>
                <a:ea typeface="Courier New" pitchFamily="34" charset="-122"/>
                <a:cs typeface="Courier New" pitchFamily="34" charset="-120"/>
              </a:rPr>
              <a:t>systemPromptHash</a:t>
            </a:r>
            <a:endParaRPr lang="en-US" sz="1050" dirty="0"/>
          </a:p>
        </p:txBody>
      </p:sp>
      <p:sp>
        <p:nvSpPr>
          <p:cNvPr id="24" name="Text 22"/>
          <p:cNvSpPr txBox="1"/>
          <p:nvPr/>
        </p:nvSpPr>
        <p:spPr>
          <a:xfrm>
            <a:off x="2880360" y="3246120"/>
            <a:ext cx="1737360" cy="493776"/>
          </a:xfrm>
          <a:prstGeom prst="rect">
            <a:avLst/>
          </a:prstGeom>
          <a:noFill/>
          <a:ln/>
        </p:spPr>
        <p:txBody>
          <a:bodyPr wrap="square" lIns="0" tIns="0" rIns="0" bIns="0" rtlCol="0" anchor="ctr"/>
          <a:lstStyle/>
          <a:p>
            <a:pPr indent="0" marL="0">
              <a:buNone/>
            </a:pPr>
            <a:r>
              <a:rPr lang="en-US" sz="1100" dirty="0">
                <a:solidFill>
                  <a:srgbClr val="3A3F63"/>
                </a:solidFill>
                <a:latin typeface="Arial" pitchFamily="34" charset="0"/>
                <a:ea typeface="Arial" pitchFamily="34" charset="-122"/>
                <a:cs typeface="Arial" pitchFamily="34" charset="-120"/>
              </a:rPr>
              <a:t>どんな指示で動くか</a:t>
            </a:r>
            <a:endParaRPr lang="en-US" sz="1100" dirty="0"/>
          </a:p>
        </p:txBody>
      </p:sp>
      <p:sp>
        <p:nvSpPr>
          <p:cNvPr id="25" name="Text 23"/>
          <p:cNvSpPr txBox="1"/>
          <p:nvPr/>
        </p:nvSpPr>
        <p:spPr>
          <a:xfrm>
            <a:off x="4617720" y="3246120"/>
            <a:ext cx="1271016" cy="493776"/>
          </a:xfrm>
          <a:prstGeom prst="rect">
            <a:avLst/>
          </a:prstGeom>
          <a:noFill/>
          <a:ln/>
        </p:spPr>
        <p:txBody>
          <a:bodyPr wrap="square" lIns="0" tIns="0" rIns="0" bIns="0" rtlCol="0" anchor="ctr"/>
          <a:lstStyle/>
          <a:p>
            <a:pPr algn="r" indent="0" marL="0">
              <a:buNone/>
            </a:pPr>
            <a:r>
              <a:rPr lang="en-US" sz="1100" b="1" dirty="0">
                <a:solidFill>
                  <a:srgbClr val="6A6F93"/>
                </a:solidFill>
                <a:latin typeface="Arial" pitchFamily="34" charset="0"/>
                <a:ea typeface="Arial" pitchFamily="34" charset="-122"/>
                <a:cs typeface="Arial" pitchFamily="34" charset="-120"/>
              </a:rPr>
              <a:t>変更なし</a:t>
            </a:r>
            <a:endParaRPr lang="en-US" sz="1100" dirty="0"/>
          </a:p>
        </p:txBody>
      </p:sp>
      <p:sp>
        <p:nvSpPr>
          <p:cNvPr id="26" name="Shape 24"/>
          <p:cNvSpPr/>
          <p:nvPr/>
        </p:nvSpPr>
        <p:spPr>
          <a:xfrm>
            <a:off x="914400" y="3813048"/>
            <a:ext cx="5120640" cy="493776"/>
          </a:xfrm>
          <a:prstGeom prst="roundRect">
            <a:avLst>
              <a:gd name="adj" fmla="val 11111"/>
            </a:avLst>
          </a:prstGeom>
          <a:solidFill>
            <a:srgbClr val="EDEEF7"/>
          </a:solidFill>
          <a:ln/>
        </p:spPr>
      </p:sp>
      <p:sp>
        <p:nvSpPr>
          <p:cNvPr id="27" name="Text 25"/>
          <p:cNvSpPr txBox="1"/>
          <p:nvPr/>
        </p:nvSpPr>
        <p:spPr>
          <a:xfrm>
            <a:off x="1060704" y="3813048"/>
            <a:ext cx="1783080" cy="493776"/>
          </a:xfrm>
          <a:prstGeom prst="rect">
            <a:avLst/>
          </a:prstGeom>
          <a:noFill/>
          <a:ln/>
        </p:spPr>
        <p:txBody>
          <a:bodyPr wrap="square" lIns="0" tIns="0" rIns="0" bIns="0" rtlCol="0" anchor="ctr"/>
          <a:lstStyle/>
          <a:p>
            <a:pPr indent="0" marL="0">
              <a:buNone/>
            </a:pPr>
            <a:r>
              <a:rPr lang="en-US" sz="1050" b="1" dirty="0">
                <a:solidFill>
                  <a:srgbClr val="2B2F77"/>
                </a:solidFill>
                <a:latin typeface="Courier New" pitchFamily="34" charset="0"/>
                <a:ea typeface="Courier New" pitchFamily="34" charset="-122"/>
                <a:cs typeface="Courier New" pitchFamily="34" charset="-120"/>
              </a:rPr>
              <a:t>toolPolicyHash</a:t>
            </a:r>
            <a:endParaRPr lang="en-US" sz="1050" dirty="0"/>
          </a:p>
        </p:txBody>
      </p:sp>
      <p:sp>
        <p:nvSpPr>
          <p:cNvPr id="28" name="Text 26"/>
          <p:cNvSpPr txBox="1"/>
          <p:nvPr/>
        </p:nvSpPr>
        <p:spPr>
          <a:xfrm>
            <a:off x="2880360" y="3813048"/>
            <a:ext cx="1737360" cy="493776"/>
          </a:xfrm>
          <a:prstGeom prst="rect">
            <a:avLst/>
          </a:prstGeom>
          <a:noFill/>
          <a:ln/>
        </p:spPr>
        <p:txBody>
          <a:bodyPr wrap="square" lIns="0" tIns="0" rIns="0" bIns="0" rtlCol="0" anchor="ctr"/>
          <a:lstStyle/>
          <a:p>
            <a:pPr indent="0" marL="0">
              <a:buNone/>
            </a:pPr>
            <a:r>
              <a:rPr lang="en-US" sz="1100" dirty="0">
                <a:solidFill>
                  <a:srgbClr val="3A3F63"/>
                </a:solidFill>
                <a:latin typeface="Arial" pitchFamily="34" charset="0"/>
                <a:ea typeface="Arial" pitchFamily="34" charset="-122"/>
                <a:cs typeface="Arial" pitchFamily="34" charset="-120"/>
              </a:rPr>
              <a:t>どのツールを使えるか</a:t>
            </a:r>
            <a:endParaRPr lang="en-US" sz="1100" dirty="0"/>
          </a:p>
        </p:txBody>
      </p:sp>
      <p:sp>
        <p:nvSpPr>
          <p:cNvPr id="29" name="Text 27"/>
          <p:cNvSpPr txBox="1"/>
          <p:nvPr/>
        </p:nvSpPr>
        <p:spPr>
          <a:xfrm>
            <a:off x="4617720" y="3813048"/>
            <a:ext cx="1271016" cy="493776"/>
          </a:xfrm>
          <a:prstGeom prst="rect">
            <a:avLst/>
          </a:prstGeom>
          <a:noFill/>
          <a:ln/>
        </p:spPr>
        <p:txBody>
          <a:bodyPr wrap="square" lIns="0" tIns="0" rIns="0" bIns="0" rtlCol="0" anchor="ctr"/>
          <a:lstStyle/>
          <a:p>
            <a:pPr algn="r" indent="0" marL="0">
              <a:buNone/>
            </a:pPr>
            <a:r>
              <a:rPr lang="en-US" sz="1100" b="1" dirty="0">
                <a:solidFill>
                  <a:srgbClr val="6A6F93"/>
                </a:solidFill>
                <a:latin typeface="Arial" pitchFamily="34" charset="0"/>
                <a:ea typeface="Arial" pitchFamily="34" charset="-122"/>
                <a:cs typeface="Arial" pitchFamily="34" charset="-120"/>
              </a:rPr>
              <a:t>変更なし</a:t>
            </a:r>
            <a:endParaRPr lang="en-US" sz="1100" dirty="0"/>
          </a:p>
        </p:txBody>
      </p:sp>
      <p:sp>
        <p:nvSpPr>
          <p:cNvPr id="30" name="Shape 28"/>
          <p:cNvSpPr/>
          <p:nvPr/>
        </p:nvSpPr>
        <p:spPr>
          <a:xfrm>
            <a:off x="914400" y="4379976"/>
            <a:ext cx="5120640" cy="493776"/>
          </a:xfrm>
          <a:prstGeom prst="roundRect">
            <a:avLst>
              <a:gd name="adj" fmla="val 11111"/>
            </a:avLst>
          </a:prstGeom>
          <a:solidFill>
            <a:srgbClr val="FBEAE6"/>
          </a:solidFill>
          <a:ln/>
        </p:spPr>
      </p:sp>
      <p:sp>
        <p:nvSpPr>
          <p:cNvPr id="31" name="Text 29"/>
          <p:cNvSpPr txBox="1"/>
          <p:nvPr/>
        </p:nvSpPr>
        <p:spPr>
          <a:xfrm>
            <a:off x="1060704" y="4379976"/>
            <a:ext cx="1783080" cy="493776"/>
          </a:xfrm>
          <a:prstGeom prst="rect">
            <a:avLst/>
          </a:prstGeom>
          <a:noFill/>
          <a:ln/>
        </p:spPr>
        <p:txBody>
          <a:bodyPr wrap="square" lIns="0" tIns="0" rIns="0" bIns="0" rtlCol="0" anchor="ctr"/>
          <a:lstStyle/>
          <a:p>
            <a:pPr indent="0" marL="0">
              <a:buNone/>
            </a:pPr>
            <a:r>
              <a:rPr lang="en-US" sz="1050" b="1" dirty="0">
                <a:solidFill>
                  <a:srgbClr val="2B2F77"/>
                </a:solidFill>
                <a:latin typeface="Courier New" pitchFamily="34" charset="0"/>
                <a:ea typeface="Courier New" pitchFamily="34" charset="-122"/>
                <a:cs typeface="Courier New" pitchFamily="34" charset="-120"/>
              </a:rPr>
              <a:t>permissionScope</a:t>
            </a:r>
            <a:endParaRPr lang="en-US" sz="1050" dirty="0"/>
          </a:p>
        </p:txBody>
      </p:sp>
      <p:sp>
        <p:nvSpPr>
          <p:cNvPr id="32" name="Text 30"/>
          <p:cNvSpPr txBox="1"/>
          <p:nvPr/>
        </p:nvSpPr>
        <p:spPr>
          <a:xfrm>
            <a:off x="2880360" y="4379976"/>
            <a:ext cx="1737360" cy="493776"/>
          </a:xfrm>
          <a:prstGeom prst="rect">
            <a:avLst/>
          </a:prstGeom>
          <a:noFill/>
          <a:ln/>
        </p:spPr>
        <p:txBody>
          <a:bodyPr wrap="square" lIns="0" tIns="0" rIns="0" bIns="0" rtlCol="0" anchor="ctr"/>
          <a:lstStyle/>
          <a:p>
            <a:pPr indent="0" marL="0">
              <a:buNone/>
            </a:pPr>
            <a:r>
              <a:rPr lang="en-US" sz="1100" dirty="0">
                <a:solidFill>
                  <a:srgbClr val="3A3F63"/>
                </a:solidFill>
                <a:latin typeface="Arial" pitchFamily="34" charset="0"/>
                <a:ea typeface="Arial" pitchFamily="34" charset="-122"/>
                <a:cs typeface="Arial" pitchFamily="34" charset="-120"/>
              </a:rPr>
              <a:t>どこまで操作してよいか</a:t>
            </a:r>
            <a:endParaRPr lang="en-US" sz="1100" dirty="0"/>
          </a:p>
        </p:txBody>
      </p:sp>
      <p:sp>
        <p:nvSpPr>
          <p:cNvPr id="33" name="Text 31"/>
          <p:cNvSpPr txBox="1"/>
          <p:nvPr/>
        </p:nvSpPr>
        <p:spPr>
          <a:xfrm>
            <a:off x="4617720" y="4379976"/>
            <a:ext cx="1271016" cy="493776"/>
          </a:xfrm>
          <a:prstGeom prst="rect">
            <a:avLst/>
          </a:prstGeom>
          <a:noFill/>
          <a:ln/>
        </p:spPr>
        <p:txBody>
          <a:bodyPr wrap="square" lIns="0" tIns="0" rIns="0" bIns="0" rtlCol="0" anchor="ctr"/>
          <a:lstStyle/>
          <a:p>
            <a:pPr algn="r" indent="0" marL="0">
              <a:buNone/>
            </a:pPr>
            <a:r>
              <a:rPr lang="en-US" sz="1100" b="1" dirty="0">
                <a:solidFill>
                  <a:srgbClr val="C0402A"/>
                </a:solidFill>
                <a:latin typeface="Arial" pitchFamily="34" charset="0"/>
                <a:ea typeface="Arial" pitchFamily="34" charset="-122"/>
                <a:cs typeface="Arial" pitchFamily="34" charset="-120"/>
              </a:rPr>
              <a:t>拡大は許可外</a:t>
            </a:r>
            <a:endParaRPr lang="en-US" sz="1100" dirty="0"/>
          </a:p>
        </p:txBody>
      </p:sp>
      <p:sp>
        <p:nvSpPr>
          <p:cNvPr id="34" name="Shape 32"/>
          <p:cNvSpPr/>
          <p:nvPr/>
        </p:nvSpPr>
        <p:spPr>
          <a:xfrm>
            <a:off x="6629400" y="1783080"/>
            <a:ext cx="4922215" cy="1417320"/>
          </a:xfrm>
          <a:prstGeom prst="roundRect">
            <a:avLst>
              <a:gd name="adj" fmla="val 5161"/>
            </a:avLst>
          </a:prstGeom>
          <a:solidFill>
            <a:srgbClr val="EDEEF7"/>
          </a:solidFill>
          <a:ln/>
          <a:effectLst>
            <a:outerShdw sx="100000" sy="100000" kx="0" ky="0" algn="bl" rotWithShape="0" blurRad="127000" dist="19050" dir="5400000">
              <a:srgbClr val="2B2F77">
                <a:alpha val="12000"/>
              </a:srgbClr>
            </a:outerShdw>
          </a:effectLst>
        </p:spPr>
      </p:sp>
      <p:sp>
        <p:nvSpPr>
          <p:cNvPr id="35" name="Text 33"/>
          <p:cNvSpPr txBox="1"/>
          <p:nvPr/>
        </p:nvSpPr>
        <p:spPr>
          <a:xfrm>
            <a:off x="6903720" y="2002536"/>
            <a:ext cx="4373575" cy="347472"/>
          </a:xfrm>
          <a:prstGeom prst="rect">
            <a:avLst/>
          </a:prstGeom>
          <a:noFill/>
          <a:ln/>
        </p:spPr>
        <p:txBody>
          <a:bodyPr wrap="square" lIns="0" tIns="0" rIns="0" bIns="0" rtlCol="0" anchor="ctr"/>
          <a:lstStyle/>
          <a:p>
            <a:pPr indent="0" marL="0">
              <a:buNone/>
            </a:pPr>
            <a:r>
              <a:rPr lang="en-US" sz="1500" b="1" dirty="0">
                <a:solidFill>
                  <a:srgbClr val="2B2F77"/>
                </a:solidFill>
                <a:latin typeface="Arial" pitchFamily="34" charset="0"/>
                <a:ea typeface="Arial" pitchFamily="34" charset="-122"/>
                <a:cs typeface="Arial" pitchFamily="34" charset="-120"/>
              </a:rPr>
              <a:t>Manifest Version Policy</a:t>
            </a:r>
            <a:endParaRPr lang="en-US" sz="1500" dirty="0"/>
          </a:p>
        </p:txBody>
      </p:sp>
      <p:sp>
        <p:nvSpPr>
          <p:cNvPr id="36" name="Text 34"/>
          <p:cNvSpPr txBox="1"/>
          <p:nvPr/>
        </p:nvSpPr>
        <p:spPr>
          <a:xfrm>
            <a:off x="6903720" y="2404872"/>
            <a:ext cx="4373575" cy="731520"/>
          </a:xfrm>
          <a:prstGeom prst="rect">
            <a:avLst/>
          </a:prstGeom>
          <a:noFill/>
          <a:ln/>
        </p:spPr>
        <p:txBody>
          <a:bodyPr wrap="square" lIns="0" tIns="0" rIns="0" bIns="0" rtlCol="0" anchor="ctr"/>
          <a:lstStyle/>
          <a:p>
            <a:pPr indent="0" marL="0">
              <a:lnSpc>
                <a:spcPts val="1900"/>
              </a:lnSpc>
              <a:buNone/>
            </a:pPr>
            <a:r>
              <a:rPr lang="en-US" sz="1200" dirty="0">
                <a:solidFill>
                  <a:srgbClr val="3A3F63"/>
                </a:solidFill>
                <a:latin typeface="Arial" pitchFamily="34" charset="0"/>
                <a:ea typeface="Arial" pitchFamily="34" charset="-122"/>
                <a:cs typeface="Arial" pitchFamily="34" charset="-120"/>
              </a:rPr>
              <a:t>変更してよい項目のビットマスクと、許可リストの Merkle root。どちらも policyHash に束縛される。</a:t>
            </a:r>
            <a:endParaRPr lang="en-US" sz="1200" dirty="0"/>
          </a:p>
        </p:txBody>
      </p:sp>
      <p:sp>
        <p:nvSpPr>
          <p:cNvPr id="37" name="Shape 35"/>
          <p:cNvSpPr/>
          <p:nvPr/>
        </p:nvSpPr>
        <p:spPr>
          <a:xfrm>
            <a:off x="6629400" y="3383280"/>
            <a:ext cx="4922215" cy="749808"/>
          </a:xfrm>
          <a:prstGeom prst="roundRect">
            <a:avLst>
              <a:gd name="adj" fmla="val 9756"/>
            </a:avLst>
          </a:prstGeom>
          <a:solidFill>
            <a:srgbClr val="00875F"/>
          </a:solidFill>
          <a:ln/>
        </p:spPr>
      </p:sp>
      <p:sp>
        <p:nvSpPr>
          <p:cNvPr id="38" name="Text 36"/>
          <p:cNvSpPr txBox="1"/>
          <p:nvPr/>
        </p:nvSpPr>
        <p:spPr>
          <a:xfrm>
            <a:off x="6903720" y="3383280"/>
            <a:ext cx="4373575" cy="749808"/>
          </a:xfrm>
          <a:prstGeom prst="rect">
            <a:avLst/>
          </a:prstGeom>
          <a:noFill/>
          <a:ln/>
        </p:spPr>
        <p:txBody>
          <a:bodyPr wrap="square" lIns="0" tIns="0" rIns="0" bIns="0" rtlCol="0" anchor="ctr"/>
          <a:lstStyle/>
          <a:p>
            <a:pPr indent="0" marL="0">
              <a:lnSpc>
                <a:spcPts val="1900"/>
              </a:lnSpc>
              <a:buNone/>
            </a:pPr>
            <a:r>
              <a:rPr lang="en-US" sz="1300" b="1" dirty="0">
                <a:solidFill>
                  <a:srgbClr val="FFFFFF"/>
                </a:solidFill>
                <a:latin typeface="Arial" pitchFamily="34" charset="0"/>
                <a:ea typeface="Arial" pitchFamily="34" charset="-122"/>
                <a:cs typeface="Arial" pitchFamily="34" charset="-120"/>
              </a:rPr>
              <a:t>モデルを差し替えても、許可された範囲なら実績は残る</a:t>
            </a:r>
            <a:endParaRPr lang="en-US" sz="1300" dirty="0"/>
          </a:p>
        </p:txBody>
      </p:sp>
      <p:sp>
        <p:nvSpPr>
          <p:cNvPr id="39" name="Shape 37"/>
          <p:cNvSpPr/>
          <p:nvPr/>
        </p:nvSpPr>
        <p:spPr>
          <a:xfrm>
            <a:off x="6629400" y="4233672"/>
            <a:ext cx="4922215" cy="749808"/>
          </a:xfrm>
          <a:prstGeom prst="roundRect">
            <a:avLst>
              <a:gd name="adj" fmla="val 9756"/>
            </a:avLst>
          </a:prstGeom>
          <a:solidFill>
            <a:srgbClr val="C0402A"/>
          </a:solidFill>
          <a:ln/>
        </p:spPr>
      </p:sp>
      <p:sp>
        <p:nvSpPr>
          <p:cNvPr id="40" name="Text 38"/>
          <p:cNvSpPr txBox="1"/>
          <p:nvPr/>
        </p:nvSpPr>
        <p:spPr>
          <a:xfrm>
            <a:off x="6903720" y="4233672"/>
            <a:ext cx="4373575" cy="749808"/>
          </a:xfrm>
          <a:prstGeom prst="rect">
            <a:avLst/>
          </a:prstGeom>
          <a:noFill/>
          <a:ln/>
        </p:spPr>
        <p:txBody>
          <a:bodyPr wrap="square" lIns="0" tIns="0" rIns="0" bIns="0" rtlCol="0" anchor="ctr"/>
          <a:lstStyle/>
          <a:p>
            <a:pPr indent="0" marL="0">
              <a:lnSpc>
                <a:spcPts val="1900"/>
              </a:lnSpc>
              <a:buNone/>
            </a:pPr>
            <a:r>
              <a:rPr lang="en-US" sz="1300" b="1" dirty="0">
                <a:solidFill>
                  <a:srgbClr val="FFFFFF"/>
                </a:solidFill>
                <a:latin typeface="Arial" pitchFamily="34" charset="0"/>
                <a:ea typeface="Arial" pitchFamily="34" charset="-122"/>
                <a:cs typeface="Arial" pitchFamily="34" charset="-120"/>
              </a:rPr>
              <a:t>許可外の変更は、Agent がそもそも証明を作れない</a:t>
            </a:r>
            <a:endParaRPr lang="en-US" sz="1300" dirty="0"/>
          </a:p>
        </p:txBody>
      </p:sp>
      <p:sp>
        <p:nvSpPr>
          <p:cNvPr id="41" name="Shape 39"/>
          <p:cNvSpPr/>
          <p:nvPr/>
        </p:nvSpPr>
        <p:spPr>
          <a:xfrm>
            <a:off x="640080" y="5230368"/>
            <a:ext cx="10911535" cy="731520"/>
          </a:xfrm>
          <a:prstGeom prst="roundRect">
            <a:avLst>
              <a:gd name="adj" fmla="val 10000"/>
            </a:avLst>
          </a:prstGeom>
          <a:solidFill>
            <a:srgbClr val="0F1024"/>
          </a:solidFill>
          <a:ln/>
          <a:effectLst>
            <a:outerShdw sx="100000" sy="100000" kx="0" ky="0" algn="bl" rotWithShape="0" blurRad="127000" dist="19050" dir="5400000">
              <a:srgbClr val="2B2F77">
                <a:alpha val="12000"/>
              </a:srgbClr>
            </a:outerShdw>
          </a:effectLst>
        </p:spPr>
      </p:sp>
      <p:sp>
        <p:nvSpPr>
          <p:cNvPr id="42" name="Text 40"/>
          <p:cNvSpPr txBox="1"/>
          <p:nvPr/>
        </p:nvSpPr>
        <p:spPr>
          <a:xfrm>
            <a:off x="914400" y="5230368"/>
            <a:ext cx="10362895" cy="731520"/>
          </a:xfrm>
          <a:prstGeom prst="rect">
            <a:avLst/>
          </a:prstGeom>
          <a:noFill/>
          <a:ln/>
        </p:spPr>
        <p:txBody>
          <a:bodyPr wrap="square" lIns="0" tIns="0" rIns="0" bIns="0" rtlCol="0" anchor="ctr"/>
          <a:lstStyle/>
          <a:p>
            <a:pPr algn="ctr" indent="0" marL="0">
              <a:buNone/>
            </a:pPr>
            <a:r>
              <a:rPr lang="en-US" sz="1400" b="1" dirty="0">
                <a:solidFill>
                  <a:srgbClr val="00875F"/>
                </a:solidFill>
                <a:latin typeface="Courier New" pitchFamily="34" charset="0"/>
                <a:ea typeface="Courier New" pitchFamily="34" charset="-122"/>
                <a:cs typeface="Courier New" pitchFamily="34" charset="-120"/>
              </a:rPr>
              <a:t>manifestCommitment = Hash( modelId , systemPromptHash , toolPolicyHash , permissionScope )</a:t>
            </a:r>
            <a:endParaRPr lang="en-US" sz="1400" dirty="0"/>
          </a:p>
        </p:txBody>
      </p:sp>
      <p:sp>
        <p:nvSpPr>
          <p:cNvPr id="43" name="Text 41"/>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08 ─ デモ</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実際に動かして、6 つの問いに答える</a:t>
            </a:r>
            <a:endParaRPr lang="en-US" sz="2900" dirty="0"/>
          </a:p>
        </p:txBody>
      </p:sp>
      <p:sp>
        <p:nvSpPr>
          <p:cNvPr id="4" name="Shape 2"/>
          <p:cNvSpPr/>
          <p:nvPr/>
        </p:nvSpPr>
        <p:spPr>
          <a:xfrm>
            <a:off x="640080" y="1664208"/>
            <a:ext cx="10911535" cy="914400"/>
          </a:xfrm>
          <a:prstGeom prst="roundRect">
            <a:avLst>
              <a:gd name="adj" fmla="val 8000"/>
            </a:avLst>
          </a:prstGeom>
          <a:solidFill>
            <a:srgbClr val="2B2F77"/>
          </a:solidFill>
          <a:ln/>
          <a:effectLst>
            <a:outerShdw sx="100000" sy="100000" kx="0" ky="0" algn="bl" rotWithShape="0" blurRad="127000" dist="19050" dir="5400000">
              <a:srgbClr val="2B2F77">
                <a:alpha val="12000"/>
              </a:srgbClr>
            </a:outerShdw>
          </a:effectLst>
        </p:spPr>
      </p:sp>
      <p:sp>
        <p:nvSpPr>
          <p:cNvPr id="5" name="Shape 3"/>
          <p:cNvSpPr/>
          <p:nvPr/>
        </p:nvSpPr>
        <p:spPr>
          <a:xfrm>
            <a:off x="1199693" y="1792224"/>
            <a:ext cx="69129" cy="69129"/>
          </a:xfrm>
          <a:prstGeom prst="ellipse">
            <a:avLst/>
          </a:prstGeom>
          <a:solidFill>
            <a:srgbClr val="00875F"/>
          </a:solidFill>
          <a:ln/>
        </p:spPr>
      </p:sp>
      <p:sp>
        <p:nvSpPr>
          <p:cNvPr id="6" name="Shape 4"/>
          <p:cNvSpPr/>
          <p:nvPr/>
        </p:nvSpPr>
        <p:spPr>
          <a:xfrm>
            <a:off x="1224656" y="1849831"/>
            <a:ext cx="19202" cy="76810"/>
          </a:xfrm>
          <a:prstGeom prst="rect">
            <a:avLst/>
          </a:prstGeom>
          <a:solidFill>
            <a:srgbClr val="FFFFFF"/>
          </a:solidFill>
          <a:ln/>
        </p:spPr>
      </p:sp>
      <p:sp>
        <p:nvSpPr>
          <p:cNvPr id="7" name="Shape 5"/>
          <p:cNvSpPr/>
          <p:nvPr/>
        </p:nvSpPr>
        <p:spPr>
          <a:xfrm>
            <a:off x="976945" y="2014972"/>
            <a:ext cx="42245" cy="99852"/>
          </a:xfrm>
          <a:prstGeom prst="roundRect">
            <a:avLst>
              <a:gd name="adj" fmla="val 64935"/>
            </a:avLst>
          </a:prstGeom>
          <a:solidFill>
            <a:srgbClr val="DFE1F1"/>
          </a:solidFill>
          <a:ln/>
        </p:spPr>
      </p:sp>
      <p:sp>
        <p:nvSpPr>
          <p:cNvPr id="8" name="Shape 6"/>
          <p:cNvSpPr/>
          <p:nvPr/>
        </p:nvSpPr>
        <p:spPr>
          <a:xfrm>
            <a:off x="1445484" y="2014972"/>
            <a:ext cx="42245" cy="99852"/>
          </a:xfrm>
          <a:prstGeom prst="roundRect">
            <a:avLst>
              <a:gd name="adj" fmla="val 64935"/>
            </a:avLst>
          </a:prstGeom>
          <a:solidFill>
            <a:srgbClr val="DFE1F1"/>
          </a:solidFill>
          <a:ln/>
        </p:spPr>
      </p:sp>
      <p:sp>
        <p:nvSpPr>
          <p:cNvPr id="9" name="Shape 7"/>
          <p:cNvSpPr/>
          <p:nvPr/>
        </p:nvSpPr>
        <p:spPr>
          <a:xfrm>
            <a:off x="1015350" y="1918960"/>
            <a:ext cx="430134" cy="337962"/>
          </a:xfrm>
          <a:prstGeom prst="roundRect">
            <a:avLst>
              <a:gd name="adj" fmla="val 15909"/>
            </a:avLst>
          </a:prstGeom>
          <a:solidFill>
            <a:srgbClr val="FFFFFF"/>
          </a:solidFill>
          <a:ln/>
        </p:spPr>
      </p:sp>
      <p:sp>
        <p:nvSpPr>
          <p:cNvPr id="10" name="Shape 8"/>
          <p:cNvSpPr/>
          <p:nvPr/>
        </p:nvSpPr>
        <p:spPr>
          <a:xfrm>
            <a:off x="1115202" y="2011131"/>
            <a:ext cx="65288" cy="65288"/>
          </a:xfrm>
          <a:prstGeom prst="ellipse">
            <a:avLst/>
          </a:prstGeom>
          <a:solidFill>
            <a:srgbClr val="00875F"/>
          </a:solidFill>
          <a:ln/>
        </p:spPr>
      </p:sp>
      <p:sp>
        <p:nvSpPr>
          <p:cNvPr id="11" name="Shape 9"/>
          <p:cNvSpPr/>
          <p:nvPr/>
        </p:nvSpPr>
        <p:spPr>
          <a:xfrm>
            <a:off x="1280343" y="2011131"/>
            <a:ext cx="65288" cy="65288"/>
          </a:xfrm>
          <a:prstGeom prst="ellipse">
            <a:avLst/>
          </a:prstGeom>
          <a:solidFill>
            <a:srgbClr val="00875F"/>
          </a:solidFill>
          <a:ln/>
        </p:spPr>
      </p:sp>
      <p:sp>
        <p:nvSpPr>
          <p:cNvPr id="12" name="Shape 10"/>
          <p:cNvSpPr/>
          <p:nvPr/>
        </p:nvSpPr>
        <p:spPr>
          <a:xfrm>
            <a:off x="1161288" y="2145548"/>
            <a:ext cx="138257" cy="38405"/>
          </a:xfrm>
          <a:prstGeom prst="roundRect">
            <a:avLst>
              <a:gd name="adj" fmla="val 30000"/>
            </a:avLst>
          </a:prstGeom>
          <a:solidFill>
            <a:srgbClr val="2B2F77"/>
          </a:solidFill>
          <a:ln/>
        </p:spPr>
      </p:sp>
      <p:sp>
        <p:nvSpPr>
          <p:cNvPr id="13" name="Shape 11"/>
          <p:cNvSpPr/>
          <p:nvPr/>
        </p:nvSpPr>
        <p:spPr>
          <a:xfrm>
            <a:off x="1207374" y="2256922"/>
            <a:ext cx="46086" cy="38405"/>
          </a:xfrm>
          <a:prstGeom prst="rect">
            <a:avLst/>
          </a:prstGeom>
          <a:solidFill>
            <a:srgbClr val="DFE1F1"/>
          </a:solidFill>
          <a:ln/>
        </p:spPr>
      </p:sp>
      <p:sp>
        <p:nvSpPr>
          <p:cNvPr id="14" name="Shape 12"/>
          <p:cNvSpPr/>
          <p:nvPr/>
        </p:nvSpPr>
        <p:spPr>
          <a:xfrm>
            <a:off x="1084478" y="2291486"/>
            <a:ext cx="291876" cy="145938"/>
          </a:xfrm>
          <a:prstGeom prst="roundRect">
            <a:avLst>
              <a:gd name="adj" fmla="val 26316"/>
            </a:avLst>
          </a:prstGeom>
          <a:solidFill>
            <a:srgbClr val="DFE1F1"/>
          </a:solidFill>
          <a:ln/>
        </p:spPr>
      </p:sp>
      <p:sp>
        <p:nvSpPr>
          <p:cNvPr id="15" name="Text 13"/>
          <p:cNvSpPr txBox="1"/>
          <p:nvPr/>
        </p:nvSpPr>
        <p:spPr>
          <a:xfrm>
            <a:off x="1737360" y="1664208"/>
            <a:ext cx="9448495" cy="914400"/>
          </a:xfrm>
          <a:prstGeom prst="rect">
            <a:avLst/>
          </a:prstGeom>
          <a:noFill/>
          <a:ln/>
        </p:spPr>
        <p:txBody>
          <a:bodyPr wrap="square" lIns="0" tIns="0" rIns="0" bIns="0" rtlCol="0" anchor="ctr"/>
          <a:lstStyle/>
          <a:p>
            <a:pPr indent="0" marL="0">
              <a:lnSpc>
                <a:spcPts val="2400"/>
              </a:lnSpc>
              <a:buNone/>
            </a:pPr>
            <a:r>
              <a:rPr lang="en-US" sz="1350" b="1" dirty="0">
                <a:solidFill>
                  <a:srgbClr val="FFFFFF"/>
                </a:solidFill>
              </a:rPr>
              <a:t>travel-agent-01 の実績 — 取引先 3 社（Provider A・B・C）から 5 点・4 点・5 点、合計 14 点</a:t>
            </a:r>
            <a:endParaRPr lang="en-US" sz="1350" dirty="0"/>
          </a:p>
          <a:p>
            <a:pPr indent="0" marL="0">
              <a:lnSpc>
                <a:spcPts val="2400"/>
              </a:lnSpc>
              <a:buNone/>
            </a:pPr>
            <a:r>
              <a:rPr lang="en-US" sz="1150" dirty="0">
                <a:solidFill>
                  <a:srgbClr val="DFE1F1"/>
                </a:solidFill>
              </a:rPr>
              <a:t>予約サービスの条件 — この領域で 12 点以上・3 件以上・宣言した構成のまま。合計点も取引先も渡さずに示せるか。</a:t>
            </a:r>
            <a:endParaRPr lang="en-US" sz="1350" dirty="0"/>
          </a:p>
        </p:txBody>
      </p:sp>
      <p:sp>
        <p:nvSpPr>
          <p:cNvPr id="16" name="Shape 14"/>
          <p:cNvSpPr/>
          <p:nvPr/>
        </p:nvSpPr>
        <p:spPr>
          <a:xfrm>
            <a:off x="640080" y="2761488"/>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17" name="Shape 15"/>
          <p:cNvSpPr/>
          <p:nvPr/>
        </p:nvSpPr>
        <p:spPr>
          <a:xfrm>
            <a:off x="896112" y="3026664"/>
            <a:ext cx="384048" cy="384048"/>
          </a:xfrm>
          <a:prstGeom prst="ellipse">
            <a:avLst/>
          </a:prstGeom>
          <a:solidFill>
            <a:srgbClr val="00875F"/>
          </a:solidFill>
          <a:ln/>
        </p:spPr>
      </p:sp>
      <p:sp>
        <p:nvSpPr>
          <p:cNvPr id="18" name="Text 16"/>
          <p:cNvSpPr txBox="1"/>
          <p:nvPr/>
        </p:nvSpPr>
        <p:spPr>
          <a:xfrm>
            <a:off x="896112"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9" name="Text 17"/>
          <p:cNvSpPr txBox="1"/>
          <p:nvPr/>
        </p:nvSpPr>
        <p:spPr>
          <a:xfrm>
            <a:off x="1444752" y="2862072"/>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中身を見せずに合格する</a:t>
            </a:r>
            <a:endParaRPr lang="en-US" sz="1350" dirty="0"/>
          </a:p>
        </p:txBody>
      </p:sp>
      <p:sp>
        <p:nvSpPr>
          <p:cNvPr id="20" name="Text 18"/>
          <p:cNvSpPr txBox="1"/>
          <p:nvPr/>
        </p:nvSpPr>
        <p:spPr>
          <a:xfrm>
            <a:off x="1444752" y="3145536"/>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できる（合計点も取引先も渡さない）</a:t>
            </a:r>
            <a:endParaRPr lang="en-US" sz="1100" dirty="0"/>
          </a:p>
        </p:txBody>
      </p:sp>
      <p:sp>
        <p:nvSpPr>
          <p:cNvPr id="21" name="Shape 19"/>
          <p:cNvSpPr/>
          <p:nvPr/>
        </p:nvSpPr>
        <p:spPr>
          <a:xfrm>
            <a:off x="6278728" y="2761488"/>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22" name="Shape 20"/>
          <p:cNvSpPr/>
          <p:nvPr/>
        </p:nvSpPr>
        <p:spPr>
          <a:xfrm>
            <a:off x="6534760" y="3026664"/>
            <a:ext cx="384048" cy="384048"/>
          </a:xfrm>
          <a:prstGeom prst="ellipse">
            <a:avLst/>
          </a:prstGeom>
          <a:solidFill>
            <a:srgbClr val="C0402A"/>
          </a:solidFill>
          <a:ln/>
        </p:spPr>
      </p:sp>
      <p:sp>
        <p:nvSpPr>
          <p:cNvPr id="23" name="Text 21"/>
          <p:cNvSpPr txBox="1"/>
          <p:nvPr/>
        </p:nvSpPr>
        <p:spPr>
          <a:xfrm>
            <a:off x="6534760"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4" name="Text 22"/>
          <p:cNvSpPr txBox="1"/>
          <p:nvPr/>
        </p:nvSpPr>
        <p:spPr>
          <a:xfrm>
            <a:off x="7083400" y="2862072"/>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自作自演の高評価を防ぐ</a:t>
            </a:r>
            <a:endParaRPr lang="en-US" sz="1350" dirty="0"/>
          </a:p>
        </p:txBody>
      </p:sp>
      <p:sp>
        <p:nvSpPr>
          <p:cNvPr id="25" name="Text 23"/>
          <p:cNvSpPr txBox="1"/>
          <p:nvPr/>
        </p:nvSpPr>
        <p:spPr>
          <a:xfrm>
            <a:off x="7083400" y="3145536"/>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できない（Gateway が弾く）</a:t>
            </a:r>
            <a:endParaRPr lang="en-US" sz="1100" dirty="0"/>
          </a:p>
        </p:txBody>
      </p:sp>
      <p:sp>
        <p:nvSpPr>
          <p:cNvPr id="26" name="Shape 24"/>
          <p:cNvSpPr/>
          <p:nvPr/>
        </p:nvSpPr>
        <p:spPr>
          <a:xfrm>
            <a:off x="640080" y="3849624"/>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27" name="Shape 25"/>
          <p:cNvSpPr/>
          <p:nvPr/>
        </p:nvSpPr>
        <p:spPr>
          <a:xfrm>
            <a:off x="896112" y="4114800"/>
            <a:ext cx="384048" cy="384048"/>
          </a:xfrm>
          <a:prstGeom prst="ellipse">
            <a:avLst/>
          </a:prstGeom>
          <a:solidFill>
            <a:srgbClr val="00875F"/>
          </a:solidFill>
          <a:ln/>
        </p:spPr>
      </p:sp>
      <p:sp>
        <p:nvSpPr>
          <p:cNvPr id="28" name="Text 26"/>
          <p:cNvSpPr txBox="1"/>
          <p:nvPr/>
        </p:nvSpPr>
        <p:spPr>
          <a:xfrm>
            <a:off x="896112"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9" name="Text 27"/>
          <p:cNvSpPr txBox="1"/>
          <p:nvPr/>
        </p:nvSpPr>
        <p:spPr>
          <a:xfrm>
            <a:off x="1444752" y="3950208"/>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モデルを更新しても実績は残る</a:t>
            </a:r>
            <a:endParaRPr lang="en-US" sz="1350" dirty="0"/>
          </a:p>
        </p:txBody>
      </p:sp>
      <p:sp>
        <p:nvSpPr>
          <p:cNvPr id="30" name="Text 28"/>
          <p:cNvSpPr txBox="1"/>
          <p:nvPr/>
        </p:nvSpPr>
        <p:spPr>
          <a:xfrm>
            <a:off x="1444752" y="4233672"/>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使える（Policy が許した範囲なら）</a:t>
            </a:r>
            <a:endParaRPr lang="en-US" sz="1100" dirty="0"/>
          </a:p>
        </p:txBody>
      </p:sp>
      <p:sp>
        <p:nvSpPr>
          <p:cNvPr id="31" name="Shape 29"/>
          <p:cNvSpPr/>
          <p:nvPr/>
        </p:nvSpPr>
        <p:spPr>
          <a:xfrm>
            <a:off x="6278728" y="3849624"/>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32" name="Shape 30"/>
          <p:cNvSpPr/>
          <p:nvPr/>
        </p:nvSpPr>
        <p:spPr>
          <a:xfrm>
            <a:off x="6534760" y="4114800"/>
            <a:ext cx="384048" cy="384048"/>
          </a:xfrm>
          <a:prstGeom prst="ellipse">
            <a:avLst/>
          </a:prstGeom>
          <a:solidFill>
            <a:srgbClr val="C0402A"/>
          </a:solidFill>
          <a:ln/>
        </p:spPr>
      </p:sp>
      <p:sp>
        <p:nvSpPr>
          <p:cNvPr id="33" name="Text 31"/>
          <p:cNvSpPr txBox="1"/>
          <p:nvPr/>
        </p:nvSpPr>
        <p:spPr>
          <a:xfrm>
            <a:off x="6534760" y="4114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4" name="Text 32"/>
          <p:cNvSpPr txBox="1"/>
          <p:nvPr/>
        </p:nvSpPr>
        <p:spPr>
          <a:xfrm>
            <a:off x="7083400" y="3950208"/>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権限をこっそり広げると失格</a:t>
            </a:r>
            <a:endParaRPr lang="en-US" sz="1350" dirty="0"/>
          </a:p>
        </p:txBody>
      </p:sp>
      <p:sp>
        <p:nvSpPr>
          <p:cNvPr id="35" name="Text 33"/>
          <p:cNvSpPr txBox="1"/>
          <p:nvPr/>
        </p:nvSpPr>
        <p:spPr>
          <a:xfrm>
            <a:off x="7083400" y="4233672"/>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通らない（Agent 側で止まる）</a:t>
            </a:r>
            <a:endParaRPr lang="en-US" sz="1100" dirty="0"/>
          </a:p>
        </p:txBody>
      </p:sp>
      <p:sp>
        <p:nvSpPr>
          <p:cNvPr id="36" name="Shape 34"/>
          <p:cNvSpPr/>
          <p:nvPr/>
        </p:nvSpPr>
        <p:spPr>
          <a:xfrm>
            <a:off x="640080" y="4937760"/>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37" name="Shape 35"/>
          <p:cNvSpPr/>
          <p:nvPr/>
        </p:nvSpPr>
        <p:spPr>
          <a:xfrm>
            <a:off x="896112" y="5202936"/>
            <a:ext cx="384048" cy="384048"/>
          </a:xfrm>
          <a:prstGeom prst="ellipse">
            <a:avLst/>
          </a:prstGeom>
          <a:solidFill>
            <a:srgbClr val="C0402A"/>
          </a:solidFill>
          <a:ln/>
        </p:spPr>
      </p:sp>
      <p:sp>
        <p:nvSpPr>
          <p:cNvPr id="38" name="Text 36"/>
          <p:cNvSpPr txBox="1"/>
          <p:nvPr/>
        </p:nvSpPr>
        <p:spPr>
          <a:xfrm>
            <a:off x="896112"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9" name="Text 37"/>
          <p:cNvSpPr txBox="1"/>
          <p:nvPr/>
        </p:nvSpPr>
        <p:spPr>
          <a:xfrm>
            <a:off x="1444752" y="5038344"/>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証明のコピーは使えない</a:t>
            </a:r>
            <a:endParaRPr lang="en-US" sz="1350" dirty="0"/>
          </a:p>
        </p:txBody>
      </p:sp>
      <p:sp>
        <p:nvSpPr>
          <p:cNvPr id="40" name="Text 38"/>
          <p:cNvSpPr txBox="1"/>
          <p:nvPr/>
        </p:nvSpPr>
        <p:spPr>
          <a:xfrm>
            <a:off x="1444752" y="5321808"/>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使えない（nonce）</a:t>
            </a:r>
            <a:endParaRPr lang="en-US" sz="1100" dirty="0"/>
          </a:p>
        </p:txBody>
      </p:sp>
      <p:sp>
        <p:nvSpPr>
          <p:cNvPr id="41" name="Shape 39"/>
          <p:cNvSpPr/>
          <p:nvPr/>
        </p:nvSpPr>
        <p:spPr>
          <a:xfrm>
            <a:off x="6278728" y="4937760"/>
            <a:ext cx="5272888" cy="914400"/>
          </a:xfrm>
          <a:prstGeom prst="roundRect">
            <a:avLst>
              <a:gd name="adj" fmla="val 8000"/>
            </a:avLst>
          </a:prstGeom>
          <a:solidFill>
            <a:srgbClr val="EDEEF7"/>
          </a:solidFill>
          <a:ln/>
          <a:effectLst>
            <a:outerShdw sx="100000" sy="100000" kx="0" ky="0" algn="bl" rotWithShape="0" blurRad="127000" dist="19050" dir="5400000">
              <a:srgbClr val="2B2F77">
                <a:alpha val="12000"/>
              </a:srgbClr>
            </a:outerShdw>
          </a:effectLst>
        </p:spPr>
      </p:sp>
      <p:sp>
        <p:nvSpPr>
          <p:cNvPr id="42" name="Shape 40"/>
          <p:cNvSpPr/>
          <p:nvPr/>
        </p:nvSpPr>
        <p:spPr>
          <a:xfrm>
            <a:off x="6534760" y="5202936"/>
            <a:ext cx="384048" cy="384048"/>
          </a:xfrm>
          <a:prstGeom prst="ellipse">
            <a:avLst/>
          </a:prstGeom>
          <a:solidFill>
            <a:srgbClr val="00875F"/>
          </a:solidFill>
          <a:ln/>
        </p:spPr>
      </p:sp>
      <p:sp>
        <p:nvSpPr>
          <p:cNvPr id="43" name="Text 41"/>
          <p:cNvSpPr txBox="1"/>
          <p:nvPr/>
        </p:nvSpPr>
        <p:spPr>
          <a:xfrm>
            <a:off x="6534760"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44" name="Text 42"/>
          <p:cNvSpPr txBox="1"/>
          <p:nvPr/>
        </p:nvSpPr>
        <p:spPr>
          <a:xfrm>
            <a:off x="7083400" y="5038344"/>
            <a:ext cx="4221328" cy="274320"/>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2 つのサービスが突き合わせても追えない</a:t>
            </a:r>
            <a:endParaRPr lang="en-US" sz="1350" dirty="0"/>
          </a:p>
        </p:txBody>
      </p:sp>
      <p:sp>
        <p:nvSpPr>
          <p:cNvPr id="45" name="Text 43"/>
          <p:cNvSpPr txBox="1"/>
          <p:nvPr/>
        </p:nvSpPr>
        <p:spPr>
          <a:xfrm>
            <a:off x="7083400" y="5321808"/>
            <a:ext cx="4221328" cy="402336"/>
          </a:xfrm>
          <a:prstGeom prst="rect">
            <a:avLst/>
          </a:prstGeom>
          <a:noFill/>
          <a:ln/>
        </p:spPr>
        <p:txBody>
          <a:bodyPr wrap="square" lIns="0" tIns="0" rIns="0" bIns="0" rtlCol="0" anchor="ctr"/>
          <a:lstStyle/>
          <a:p>
            <a:pPr indent="0" marL="0">
              <a:lnSpc>
                <a:spcPts val="1500"/>
              </a:lnSpc>
              <a:buNone/>
            </a:pPr>
            <a:r>
              <a:rPr lang="en-US" sz="1100" dirty="0">
                <a:solidFill>
                  <a:srgbClr val="3A3F63"/>
                </a:solidFill>
                <a:latin typeface="Arial" pitchFamily="34" charset="0"/>
                <a:ea typeface="Arial" pitchFamily="34" charset="-122"/>
                <a:cs typeface="Arial" pitchFamily="34" charset="-120"/>
              </a:rPr>
              <a:t>分からない（nullifier が別値）</a:t>
            </a:r>
            <a:endParaRPr lang="en-US" sz="1100" dirty="0"/>
          </a:p>
        </p:txBody>
      </p:sp>
      <p:sp>
        <p:nvSpPr>
          <p:cNvPr id="46" name="Text 44"/>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09 ─ 数字</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プライバシーの値段は 55 ミリ秒</a:t>
            </a:r>
            <a:endParaRPr lang="en-US" sz="2900" dirty="0"/>
          </a:p>
        </p:txBody>
      </p:sp>
      <p:sp>
        <p:nvSpPr>
          <p:cNvPr id="4" name="Text 2"/>
          <p:cNvSpPr txBox="1"/>
          <p:nvPr/>
        </p:nvSpPr>
        <p:spPr>
          <a:xfrm>
            <a:off x="640080" y="1325880"/>
            <a:ext cx="10911535" cy="274320"/>
          </a:xfrm>
          <a:prstGeom prst="rect">
            <a:avLst/>
          </a:prstGeom>
          <a:noFill/>
          <a:ln/>
        </p:spPr>
        <p:txBody>
          <a:bodyPr wrap="square" lIns="0" tIns="0" rIns="0" bIns="0" rtlCol="0" anchor="ctr"/>
          <a:lstStyle/>
          <a:p>
            <a:pPr indent="0" marL="0">
              <a:buNone/>
            </a:pPr>
            <a:r>
              <a:rPr lang="en-US" sz="1150" dirty="0">
                <a:solidFill>
                  <a:srgbClr val="6A6F93"/>
                </a:solidFill>
                <a:latin typeface="Arial" pitchFamily="34" charset="0"/>
                <a:ea typeface="Arial" pitchFamily="34" charset="-122"/>
                <a:cs typeface="Arial" pitchFamily="34" charset="-120"/>
              </a:rPr>
              <a:t>Apple Silicon Mac での実測　—　go run ./cmd/bench -n 20</a:t>
            </a:r>
            <a:endParaRPr lang="en-US" sz="1150" dirty="0"/>
          </a:p>
        </p:txBody>
      </p:sp>
      <p:sp>
        <p:nvSpPr>
          <p:cNvPr id="5" name="Shape 3"/>
          <p:cNvSpPr/>
          <p:nvPr/>
        </p:nvSpPr>
        <p:spPr>
          <a:xfrm>
            <a:off x="640080" y="1737360"/>
            <a:ext cx="2480996" cy="1143000"/>
          </a:xfrm>
          <a:prstGeom prst="roundRect">
            <a:avLst>
              <a:gd name="adj" fmla="val 6400"/>
            </a:avLst>
          </a:prstGeom>
          <a:solidFill>
            <a:srgbClr val="2B2F77"/>
          </a:solidFill>
          <a:ln/>
          <a:effectLst>
            <a:outerShdw sx="100000" sy="100000" kx="0" ky="0" algn="bl" rotWithShape="0" blurRad="127000" dist="19050" dir="5400000">
              <a:srgbClr val="2B2F77">
                <a:alpha val="12000"/>
              </a:srgbClr>
            </a:outerShdw>
          </a:effectLst>
        </p:spPr>
      </p:sp>
      <p:sp>
        <p:nvSpPr>
          <p:cNvPr id="6" name="Text 4"/>
          <p:cNvSpPr txBox="1"/>
          <p:nvPr/>
        </p:nvSpPr>
        <p:spPr>
          <a:xfrm>
            <a:off x="777240" y="1810512"/>
            <a:ext cx="2206676" cy="621792"/>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28,596</a:t>
            </a:r>
            <a:endParaRPr lang="en-US" sz="3200" dirty="0"/>
          </a:p>
        </p:txBody>
      </p:sp>
      <p:sp>
        <p:nvSpPr>
          <p:cNvPr id="7" name="Text 5"/>
          <p:cNvSpPr txBox="1"/>
          <p:nvPr/>
        </p:nvSpPr>
        <p:spPr>
          <a:xfrm>
            <a:off x="777240" y="2414016"/>
            <a:ext cx="2206676" cy="365760"/>
          </a:xfrm>
          <a:prstGeom prst="rect">
            <a:avLst/>
          </a:prstGeom>
          <a:noFill/>
          <a:ln/>
        </p:spPr>
        <p:txBody>
          <a:bodyPr wrap="square" lIns="0" tIns="0" rIns="0" bIns="0" rtlCol="0" anchor="ctr"/>
          <a:lstStyle/>
          <a:p>
            <a:pPr algn="ctr" indent="0" marL="0">
              <a:buNone/>
            </a:pPr>
            <a:r>
              <a:rPr lang="en-US" sz="1100" dirty="0">
                <a:solidFill>
                  <a:srgbClr val="DFE1F1"/>
                </a:solidFill>
                <a:latin typeface="Arial" pitchFamily="34" charset="0"/>
                <a:ea typeface="Arial" pitchFamily="34" charset="-122"/>
                <a:cs typeface="Arial" pitchFamily="34" charset="-120"/>
              </a:rPr>
              <a:t>制約数（Groth16 / BN254）</a:t>
            </a:r>
            <a:endParaRPr lang="en-US" sz="1100" dirty="0"/>
          </a:p>
        </p:txBody>
      </p:sp>
      <p:sp>
        <p:nvSpPr>
          <p:cNvPr id="8" name="Shape 6"/>
          <p:cNvSpPr/>
          <p:nvPr/>
        </p:nvSpPr>
        <p:spPr>
          <a:xfrm>
            <a:off x="3450260" y="1737360"/>
            <a:ext cx="2480996" cy="1143000"/>
          </a:xfrm>
          <a:prstGeom prst="roundRect">
            <a:avLst>
              <a:gd name="adj" fmla="val 6400"/>
            </a:avLst>
          </a:prstGeom>
          <a:solidFill>
            <a:srgbClr val="EDEEF7"/>
          </a:solidFill>
          <a:ln/>
          <a:effectLst>
            <a:outerShdw sx="100000" sy="100000" kx="0" ky="0" algn="bl" rotWithShape="0" blurRad="127000" dist="19050" dir="5400000">
              <a:srgbClr val="2B2F77">
                <a:alpha val="12000"/>
              </a:srgbClr>
            </a:outerShdw>
          </a:effectLst>
        </p:spPr>
      </p:sp>
      <p:sp>
        <p:nvSpPr>
          <p:cNvPr id="9" name="Text 7"/>
          <p:cNvSpPr txBox="1"/>
          <p:nvPr/>
        </p:nvSpPr>
        <p:spPr>
          <a:xfrm>
            <a:off x="3587420" y="1810512"/>
            <a:ext cx="2206676" cy="621792"/>
          </a:xfrm>
          <a:prstGeom prst="rect">
            <a:avLst/>
          </a:prstGeom>
          <a:noFill/>
          <a:ln/>
        </p:spPr>
        <p:txBody>
          <a:bodyPr wrap="square" lIns="0" tIns="0" rIns="0" bIns="0" rtlCol="0" anchor="ctr"/>
          <a:lstStyle/>
          <a:p>
            <a:pPr algn="ctr" indent="0" marL="0">
              <a:buNone/>
            </a:pPr>
            <a:r>
              <a:rPr lang="en-US" sz="3200" b="1" dirty="0">
                <a:solidFill>
                  <a:srgbClr val="2B2F77"/>
                </a:solidFill>
                <a:latin typeface="Arial" pitchFamily="34" charset="0"/>
                <a:ea typeface="Arial" pitchFamily="34" charset="-122"/>
                <a:cs typeface="Arial" pitchFamily="34" charset="-120"/>
              </a:rPr>
              <a:t>55 ms</a:t>
            </a:r>
            <a:endParaRPr lang="en-US" sz="3200" dirty="0"/>
          </a:p>
        </p:txBody>
      </p:sp>
      <p:sp>
        <p:nvSpPr>
          <p:cNvPr id="10" name="Text 8"/>
          <p:cNvSpPr txBox="1"/>
          <p:nvPr/>
        </p:nvSpPr>
        <p:spPr>
          <a:xfrm>
            <a:off x="3587420" y="2414016"/>
            <a:ext cx="2206676" cy="365760"/>
          </a:xfrm>
          <a:prstGeom prst="rect">
            <a:avLst/>
          </a:prstGeom>
          <a:noFill/>
          <a:ln/>
        </p:spPr>
        <p:txBody>
          <a:bodyPr wrap="square" lIns="0" tIns="0" rIns="0" bIns="0" rtlCol="0" anchor="ctr"/>
          <a:lstStyle/>
          <a:p>
            <a:pPr algn="ctr" indent="0" marL="0">
              <a:buNone/>
            </a:pPr>
            <a:r>
              <a:rPr lang="en-US" sz="1100" dirty="0">
                <a:solidFill>
                  <a:srgbClr val="6A6F93"/>
                </a:solidFill>
                <a:latin typeface="Arial" pitchFamily="34" charset="0"/>
                <a:ea typeface="Arial" pitchFamily="34" charset="-122"/>
                <a:cs typeface="Arial" pitchFamily="34" charset="-120"/>
              </a:rPr>
              <a:t>証明の生成（中央値）</a:t>
            </a:r>
            <a:endParaRPr lang="en-US" sz="1100" dirty="0"/>
          </a:p>
        </p:txBody>
      </p:sp>
      <p:sp>
        <p:nvSpPr>
          <p:cNvPr id="11" name="Shape 9"/>
          <p:cNvSpPr/>
          <p:nvPr/>
        </p:nvSpPr>
        <p:spPr>
          <a:xfrm>
            <a:off x="6260440" y="1737360"/>
            <a:ext cx="2480996" cy="1143000"/>
          </a:xfrm>
          <a:prstGeom prst="roundRect">
            <a:avLst>
              <a:gd name="adj" fmla="val 6400"/>
            </a:avLst>
          </a:prstGeom>
          <a:solidFill>
            <a:srgbClr val="EDEEF7"/>
          </a:solidFill>
          <a:ln/>
          <a:effectLst>
            <a:outerShdw sx="100000" sy="100000" kx="0" ky="0" algn="bl" rotWithShape="0" blurRad="127000" dist="19050" dir="5400000">
              <a:srgbClr val="2B2F77">
                <a:alpha val="12000"/>
              </a:srgbClr>
            </a:outerShdw>
          </a:effectLst>
        </p:spPr>
      </p:sp>
      <p:sp>
        <p:nvSpPr>
          <p:cNvPr id="12" name="Text 10"/>
          <p:cNvSpPr txBox="1"/>
          <p:nvPr/>
        </p:nvSpPr>
        <p:spPr>
          <a:xfrm>
            <a:off x="6397600" y="1810512"/>
            <a:ext cx="2206676" cy="621792"/>
          </a:xfrm>
          <a:prstGeom prst="rect">
            <a:avLst/>
          </a:prstGeom>
          <a:noFill/>
          <a:ln/>
        </p:spPr>
        <p:txBody>
          <a:bodyPr wrap="square" lIns="0" tIns="0" rIns="0" bIns="0" rtlCol="0" anchor="ctr"/>
          <a:lstStyle/>
          <a:p>
            <a:pPr algn="ctr" indent="0" marL="0">
              <a:buNone/>
            </a:pPr>
            <a:r>
              <a:rPr lang="en-US" sz="3200" b="1" dirty="0">
                <a:solidFill>
                  <a:srgbClr val="2B2F77"/>
                </a:solidFill>
                <a:latin typeface="Arial" pitchFamily="34" charset="0"/>
                <a:ea typeface="Arial" pitchFamily="34" charset="-122"/>
                <a:cs typeface="Arial" pitchFamily="34" charset="-120"/>
              </a:rPr>
              <a:t>&lt; 1 ms</a:t>
            </a:r>
            <a:endParaRPr lang="en-US" sz="3200" dirty="0"/>
          </a:p>
        </p:txBody>
      </p:sp>
      <p:sp>
        <p:nvSpPr>
          <p:cNvPr id="13" name="Text 11"/>
          <p:cNvSpPr txBox="1"/>
          <p:nvPr/>
        </p:nvSpPr>
        <p:spPr>
          <a:xfrm>
            <a:off x="6397600" y="2414016"/>
            <a:ext cx="2206676" cy="365760"/>
          </a:xfrm>
          <a:prstGeom prst="rect">
            <a:avLst/>
          </a:prstGeom>
          <a:noFill/>
          <a:ln/>
        </p:spPr>
        <p:txBody>
          <a:bodyPr wrap="square" lIns="0" tIns="0" rIns="0" bIns="0" rtlCol="0" anchor="ctr"/>
          <a:lstStyle/>
          <a:p>
            <a:pPr algn="ctr" indent="0" marL="0">
              <a:buNone/>
            </a:pPr>
            <a:r>
              <a:rPr lang="en-US" sz="1100" dirty="0">
                <a:solidFill>
                  <a:srgbClr val="6A6F93"/>
                </a:solidFill>
                <a:latin typeface="Arial" pitchFamily="34" charset="0"/>
                <a:ea typeface="Arial" pitchFamily="34" charset="-122"/>
                <a:cs typeface="Arial" pitchFamily="34" charset="-120"/>
              </a:rPr>
              <a:t>証明の検証</a:t>
            </a:r>
            <a:endParaRPr lang="en-US" sz="1100" dirty="0"/>
          </a:p>
        </p:txBody>
      </p:sp>
      <p:sp>
        <p:nvSpPr>
          <p:cNvPr id="14" name="Shape 12"/>
          <p:cNvSpPr/>
          <p:nvPr/>
        </p:nvSpPr>
        <p:spPr>
          <a:xfrm>
            <a:off x="9070619" y="1737360"/>
            <a:ext cx="2480996" cy="1143000"/>
          </a:xfrm>
          <a:prstGeom prst="roundRect">
            <a:avLst>
              <a:gd name="adj" fmla="val 6400"/>
            </a:avLst>
          </a:prstGeom>
          <a:solidFill>
            <a:srgbClr val="EDEEF7"/>
          </a:solidFill>
          <a:ln/>
          <a:effectLst>
            <a:outerShdw sx="100000" sy="100000" kx="0" ky="0" algn="bl" rotWithShape="0" blurRad="127000" dist="19050" dir="5400000">
              <a:srgbClr val="2B2F77">
                <a:alpha val="12000"/>
              </a:srgbClr>
            </a:outerShdw>
          </a:effectLst>
        </p:spPr>
      </p:sp>
      <p:sp>
        <p:nvSpPr>
          <p:cNvPr id="15" name="Text 13"/>
          <p:cNvSpPr txBox="1"/>
          <p:nvPr/>
        </p:nvSpPr>
        <p:spPr>
          <a:xfrm>
            <a:off x="9207779" y="1810512"/>
            <a:ext cx="2206676" cy="621792"/>
          </a:xfrm>
          <a:prstGeom prst="rect">
            <a:avLst/>
          </a:prstGeom>
          <a:noFill/>
          <a:ln/>
        </p:spPr>
        <p:txBody>
          <a:bodyPr wrap="square" lIns="0" tIns="0" rIns="0" bIns="0" rtlCol="0" anchor="ctr"/>
          <a:lstStyle/>
          <a:p>
            <a:pPr algn="ctr" indent="0" marL="0">
              <a:buNone/>
            </a:pPr>
            <a:r>
              <a:rPr lang="en-US" sz="3200" b="1" dirty="0">
                <a:solidFill>
                  <a:srgbClr val="2B2F77"/>
                </a:solidFill>
                <a:latin typeface="Arial" pitchFamily="34" charset="0"/>
                <a:ea typeface="Arial" pitchFamily="34" charset="-122"/>
                <a:cs typeface="Arial" pitchFamily="34" charset="-120"/>
              </a:rPr>
              <a:t>164 bytes</a:t>
            </a:r>
            <a:endParaRPr lang="en-US" sz="3200" dirty="0"/>
          </a:p>
        </p:txBody>
      </p:sp>
      <p:sp>
        <p:nvSpPr>
          <p:cNvPr id="16" name="Text 14"/>
          <p:cNvSpPr txBox="1"/>
          <p:nvPr/>
        </p:nvSpPr>
        <p:spPr>
          <a:xfrm>
            <a:off x="9207779" y="2414016"/>
            <a:ext cx="2206676" cy="365760"/>
          </a:xfrm>
          <a:prstGeom prst="rect">
            <a:avLst/>
          </a:prstGeom>
          <a:noFill/>
          <a:ln/>
        </p:spPr>
        <p:txBody>
          <a:bodyPr wrap="square" lIns="0" tIns="0" rIns="0" bIns="0" rtlCol="0" anchor="ctr"/>
          <a:lstStyle/>
          <a:p>
            <a:pPr algn="ctr" indent="0" marL="0">
              <a:buNone/>
            </a:pPr>
            <a:r>
              <a:rPr lang="en-US" sz="1100" dirty="0">
                <a:solidFill>
                  <a:srgbClr val="6A6F93"/>
                </a:solidFill>
                <a:latin typeface="Arial" pitchFamily="34" charset="0"/>
                <a:ea typeface="Arial" pitchFamily="34" charset="-122"/>
                <a:cs typeface="Arial" pitchFamily="34" charset="-120"/>
              </a:rPr>
              <a:t>証明のサイズ</a:t>
            </a:r>
            <a:endParaRPr lang="en-US" sz="1100" dirty="0"/>
          </a:p>
        </p:txBody>
      </p:sp>
      <p:graphicFrame>
        <p:nvGraphicFramePr>
          <p:cNvPr id="17" name="Chart 0" descr=""/>
          <p:cNvGraphicFramePr/>
          <p:nvPr/>
        </p:nvGraphicFramePr>
        <p:xfrm>
          <a:off x="640080" y="3108960"/>
          <a:ext cx="5852160" cy="274320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6903720" y="3108960"/>
            <a:ext cx="4647895" cy="2743200"/>
          </a:xfrm>
          <a:prstGeom prst="roundRect">
            <a:avLst>
              <a:gd name="adj" fmla="val 2667"/>
            </a:avLst>
          </a:prstGeom>
          <a:solidFill>
            <a:srgbClr val="EDEEF7"/>
          </a:solidFill>
          <a:ln/>
          <a:effectLst>
            <a:outerShdw sx="100000" sy="100000" kx="0" ky="0" algn="bl" rotWithShape="0" blurRad="127000" dist="19050" dir="5400000">
              <a:srgbClr val="2B2F77">
                <a:alpha val="12000"/>
              </a:srgbClr>
            </a:outerShdw>
          </a:effectLst>
        </p:spPr>
      </p:sp>
      <p:sp>
        <p:nvSpPr>
          <p:cNvPr id="19" name="Text 16"/>
          <p:cNvSpPr txBox="1"/>
          <p:nvPr/>
        </p:nvSpPr>
        <p:spPr>
          <a:xfrm>
            <a:off x="7196328" y="3364992"/>
            <a:ext cx="4062679" cy="365760"/>
          </a:xfrm>
          <a:prstGeom prst="rect">
            <a:avLst/>
          </a:prstGeom>
          <a:noFill/>
          <a:ln/>
        </p:spPr>
        <p:txBody>
          <a:bodyPr wrap="square" lIns="0" tIns="0" rIns="0" bIns="0" rtlCol="0" anchor="ctr"/>
          <a:lstStyle/>
          <a:p>
            <a:pPr indent="0" marL="0">
              <a:buNone/>
            </a:pPr>
            <a:r>
              <a:rPr lang="en-US" sz="1700" b="1" dirty="0">
                <a:solidFill>
                  <a:srgbClr val="2B2F77"/>
                </a:solidFill>
                <a:latin typeface="Arial" pitchFamily="34" charset="0"/>
                <a:ea typeface="Arial" pitchFamily="34" charset="-122"/>
                <a:cs typeface="Arial" pitchFamily="34" charset="-120"/>
              </a:rPr>
              <a:t>何に、いくら払ったか</a:t>
            </a:r>
            <a:endParaRPr lang="en-US" sz="1700" dirty="0"/>
          </a:p>
        </p:txBody>
      </p:sp>
      <p:sp>
        <p:nvSpPr>
          <p:cNvPr id="20" name="Text 17"/>
          <p:cNvSpPr txBox="1"/>
          <p:nvPr/>
        </p:nvSpPr>
        <p:spPr>
          <a:xfrm>
            <a:off x="7196328" y="3840480"/>
            <a:ext cx="4062679" cy="137160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250" dirty="0">
                <a:solidFill>
                  <a:srgbClr val="3A3F63"/>
                </a:solidFill>
                <a:latin typeface="Arial" pitchFamily="34" charset="0"/>
                <a:ea typeface="Arial" pitchFamily="34" charset="-122"/>
                <a:cs typeface="Arial" pitchFamily="34" charset="-120"/>
              </a:rPr>
              <a:t>3,829 / 17 ms — 公開証明書への閾値証明</a:t>
            </a:r>
            <a:endParaRPr lang="en-US" sz="1250" dirty="0"/>
          </a:p>
          <a:p>
            <a:pPr marL="342900" indent="-342900">
              <a:lnSpc>
                <a:spcPts val="1900"/>
              </a:lnSpc>
              <a:spcAft>
                <a:spcPts val="900"/>
              </a:spcAft>
              <a:buSzPct val="100000"/>
              <a:buChar char="•"/>
            </a:pPr>
            <a:r>
              <a:rPr lang="en-US" sz="1250" dirty="0">
                <a:solidFill>
                  <a:srgbClr val="3A3F63"/>
                </a:solidFill>
                <a:latin typeface="Arial" pitchFamily="34" charset="0"/>
                <a:ea typeface="Arial" pitchFamily="34" charset="-122"/>
                <a:cs typeface="Arial" pitchFamily="34" charset="-120"/>
              </a:rPr>
              <a:t>12,570 / 34 ms — Manifest Version Policy を足す</a:t>
            </a:r>
            <a:endParaRPr lang="en-US" sz="1250" dirty="0"/>
          </a:p>
          <a:p>
            <a:pPr marL="342900" indent="-342900">
              <a:lnSpc>
                <a:spcPts val="1900"/>
              </a:lnSpc>
              <a:spcAft>
                <a:spcPts val="900"/>
              </a:spcAft>
              <a:buSzPct val="100000"/>
              <a:buChar char="•"/>
            </a:pPr>
            <a:r>
              <a:rPr lang="en-US" sz="1250" dirty="0">
                <a:solidFill>
                  <a:srgbClr val="3A3F63"/>
                </a:solidFill>
                <a:latin typeface="Arial" pitchFamily="34" charset="0"/>
                <a:ea typeface="Arial" pitchFamily="34" charset="-122"/>
                <a:cs typeface="Arial" pitchFamily="34" charset="-120"/>
              </a:rPr>
              <a:t>28,596 / 55 ms — 証明書ごと隠す</a:t>
            </a:r>
            <a:endParaRPr lang="en-US" sz="1250" dirty="0"/>
          </a:p>
        </p:txBody>
      </p:sp>
      <p:sp>
        <p:nvSpPr>
          <p:cNvPr id="21" name="Text 18"/>
          <p:cNvSpPr txBox="1"/>
          <p:nvPr/>
        </p:nvSpPr>
        <p:spPr>
          <a:xfrm>
            <a:off x="7196328" y="5257800"/>
            <a:ext cx="4062679" cy="457200"/>
          </a:xfrm>
          <a:prstGeom prst="rect">
            <a:avLst/>
          </a:prstGeom>
          <a:noFill/>
          <a:ln/>
        </p:spPr>
        <p:txBody>
          <a:bodyPr wrap="square" lIns="0" tIns="0" rIns="0" bIns="0" rtlCol="0" anchor="ctr"/>
          <a:lstStyle/>
          <a:p>
            <a:pPr indent="0" marL="0">
              <a:lnSpc>
                <a:spcPts val="1700"/>
              </a:lnSpc>
              <a:buNone/>
            </a:pPr>
            <a:r>
              <a:rPr lang="en-US" sz="1150" i="1" dirty="0">
                <a:solidFill>
                  <a:srgbClr val="6A6F93"/>
                </a:solidFill>
                <a:latin typeface="Arial" pitchFamily="34" charset="0"/>
                <a:ea typeface="Arial" pitchFamily="34" charset="-122"/>
                <a:cs typeface="Arial" pitchFamily="34" charset="-120"/>
              </a:rPr>
              <a:t>内訳は署名 2 本が 54%、Version Policy が 24%。</a:t>
            </a:r>
            <a:endParaRPr lang="en-US" sz="1150" dirty="0"/>
          </a:p>
        </p:txBody>
      </p:sp>
      <p:sp>
        <p:nvSpPr>
          <p:cNvPr id="22" name="Text 19"/>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10 ─ 限界</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暗号が守るのはプライバシーで、信頼ではない</a:t>
            </a:r>
            <a:endParaRPr lang="en-US" sz="2900" dirty="0"/>
          </a:p>
        </p:txBody>
      </p:sp>
      <p:sp>
        <p:nvSpPr>
          <p:cNvPr id="4" name="Shape 2"/>
          <p:cNvSpPr/>
          <p:nvPr/>
        </p:nvSpPr>
        <p:spPr>
          <a:xfrm>
            <a:off x="640080" y="1737360"/>
            <a:ext cx="10911535" cy="1051560"/>
          </a:xfrm>
          <a:prstGeom prst="roundRect">
            <a:avLst>
              <a:gd name="adj" fmla="val 6957"/>
            </a:avLst>
          </a:prstGeom>
          <a:solidFill>
            <a:srgbClr val="EDEEF7"/>
          </a:solidFill>
          <a:ln/>
          <a:effectLst>
            <a:outerShdw sx="100000" sy="100000" kx="0" ky="0" algn="bl" rotWithShape="0" blurRad="127000" dist="19050" dir="5400000">
              <a:srgbClr val="2B2F77">
                <a:alpha val="12000"/>
              </a:srgbClr>
            </a:outerShdw>
          </a:effectLst>
        </p:spPr>
      </p:sp>
      <p:sp>
        <p:nvSpPr>
          <p:cNvPr id="5" name="Shape 3"/>
          <p:cNvSpPr/>
          <p:nvPr/>
        </p:nvSpPr>
        <p:spPr>
          <a:xfrm>
            <a:off x="932688" y="2071116"/>
            <a:ext cx="384048" cy="384048"/>
          </a:xfrm>
          <a:prstGeom prst="ellipse">
            <a:avLst/>
          </a:prstGeom>
          <a:solidFill>
            <a:srgbClr val="2B2F77"/>
          </a:solidFill>
          <a:ln/>
        </p:spPr>
      </p:sp>
      <p:sp>
        <p:nvSpPr>
          <p:cNvPr id="6" name="Text 4"/>
          <p:cNvSpPr txBox="1"/>
          <p:nvPr/>
        </p:nvSpPr>
        <p:spPr>
          <a:xfrm>
            <a:off x="932688" y="20711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508760" y="1883664"/>
            <a:ext cx="9722815" cy="347472"/>
          </a:xfrm>
          <a:prstGeom prst="rect">
            <a:avLst/>
          </a:prstGeom>
          <a:noFill/>
          <a:ln/>
        </p:spPr>
        <p:txBody>
          <a:bodyPr wrap="square" lIns="0" tIns="0" rIns="0" bIns="0" rtlCol="0" anchor="ctr"/>
          <a:lstStyle/>
          <a:p>
            <a:pPr indent="0" marL="0">
              <a:buNone/>
            </a:pPr>
            <a:r>
              <a:rPr lang="en-US" sz="1500" b="1" dirty="0">
                <a:solidFill>
                  <a:srgbClr val="2B2F77"/>
                </a:solidFill>
                <a:latin typeface="Arial" pitchFamily="34" charset="0"/>
                <a:ea typeface="Arial" pitchFamily="34" charset="-122"/>
                <a:cs typeface="Arial" pitchFamily="34" charset="-120"/>
              </a:rPr>
              <a:t>信頼は Issuer Registry に依存する</a:t>
            </a:r>
            <a:endParaRPr lang="en-US" sz="1500" dirty="0"/>
          </a:p>
        </p:txBody>
      </p:sp>
      <p:sp>
        <p:nvSpPr>
          <p:cNvPr id="8" name="Text 6"/>
          <p:cNvSpPr txBox="1"/>
          <p:nvPr/>
        </p:nvSpPr>
        <p:spPr>
          <a:xfrm>
            <a:off x="1508760" y="2249424"/>
            <a:ext cx="9722815" cy="502920"/>
          </a:xfrm>
          <a:prstGeom prst="rect">
            <a:avLst/>
          </a:prstGeom>
          <a:noFill/>
          <a:ln/>
        </p:spPr>
        <p:txBody>
          <a:bodyPr wrap="square" lIns="0" tIns="0" rIns="0" bIns="0" rtlCol="0" anchor="ctr"/>
          <a:lstStyle/>
          <a:p>
            <a:pPr indent="0" marL="0">
              <a:lnSpc>
                <a:spcPts val="1800"/>
              </a:lnSpc>
              <a:buNone/>
            </a:pPr>
            <a:r>
              <a:rPr lang="en-US" sz="1250" dirty="0">
                <a:solidFill>
                  <a:srgbClr val="3A3F63"/>
                </a:solidFill>
                <a:latin typeface="Arial" pitchFamily="34" charset="0"/>
                <a:ea typeface="Arial" pitchFamily="34" charset="-122"/>
                <a:cs typeface="Arial" pitchFamily="34" charset="-120"/>
              </a:rPr>
              <a:t>偽レビュー・Sybil・共謀は防げない。Gateway の検査はコストを上げるだけ。</a:t>
            </a:r>
            <a:endParaRPr lang="en-US" sz="1250" dirty="0"/>
          </a:p>
        </p:txBody>
      </p:sp>
      <p:sp>
        <p:nvSpPr>
          <p:cNvPr id="9" name="Shape 7"/>
          <p:cNvSpPr/>
          <p:nvPr/>
        </p:nvSpPr>
        <p:spPr>
          <a:xfrm>
            <a:off x="640080" y="2944368"/>
            <a:ext cx="10911535" cy="1051560"/>
          </a:xfrm>
          <a:prstGeom prst="roundRect">
            <a:avLst>
              <a:gd name="adj" fmla="val 6957"/>
            </a:avLst>
          </a:prstGeom>
          <a:solidFill>
            <a:srgbClr val="EDEEF7"/>
          </a:solidFill>
          <a:ln/>
          <a:effectLst>
            <a:outerShdw sx="100000" sy="100000" kx="0" ky="0" algn="bl" rotWithShape="0" blurRad="127000" dist="19050" dir="5400000">
              <a:srgbClr val="2B2F77">
                <a:alpha val="12000"/>
              </a:srgbClr>
            </a:outerShdw>
          </a:effectLst>
        </p:spPr>
      </p:sp>
      <p:sp>
        <p:nvSpPr>
          <p:cNvPr id="10" name="Shape 8"/>
          <p:cNvSpPr/>
          <p:nvPr/>
        </p:nvSpPr>
        <p:spPr>
          <a:xfrm>
            <a:off x="932688" y="3278124"/>
            <a:ext cx="384048" cy="384048"/>
          </a:xfrm>
          <a:prstGeom prst="ellipse">
            <a:avLst/>
          </a:prstGeom>
          <a:solidFill>
            <a:srgbClr val="2B2F77"/>
          </a:solidFill>
          <a:ln/>
        </p:spPr>
      </p:sp>
      <p:sp>
        <p:nvSpPr>
          <p:cNvPr id="11" name="Text 9"/>
          <p:cNvSpPr txBox="1"/>
          <p:nvPr/>
        </p:nvSpPr>
        <p:spPr>
          <a:xfrm>
            <a:off x="932688" y="32781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1508760" y="3090672"/>
            <a:ext cx="9722815" cy="347472"/>
          </a:xfrm>
          <a:prstGeom prst="rect">
            <a:avLst/>
          </a:prstGeom>
          <a:noFill/>
          <a:ln/>
        </p:spPr>
        <p:txBody>
          <a:bodyPr wrap="square" lIns="0" tIns="0" rIns="0" bIns="0" rtlCol="0" anchor="ctr"/>
          <a:lstStyle/>
          <a:p>
            <a:pPr indent="0" marL="0">
              <a:buNone/>
            </a:pPr>
            <a:r>
              <a:rPr lang="en-US" sz="1500" b="1" dirty="0">
                <a:solidFill>
                  <a:srgbClr val="2B2F77"/>
                </a:solidFill>
                <a:latin typeface="Arial" pitchFamily="34" charset="0"/>
                <a:ea typeface="Arial" pitchFamily="34" charset="-122"/>
                <a:cs typeface="Arial" pitchFamily="34" charset="-120"/>
              </a:rPr>
              <a:t>MPC は現構成では限定的</a:t>
            </a:r>
            <a:endParaRPr lang="en-US" sz="1500" dirty="0"/>
          </a:p>
        </p:txBody>
      </p:sp>
      <p:sp>
        <p:nvSpPr>
          <p:cNvPr id="13" name="Text 11"/>
          <p:cNvSpPr txBox="1"/>
          <p:nvPr/>
        </p:nvSpPr>
        <p:spPr>
          <a:xfrm>
            <a:off x="1508760" y="3456432"/>
            <a:ext cx="9722815" cy="502920"/>
          </a:xfrm>
          <a:prstGeom prst="rect">
            <a:avLst/>
          </a:prstGeom>
          <a:noFill/>
          <a:ln/>
        </p:spPr>
        <p:txBody>
          <a:bodyPr wrap="square" lIns="0" tIns="0" rIns="0" bIns="0" rtlCol="0" anchor="ctr"/>
          <a:lstStyle/>
          <a:p>
            <a:pPr indent="0" marL="0">
              <a:lnSpc>
                <a:spcPts val="1800"/>
              </a:lnSpc>
              <a:buNone/>
            </a:pPr>
            <a:r>
              <a:rPr lang="en-US" sz="1250" dirty="0">
                <a:solidFill>
                  <a:srgbClr val="3A3F63"/>
                </a:solidFill>
                <a:latin typeface="Arial" pitchFamily="34" charset="0"/>
                <a:ea typeface="Arial" pitchFamily="34" charset="-122"/>
                <a:cs typeface="Arial" pitchFamily="34" charset="-120"/>
              </a:rPr>
              <a:t>隠せるのは Committee のノードからで、Gateway からではない。3 ノードは 1 プロセス内。</a:t>
            </a:r>
            <a:endParaRPr lang="en-US" sz="1250" dirty="0"/>
          </a:p>
        </p:txBody>
      </p:sp>
      <p:sp>
        <p:nvSpPr>
          <p:cNvPr id="14" name="Shape 12"/>
          <p:cNvSpPr/>
          <p:nvPr/>
        </p:nvSpPr>
        <p:spPr>
          <a:xfrm>
            <a:off x="640080" y="4151376"/>
            <a:ext cx="10911535" cy="1051560"/>
          </a:xfrm>
          <a:prstGeom prst="roundRect">
            <a:avLst>
              <a:gd name="adj" fmla="val 6957"/>
            </a:avLst>
          </a:prstGeom>
          <a:solidFill>
            <a:srgbClr val="EDEEF7"/>
          </a:solidFill>
          <a:ln/>
          <a:effectLst>
            <a:outerShdw sx="100000" sy="100000" kx="0" ky="0" algn="bl" rotWithShape="0" blurRad="127000" dist="19050" dir="5400000">
              <a:srgbClr val="2B2F77">
                <a:alpha val="12000"/>
              </a:srgbClr>
            </a:outerShdw>
          </a:effectLst>
        </p:spPr>
      </p:sp>
      <p:sp>
        <p:nvSpPr>
          <p:cNvPr id="15" name="Shape 13"/>
          <p:cNvSpPr/>
          <p:nvPr/>
        </p:nvSpPr>
        <p:spPr>
          <a:xfrm>
            <a:off x="932688" y="4485132"/>
            <a:ext cx="384048" cy="384048"/>
          </a:xfrm>
          <a:prstGeom prst="ellipse">
            <a:avLst/>
          </a:prstGeom>
          <a:solidFill>
            <a:srgbClr val="2B2F77"/>
          </a:solidFill>
          <a:ln/>
        </p:spPr>
      </p:sp>
      <p:sp>
        <p:nvSpPr>
          <p:cNvPr id="16" name="Text 14"/>
          <p:cNvSpPr txBox="1"/>
          <p:nvPr/>
        </p:nvSpPr>
        <p:spPr>
          <a:xfrm>
            <a:off x="932688" y="44851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508760" y="4297680"/>
            <a:ext cx="9722815" cy="347472"/>
          </a:xfrm>
          <a:prstGeom prst="rect">
            <a:avLst/>
          </a:prstGeom>
          <a:noFill/>
          <a:ln/>
        </p:spPr>
        <p:txBody>
          <a:bodyPr wrap="square" lIns="0" tIns="0" rIns="0" bIns="0" rtlCol="0" anchor="ctr"/>
          <a:lstStyle/>
          <a:p>
            <a:pPr indent="0" marL="0">
              <a:buNone/>
            </a:pPr>
            <a:r>
              <a:rPr lang="en-US" sz="1500" b="1" dirty="0">
                <a:solidFill>
                  <a:srgbClr val="2B2F77"/>
                </a:solidFill>
                <a:latin typeface="Arial" pitchFamily="34" charset="0"/>
                <a:ea typeface="Arial" pitchFamily="34" charset="-122"/>
                <a:cs typeface="Arial" pitchFamily="34" charset="-120"/>
              </a:rPr>
              <a:t>残る経路は 1 つ — 現在の manifestCommitment は公開</a:t>
            </a:r>
            <a:endParaRPr lang="en-US" sz="1500" dirty="0"/>
          </a:p>
        </p:txBody>
      </p:sp>
      <p:sp>
        <p:nvSpPr>
          <p:cNvPr id="18" name="Text 16"/>
          <p:cNvSpPr txBox="1"/>
          <p:nvPr/>
        </p:nvSpPr>
        <p:spPr>
          <a:xfrm>
            <a:off x="1508760" y="4663440"/>
            <a:ext cx="9722815" cy="502920"/>
          </a:xfrm>
          <a:prstGeom prst="rect">
            <a:avLst/>
          </a:prstGeom>
          <a:noFill/>
          <a:ln/>
        </p:spPr>
        <p:txBody>
          <a:bodyPr wrap="square" lIns="0" tIns="0" rIns="0" bIns="0" rtlCol="0" anchor="ctr"/>
          <a:lstStyle/>
          <a:p>
            <a:pPr indent="0" marL="0">
              <a:lnSpc>
                <a:spcPts val="1800"/>
              </a:lnSpc>
              <a:buNone/>
            </a:pPr>
            <a:r>
              <a:rPr lang="en-US" sz="1250" dirty="0">
                <a:solidFill>
                  <a:srgbClr val="3A3F63"/>
                </a:solidFill>
                <a:latin typeface="Arial" pitchFamily="34" charset="0"/>
                <a:ea typeface="Arial" pitchFamily="34" charset="-122"/>
                <a:cs typeface="Arial" pitchFamily="34" charset="-120"/>
              </a:rPr>
              <a:t>Policy が構成を指定する以上、ハッシュは出る。今あるのは「同じ構成のグループ内での匿名性」。</a:t>
            </a:r>
            <a:endParaRPr lang="en-US" sz="1250" dirty="0"/>
          </a:p>
        </p:txBody>
      </p:sp>
      <p:sp>
        <p:nvSpPr>
          <p:cNvPr id="19" name="Shape 17"/>
          <p:cNvSpPr/>
          <p:nvPr/>
        </p:nvSpPr>
        <p:spPr>
          <a:xfrm>
            <a:off x="640080" y="5504688"/>
            <a:ext cx="10911535" cy="713232"/>
          </a:xfrm>
          <a:prstGeom prst="roundRect">
            <a:avLst>
              <a:gd name="adj" fmla="val 10256"/>
            </a:avLst>
          </a:prstGeom>
          <a:solidFill>
            <a:srgbClr val="E2F3EC"/>
          </a:solidFill>
          <a:ln/>
        </p:spPr>
      </p:sp>
      <p:sp>
        <p:nvSpPr>
          <p:cNvPr id="20" name="Text 18"/>
          <p:cNvSpPr txBox="1"/>
          <p:nvPr/>
        </p:nvSpPr>
        <p:spPr>
          <a:xfrm>
            <a:off x="960120" y="5504688"/>
            <a:ext cx="10271455" cy="713232"/>
          </a:xfrm>
          <a:prstGeom prst="rect">
            <a:avLst/>
          </a:prstGeom>
          <a:noFill/>
          <a:ln/>
        </p:spPr>
        <p:txBody>
          <a:bodyPr wrap="square" lIns="0" tIns="0" rIns="0" bIns="0" rtlCol="0" anchor="ctr"/>
          <a:lstStyle/>
          <a:p>
            <a:pPr indent="0" marL="0">
              <a:buNone/>
            </a:pPr>
            <a:r>
              <a:rPr lang="en-US" sz="1300" b="1" dirty="0">
                <a:solidFill>
                  <a:srgbClr val="00875F"/>
                </a:solidFill>
                <a:latin typeface="Arial" pitchFamily="34" charset="0"/>
                <a:ea typeface="Arial" pitchFamily="34" charset="-122"/>
                <a:cs typeface="Arial" pitchFamily="34" charset="-120"/>
              </a:rPr>
              <a:t>次は Policy を「許可された Manifest 集合への包含」に変えて閉じる。その先は Gateway の不要化。</a:t>
            </a:r>
            <a:endParaRPr lang="en-US" sz="1300" dirty="0"/>
          </a:p>
        </p:txBody>
      </p:sp>
      <p:sp>
        <p:nvSpPr>
          <p:cNvPr id="21" name="Text 19"/>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024"/>
        </a:solidFill>
      </p:bgPr>
    </p:bg>
    <p:spTree>
      <p:nvGrpSpPr>
        <p:cNvPr id="1" name=""/>
        <p:cNvGrpSpPr/>
        <p:nvPr/>
      </p:nvGrpSpPr>
      <p:grpSpPr>
        <a:xfrm>
          <a:off x="0" y="0"/>
          <a:ext cx="0" cy="0"/>
          <a:chOff x="0" y="0"/>
          <a:chExt cx="0" cy="0"/>
        </a:xfrm>
      </p:grpSpPr>
      <p:sp>
        <p:nvSpPr>
          <p:cNvPr id="2" name="Text 0"/>
          <p:cNvSpPr txBox="1"/>
          <p:nvPr/>
        </p:nvSpPr>
        <p:spPr>
          <a:xfrm>
            <a:off x="640080" y="603504"/>
            <a:ext cx="10911535" cy="548640"/>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まとめ</a:t>
            </a:r>
            <a:endParaRPr lang="en-US" sz="2900" dirty="0"/>
          </a:p>
        </p:txBody>
      </p:sp>
      <p:sp>
        <p:nvSpPr>
          <p:cNvPr id="3" name="Shape 1"/>
          <p:cNvSpPr/>
          <p:nvPr/>
        </p:nvSpPr>
        <p:spPr>
          <a:xfrm>
            <a:off x="640080" y="1600200"/>
            <a:ext cx="10911535" cy="603504"/>
          </a:xfrm>
          <a:prstGeom prst="roundRect">
            <a:avLst>
              <a:gd name="adj" fmla="val 12121"/>
            </a:avLst>
          </a:prstGeom>
          <a:solidFill>
            <a:srgbClr val="1B1E3D"/>
          </a:solidFill>
          <a:ln/>
        </p:spPr>
      </p:sp>
      <p:sp>
        <p:nvSpPr>
          <p:cNvPr id="4" name="Shape 2"/>
          <p:cNvSpPr/>
          <p:nvPr/>
        </p:nvSpPr>
        <p:spPr>
          <a:xfrm>
            <a:off x="932688" y="1810512"/>
            <a:ext cx="182880" cy="182880"/>
          </a:xfrm>
          <a:prstGeom prst="ellipse">
            <a:avLst/>
          </a:prstGeom>
          <a:solidFill>
            <a:srgbClr val="00875F"/>
          </a:solidFill>
          <a:ln/>
        </p:spPr>
      </p:sp>
      <p:sp>
        <p:nvSpPr>
          <p:cNvPr id="5" name="Text 3"/>
          <p:cNvSpPr txBox="1"/>
          <p:nvPr/>
        </p:nvSpPr>
        <p:spPr>
          <a:xfrm>
            <a:off x="1298448" y="1600200"/>
            <a:ext cx="9905695" cy="603504"/>
          </a:xfrm>
          <a:prstGeom prst="rect">
            <a:avLst/>
          </a:prstGeom>
          <a:noFill/>
          <a:ln/>
        </p:spPr>
        <p:txBody>
          <a:bodyPr wrap="square" lIns="0" tIns="0" rIns="0" bIns="0" rtlCol="0" anchor="ctr"/>
          <a:lstStyle/>
          <a:p>
            <a:pPr indent="0" marL="0">
              <a:buNone/>
            </a:pPr>
            <a:r>
              <a:rPr lang="en-US" sz="1500" dirty="0">
                <a:solidFill>
                  <a:srgbClr val="DFE1F1"/>
                </a:solidFill>
                <a:latin typeface="Arial" pitchFamily="34" charset="0"/>
                <a:ea typeface="Arial" pitchFamily="34" charset="-122"/>
                <a:cs typeface="Arial" pitchFamily="34" charset="-120"/>
              </a:rPr>
              <a:t>証明書はサービスに渡らない。渡るのは 164 バイトの証明と公開入力 20 個だけ。</a:t>
            </a:r>
            <a:endParaRPr lang="en-US" sz="1500" dirty="0"/>
          </a:p>
        </p:txBody>
      </p:sp>
      <p:sp>
        <p:nvSpPr>
          <p:cNvPr id="6" name="Shape 4"/>
          <p:cNvSpPr/>
          <p:nvPr/>
        </p:nvSpPr>
        <p:spPr>
          <a:xfrm>
            <a:off x="640080" y="2350008"/>
            <a:ext cx="10911535" cy="603504"/>
          </a:xfrm>
          <a:prstGeom prst="roundRect">
            <a:avLst>
              <a:gd name="adj" fmla="val 12121"/>
            </a:avLst>
          </a:prstGeom>
          <a:solidFill>
            <a:srgbClr val="1B1E3D"/>
          </a:solidFill>
          <a:ln/>
        </p:spPr>
      </p:sp>
      <p:sp>
        <p:nvSpPr>
          <p:cNvPr id="7" name="Shape 5"/>
          <p:cNvSpPr/>
          <p:nvPr/>
        </p:nvSpPr>
        <p:spPr>
          <a:xfrm>
            <a:off x="932688" y="2560320"/>
            <a:ext cx="182880" cy="182880"/>
          </a:xfrm>
          <a:prstGeom prst="ellipse">
            <a:avLst/>
          </a:prstGeom>
          <a:solidFill>
            <a:srgbClr val="00875F"/>
          </a:solidFill>
          <a:ln/>
        </p:spPr>
      </p:sp>
      <p:sp>
        <p:nvSpPr>
          <p:cNvPr id="8" name="Text 6"/>
          <p:cNvSpPr txBox="1"/>
          <p:nvPr/>
        </p:nvSpPr>
        <p:spPr>
          <a:xfrm>
            <a:off x="1298448" y="2350008"/>
            <a:ext cx="9905695" cy="603504"/>
          </a:xfrm>
          <a:prstGeom prst="rect">
            <a:avLst/>
          </a:prstGeom>
          <a:noFill/>
          <a:ln/>
        </p:spPr>
        <p:txBody>
          <a:bodyPr wrap="square" lIns="0" tIns="0" rIns="0" bIns="0" rtlCol="0" anchor="ctr"/>
          <a:lstStyle/>
          <a:p>
            <a:pPr indent="0" marL="0">
              <a:buNone/>
            </a:pPr>
            <a:r>
              <a:rPr lang="en-US" sz="1500" dirty="0">
                <a:solidFill>
                  <a:srgbClr val="DFE1F1"/>
                </a:solidFill>
                <a:latin typeface="Arial" pitchFamily="34" charset="0"/>
                <a:ea typeface="Arial" pitchFamily="34" charset="-122"/>
                <a:cs typeface="Arial" pitchFamily="34" charset="-120"/>
              </a:rPr>
              <a:t>サービスが得る Agent 固有の値は、そのサービス専用の nullifier ひとつ。</a:t>
            </a:r>
            <a:endParaRPr lang="en-US" sz="1500" dirty="0"/>
          </a:p>
        </p:txBody>
      </p:sp>
      <p:sp>
        <p:nvSpPr>
          <p:cNvPr id="9" name="Shape 7"/>
          <p:cNvSpPr/>
          <p:nvPr/>
        </p:nvSpPr>
        <p:spPr>
          <a:xfrm>
            <a:off x="640080" y="3099816"/>
            <a:ext cx="10911535" cy="603504"/>
          </a:xfrm>
          <a:prstGeom prst="roundRect">
            <a:avLst>
              <a:gd name="adj" fmla="val 12121"/>
            </a:avLst>
          </a:prstGeom>
          <a:solidFill>
            <a:srgbClr val="1B1E3D"/>
          </a:solidFill>
          <a:ln/>
        </p:spPr>
      </p:sp>
      <p:sp>
        <p:nvSpPr>
          <p:cNvPr id="10" name="Shape 8"/>
          <p:cNvSpPr/>
          <p:nvPr/>
        </p:nvSpPr>
        <p:spPr>
          <a:xfrm>
            <a:off x="932688" y="3310128"/>
            <a:ext cx="182880" cy="182880"/>
          </a:xfrm>
          <a:prstGeom prst="ellipse">
            <a:avLst/>
          </a:prstGeom>
          <a:solidFill>
            <a:srgbClr val="00875F"/>
          </a:solidFill>
          <a:ln/>
        </p:spPr>
      </p:sp>
      <p:sp>
        <p:nvSpPr>
          <p:cNvPr id="11" name="Text 9"/>
          <p:cNvSpPr txBox="1"/>
          <p:nvPr/>
        </p:nvSpPr>
        <p:spPr>
          <a:xfrm>
            <a:off x="1298448" y="3099816"/>
            <a:ext cx="9905695" cy="603504"/>
          </a:xfrm>
          <a:prstGeom prst="rect">
            <a:avLst/>
          </a:prstGeom>
          <a:noFill/>
          <a:ln/>
        </p:spPr>
        <p:txBody>
          <a:bodyPr wrap="square" lIns="0" tIns="0" rIns="0" bIns="0" rtlCol="0" anchor="ctr"/>
          <a:lstStyle/>
          <a:p>
            <a:pPr indent="0" marL="0">
              <a:buNone/>
            </a:pPr>
            <a:r>
              <a:rPr lang="en-US" sz="1500" dirty="0">
                <a:solidFill>
                  <a:srgbClr val="DFE1F1"/>
                </a:solidFill>
                <a:latin typeface="Arial" pitchFamily="34" charset="0"/>
                <a:ea typeface="Arial" pitchFamily="34" charset="-122"/>
                <a:cs typeface="Arial" pitchFamily="34" charset="-120"/>
              </a:rPr>
              <a:t>モデルやプロンプトを差し替えれば、実績は自動的に引き継がれない。</a:t>
            </a:r>
            <a:endParaRPr lang="en-US" sz="1500" dirty="0"/>
          </a:p>
        </p:txBody>
      </p:sp>
      <p:sp>
        <p:nvSpPr>
          <p:cNvPr id="12" name="Text 10"/>
          <p:cNvSpPr txBox="1"/>
          <p:nvPr/>
        </p:nvSpPr>
        <p:spPr>
          <a:xfrm>
            <a:off x="640080" y="4114800"/>
            <a:ext cx="10911535" cy="731520"/>
          </a:xfrm>
          <a:prstGeom prst="rect">
            <a:avLst/>
          </a:prstGeom>
          <a:noFill/>
          <a:ln/>
        </p:spPr>
        <p:txBody>
          <a:bodyPr wrap="square" lIns="0" tIns="0" rIns="0" bIns="0" rtlCol="0" anchor="ctr"/>
          <a:lstStyle/>
          <a:p>
            <a:pPr algn="ctr" indent="0" marL="0">
              <a:buNone/>
            </a:pPr>
            <a:r>
              <a:rPr lang="en-US" sz="2700" b="1" dirty="0">
                <a:solidFill>
                  <a:srgbClr val="00875F"/>
                </a:solidFill>
                <a:latin typeface="Arial" pitchFamily="34" charset="0"/>
                <a:ea typeface="Arial" pitchFamily="34" charset="-122"/>
                <a:cs typeface="Arial" pitchFamily="34" charset="-120"/>
              </a:rPr>
              <a:t>「実績はエージェントではなく、その構成に付く」</a:t>
            </a:r>
            <a:endParaRPr lang="en-US" sz="2700" dirty="0"/>
          </a:p>
        </p:txBody>
      </p:sp>
      <p:sp>
        <p:nvSpPr>
          <p:cNvPr id="13" name="Text 11"/>
          <p:cNvSpPr txBox="1"/>
          <p:nvPr/>
        </p:nvSpPr>
        <p:spPr>
          <a:xfrm>
            <a:off x="640080" y="5074920"/>
            <a:ext cx="10911535" cy="365760"/>
          </a:xfrm>
          <a:prstGeom prst="rect">
            <a:avLst/>
          </a:prstGeom>
          <a:noFill/>
          <a:ln/>
        </p:spPr>
        <p:txBody>
          <a:bodyPr wrap="square" lIns="0" tIns="0" rIns="0" bIns="0" rtlCol="0" anchor="ctr"/>
          <a:lstStyle/>
          <a:p>
            <a:pPr algn="ctr" indent="0" marL="0">
              <a:buNone/>
            </a:pPr>
            <a:r>
              <a:rPr lang="en-US" sz="1500" dirty="0">
                <a:solidFill>
                  <a:srgbClr val="FFFFFF"/>
                </a:solidFill>
                <a:latin typeface="Courier New" pitchFamily="34" charset="0"/>
                <a:ea typeface="Courier New" pitchFamily="34" charset="-122"/>
                <a:cs typeface="Courier New" pitchFamily="34" charset="-120"/>
              </a:rPr>
              <a:t>github.com/da1suk8/zk-agent-passport</a:t>
            </a:r>
            <a:endParaRPr lang="en-US" sz="1500" dirty="0"/>
          </a:p>
        </p:txBody>
      </p:sp>
      <p:sp>
        <p:nvSpPr>
          <p:cNvPr id="14" name="Text 12"/>
          <p:cNvSpPr txBox="1"/>
          <p:nvPr/>
        </p:nvSpPr>
        <p:spPr>
          <a:xfrm>
            <a:off x="640080" y="5468112"/>
            <a:ext cx="10911535" cy="365760"/>
          </a:xfrm>
          <a:prstGeom prst="rect">
            <a:avLst/>
          </a:prstGeom>
          <a:noFill/>
          <a:ln/>
        </p:spPr>
        <p:txBody>
          <a:bodyPr wrap="square" lIns="0" tIns="0" rIns="0" bIns="0" rtlCol="0" anchor="ctr"/>
          <a:lstStyle/>
          <a:p>
            <a:pPr algn="ctr" indent="0" marL="0">
              <a:buNone/>
            </a:pPr>
            <a:r>
              <a:rPr lang="en-US" sz="1200" dirty="0">
                <a:solidFill>
                  <a:srgbClr val="6A6F93"/>
                </a:solidFill>
                <a:latin typeface="Arial" pitchFamily="34" charset="0"/>
                <a:ea typeface="Arial" pitchFamily="34" charset="-122"/>
                <a:cs typeface="Arial" pitchFamily="34" charset="-120"/>
              </a:rPr>
              <a:t>go run ./cmd/web　でブラウザデモ　·　go test ./...　で 27 ケース　·　go run ./cmd/bench　で計測</a:t>
            </a:r>
            <a:endParaRPr lang="en-US" sz="1200" dirty="0"/>
          </a:p>
        </p:txBody>
      </p:sp>
      <p:sp>
        <p:nvSpPr>
          <p:cNvPr id="15" name="Text 13"/>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24"/>
        </a:solidFill>
      </p:bgPr>
    </p:bg>
    <p:spTree>
      <p:nvGrpSpPr>
        <p:cNvPr id="1" name=""/>
        <p:cNvGrpSpPr/>
        <p:nvPr/>
      </p:nvGrpSpPr>
      <p:grpSpPr>
        <a:xfrm>
          <a:off x="0" y="0"/>
          <a:ext cx="0" cy="0"/>
          <a:chOff x="0" y="0"/>
          <a:chExt cx="0" cy="0"/>
        </a:xfrm>
      </p:grpSpPr>
      <p:sp>
        <p:nvSpPr>
          <p:cNvPr id="2" name="Text 0"/>
          <p:cNvSpPr txBox="1"/>
          <p:nvPr/>
        </p:nvSpPr>
        <p:spPr>
          <a:xfrm>
            <a:off x="640080" y="2788920"/>
            <a:ext cx="10911535" cy="365760"/>
          </a:xfrm>
          <a:prstGeom prst="rect">
            <a:avLst/>
          </a:prstGeom>
          <a:noFill/>
          <a:ln/>
        </p:spPr>
        <p:txBody>
          <a:bodyPr wrap="square" lIns="0" tIns="0" rIns="0" bIns="0" rtlCol="0" anchor="ctr"/>
          <a:lstStyle/>
          <a:p>
            <a:pPr algn="ctr" indent="0" marL="0">
              <a:buNone/>
            </a:pPr>
            <a:r>
              <a:rPr lang="en-US" sz="1500" b="1" spc="400" kern="0" dirty="0">
                <a:solidFill>
                  <a:srgbClr val="5257AE"/>
                </a:solidFill>
                <a:latin typeface="Arial" pitchFamily="34" charset="0"/>
                <a:ea typeface="Arial" pitchFamily="34" charset="-122"/>
                <a:cs typeface="Arial" pitchFamily="34" charset="-120"/>
              </a:rPr>
              <a:t>BACKUP</a:t>
            </a:r>
            <a:endParaRPr lang="en-US" sz="1500" dirty="0"/>
          </a:p>
        </p:txBody>
      </p:sp>
      <p:sp>
        <p:nvSpPr>
          <p:cNvPr id="3" name="Text 1"/>
          <p:cNvSpPr txBox="1"/>
          <p:nvPr/>
        </p:nvSpPr>
        <p:spPr>
          <a:xfrm>
            <a:off x="640080" y="3246120"/>
            <a:ext cx="10911535"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質疑用のスライド</a:t>
            </a:r>
            <a:endParaRPr lang="en-US" sz="3400" dirty="0"/>
          </a:p>
        </p:txBody>
      </p:sp>
      <p:sp>
        <p:nvSpPr>
          <p:cNvPr id="4" name="Text 2"/>
          <p:cNvSpPr txBox="1"/>
          <p:nvPr/>
        </p:nvSpPr>
        <p:spPr>
          <a:xfrm>
            <a:off x="640080" y="4069080"/>
            <a:ext cx="10911535" cy="365760"/>
          </a:xfrm>
          <a:prstGeom prst="rect">
            <a:avLst/>
          </a:prstGeom>
          <a:noFill/>
          <a:ln/>
        </p:spPr>
        <p:txBody>
          <a:bodyPr wrap="square" lIns="0" tIns="0" rIns="0" bIns="0" rtlCol="0" anchor="ctr"/>
          <a:lstStyle/>
          <a:p>
            <a:pPr algn="ctr" indent="0" marL="0">
              <a:buNone/>
            </a:pPr>
            <a:r>
              <a:rPr lang="en-US" sz="1400" dirty="0">
                <a:solidFill>
                  <a:srgbClr val="6A6F93"/>
                </a:solidFill>
                <a:latin typeface="Arial" pitchFamily="34" charset="0"/>
                <a:ea typeface="Arial" pitchFamily="34" charset="-122"/>
                <a:cs typeface="Arial" pitchFamily="34" charset="-120"/>
              </a:rPr>
              <a:t>構成の詳細　·　比較表　·　なぜ ZK か　·　制約の内訳　·　信頼の前提　·　メンターの指摘　·　想定問答</a:t>
            </a:r>
            <a:endParaRPr lang="en-US" sz="1400" dirty="0"/>
          </a:p>
        </p:txBody>
      </p:sp>
      <p:sp>
        <p:nvSpPr>
          <p:cNvPr id="5" name="Text 3"/>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構成の詳細 — ステークホルダーと技術スタック</a:t>
            </a:r>
            <a:endParaRPr lang="en-US" sz="2900" dirty="0"/>
          </a:p>
        </p:txBody>
      </p:sp>
      <p:sp>
        <p:nvSpPr>
          <p:cNvPr id="4" name="Shape 2"/>
          <p:cNvSpPr/>
          <p:nvPr/>
        </p:nvSpPr>
        <p:spPr>
          <a:xfrm>
            <a:off x="640080" y="1664208"/>
            <a:ext cx="1828800" cy="2212848"/>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5" name="Shape 3"/>
          <p:cNvSpPr/>
          <p:nvPr/>
        </p:nvSpPr>
        <p:spPr>
          <a:xfrm>
            <a:off x="1130930" y="1889150"/>
            <a:ext cx="353324" cy="344912"/>
          </a:xfrm>
          <a:prstGeom prst="roundRect">
            <a:avLst>
              <a:gd name="adj" fmla="val 6098"/>
            </a:avLst>
          </a:prstGeom>
          <a:solidFill>
            <a:srgbClr val="2B2F77"/>
          </a:solidFill>
          <a:ln/>
        </p:spPr>
      </p:sp>
      <p:sp>
        <p:nvSpPr>
          <p:cNvPr id="6" name="Shape 4"/>
          <p:cNvSpPr/>
          <p:nvPr/>
        </p:nvSpPr>
        <p:spPr>
          <a:xfrm>
            <a:off x="1189817" y="1956450"/>
            <a:ext cx="75712" cy="58887"/>
          </a:xfrm>
          <a:prstGeom prst="rect">
            <a:avLst/>
          </a:prstGeom>
          <a:solidFill>
            <a:srgbClr val="EDEEF7"/>
          </a:solidFill>
          <a:ln/>
        </p:spPr>
      </p:sp>
      <p:sp>
        <p:nvSpPr>
          <p:cNvPr id="7" name="Shape 5"/>
          <p:cNvSpPr/>
          <p:nvPr/>
        </p:nvSpPr>
        <p:spPr>
          <a:xfrm>
            <a:off x="1332829" y="1956450"/>
            <a:ext cx="75712" cy="58887"/>
          </a:xfrm>
          <a:prstGeom prst="rect">
            <a:avLst/>
          </a:prstGeom>
          <a:solidFill>
            <a:srgbClr val="EDEEF7"/>
          </a:solidFill>
          <a:ln/>
        </p:spPr>
      </p:sp>
      <p:sp>
        <p:nvSpPr>
          <p:cNvPr id="8" name="Shape 6"/>
          <p:cNvSpPr/>
          <p:nvPr/>
        </p:nvSpPr>
        <p:spPr>
          <a:xfrm>
            <a:off x="1189817" y="2048988"/>
            <a:ext cx="75712" cy="58887"/>
          </a:xfrm>
          <a:prstGeom prst="rect">
            <a:avLst/>
          </a:prstGeom>
          <a:solidFill>
            <a:srgbClr val="EDEEF7"/>
          </a:solidFill>
          <a:ln/>
        </p:spPr>
      </p:sp>
      <p:sp>
        <p:nvSpPr>
          <p:cNvPr id="9" name="Shape 7"/>
          <p:cNvSpPr/>
          <p:nvPr/>
        </p:nvSpPr>
        <p:spPr>
          <a:xfrm>
            <a:off x="1332829" y="2048988"/>
            <a:ext cx="75712" cy="58887"/>
          </a:xfrm>
          <a:prstGeom prst="rect">
            <a:avLst/>
          </a:prstGeom>
          <a:solidFill>
            <a:srgbClr val="EDEEF7"/>
          </a:solidFill>
          <a:ln/>
        </p:spPr>
      </p:sp>
      <p:sp>
        <p:nvSpPr>
          <p:cNvPr id="10" name="Shape 8"/>
          <p:cNvSpPr/>
          <p:nvPr/>
        </p:nvSpPr>
        <p:spPr>
          <a:xfrm>
            <a:off x="1261323" y="2149937"/>
            <a:ext cx="75712" cy="84125"/>
          </a:xfrm>
          <a:prstGeom prst="rect">
            <a:avLst/>
          </a:prstGeom>
          <a:solidFill>
            <a:srgbClr val="EDEEF7"/>
          </a:solidFill>
          <a:ln/>
        </p:spPr>
      </p:sp>
      <p:sp>
        <p:nvSpPr>
          <p:cNvPr id="11" name="Shape 9"/>
          <p:cNvSpPr/>
          <p:nvPr/>
        </p:nvSpPr>
        <p:spPr>
          <a:xfrm>
            <a:off x="1627632" y="1865376"/>
            <a:ext cx="384048" cy="384048"/>
          </a:xfrm>
          <a:prstGeom prst="ellipse">
            <a:avLst/>
          </a:prstGeom>
          <a:solidFill>
            <a:srgbClr val="2B2F77"/>
          </a:solidFill>
          <a:ln/>
        </p:spPr>
      </p:sp>
      <p:sp>
        <p:nvSpPr>
          <p:cNvPr id="12" name="Text 10"/>
          <p:cNvSpPr txBox="1"/>
          <p:nvPr/>
        </p:nvSpPr>
        <p:spPr>
          <a:xfrm>
            <a:off x="1627632"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Text 11"/>
          <p:cNvSpPr txBox="1"/>
          <p:nvPr/>
        </p:nvSpPr>
        <p:spPr>
          <a:xfrm>
            <a:off x="749808" y="2359152"/>
            <a:ext cx="1609344" cy="420624"/>
          </a:xfrm>
          <a:prstGeom prst="rect">
            <a:avLst/>
          </a:prstGeom>
          <a:noFill/>
          <a:ln/>
        </p:spPr>
        <p:txBody>
          <a:bodyPr wrap="square" lIns="0" tIns="0" rIns="0" bIns="0" rtlCol="0" anchor="ctr"/>
          <a:lstStyle/>
          <a:p>
            <a:pPr algn="ctr" indent="0" marL="0">
              <a:buNone/>
            </a:pPr>
            <a:r>
              <a:rPr lang="en-US" sz="1200" b="1" dirty="0">
                <a:solidFill>
                  <a:srgbClr val="2B2F77"/>
                </a:solidFill>
                <a:latin typeface="Arial" pitchFamily="34" charset="0"/>
                <a:ea typeface="Arial" pitchFamily="34" charset="-122"/>
                <a:cs typeface="Arial" pitchFamily="34" charset="-120"/>
              </a:rPr>
              <a:t>Task Provider</a:t>
            </a:r>
            <a:endParaRPr lang="en-US" sz="1200" dirty="0"/>
          </a:p>
          <a:p>
            <a:pPr algn="ctr" indent="0" marL="0">
              <a:buNone/>
            </a:pPr>
            <a:r>
              <a:rPr lang="en-US" sz="1200" b="1" dirty="0">
                <a:solidFill>
                  <a:srgbClr val="2B2F77"/>
                </a:solidFill>
                <a:latin typeface="Arial" pitchFamily="34" charset="0"/>
                <a:ea typeface="Arial" pitchFamily="34" charset="-122"/>
                <a:cs typeface="Arial" pitchFamily="34" charset="-120"/>
              </a:rPr>
              <a:t>（取引先）</a:t>
            </a:r>
            <a:endParaRPr lang="en-US" sz="1200" dirty="0"/>
          </a:p>
        </p:txBody>
      </p:sp>
      <p:sp>
        <p:nvSpPr>
          <p:cNvPr id="14" name="Text 12"/>
          <p:cNvSpPr txBox="1"/>
          <p:nvPr/>
        </p:nvSpPr>
        <p:spPr>
          <a:xfrm>
            <a:off x="768096" y="2798064"/>
            <a:ext cx="1572768" cy="658368"/>
          </a:xfrm>
          <a:prstGeom prst="rect">
            <a:avLst/>
          </a:prstGeom>
          <a:noFill/>
          <a:ln/>
        </p:spPr>
        <p:txBody>
          <a:bodyPr wrap="square" lIns="0" tIns="0" rIns="0" bIns="0" rtlCol="0" anchor="ctr"/>
          <a:lstStyle/>
          <a:p>
            <a:pPr algn="ctr" indent="0" marL="0">
              <a:lnSpc>
                <a:spcPts val="1400"/>
              </a:lnSpc>
              <a:buNone/>
            </a:pPr>
            <a:r>
              <a:rPr lang="en-US" sz="950" dirty="0">
                <a:solidFill>
                  <a:srgbClr val="3A3F63"/>
                </a:solidFill>
                <a:latin typeface="Arial" pitchFamily="34" charset="0"/>
                <a:ea typeface="Arial" pitchFamily="34" charset="-122"/>
                <a:cs typeface="Arial" pitchFamily="34" charset="-120"/>
              </a:rPr>
              <a:t>仕事を依頼して評価を出した会社。結果に Receipt を発行する。デモでは Provider A・B・C。</a:t>
            </a:r>
            <a:endParaRPr lang="en-US" sz="950" dirty="0"/>
          </a:p>
        </p:txBody>
      </p:sp>
      <p:sp>
        <p:nvSpPr>
          <p:cNvPr id="15" name="Text 13"/>
          <p:cNvSpPr txBox="1"/>
          <p:nvPr/>
        </p:nvSpPr>
        <p:spPr>
          <a:xfrm>
            <a:off x="768096" y="3493008"/>
            <a:ext cx="1572768" cy="292608"/>
          </a:xfrm>
          <a:prstGeom prst="rect">
            <a:avLst/>
          </a:prstGeom>
          <a:noFill/>
          <a:ln/>
        </p:spPr>
        <p:txBody>
          <a:bodyPr wrap="square" lIns="0" tIns="0" rIns="0" bIns="0" rtlCol="0" anchor="ctr"/>
          <a:lstStyle/>
          <a:p>
            <a:pPr algn="ctr" indent="0" marL="0">
              <a:buNone/>
            </a:pPr>
            <a:r>
              <a:rPr lang="en-US" sz="900" b="1" dirty="0">
                <a:solidFill>
                  <a:srgbClr val="6A6F93"/>
                </a:solidFill>
                <a:latin typeface="Arial" pitchFamily="34" charset="0"/>
                <a:ea typeface="Arial" pitchFamily="34" charset="-122"/>
                <a:cs typeface="Arial" pitchFamily="34" charset="-120"/>
              </a:rPr>
              <a:t>Ed25519 署名</a:t>
            </a:r>
            <a:endParaRPr lang="en-US" sz="900" dirty="0"/>
          </a:p>
        </p:txBody>
      </p:sp>
      <p:sp>
        <p:nvSpPr>
          <p:cNvPr id="16" name="Shape 14"/>
          <p:cNvSpPr/>
          <p:nvPr/>
        </p:nvSpPr>
        <p:spPr>
          <a:xfrm>
            <a:off x="2506942" y="2596896"/>
            <a:ext cx="365760" cy="292608"/>
          </a:xfrm>
          <a:prstGeom prst="rightArrow">
            <a:avLst/>
          </a:prstGeom>
          <a:solidFill>
            <a:srgbClr val="5257AE"/>
          </a:solidFill>
          <a:ln/>
        </p:spPr>
      </p:sp>
      <p:sp>
        <p:nvSpPr>
          <p:cNvPr id="17" name="Shape 15"/>
          <p:cNvSpPr/>
          <p:nvPr/>
        </p:nvSpPr>
        <p:spPr>
          <a:xfrm>
            <a:off x="2910764" y="1664208"/>
            <a:ext cx="1828800" cy="2212848"/>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18" name="Shape 16"/>
          <p:cNvSpPr/>
          <p:nvPr/>
        </p:nvSpPr>
        <p:spPr>
          <a:xfrm rot="10800000">
            <a:off x="3384789" y="1889150"/>
            <a:ext cx="386974" cy="218724"/>
          </a:xfrm>
          <a:prstGeom prst="triangle">
            <a:avLst/>
          </a:prstGeom>
          <a:solidFill>
            <a:srgbClr val="2B2F77"/>
          </a:solidFill>
          <a:ln/>
        </p:spPr>
      </p:sp>
      <p:sp>
        <p:nvSpPr>
          <p:cNvPr id="19" name="Shape 17"/>
          <p:cNvSpPr/>
          <p:nvPr/>
        </p:nvSpPr>
        <p:spPr>
          <a:xfrm>
            <a:off x="3548832" y="2091050"/>
            <a:ext cx="58887" cy="134600"/>
          </a:xfrm>
          <a:prstGeom prst="rect">
            <a:avLst/>
          </a:prstGeom>
          <a:solidFill>
            <a:srgbClr val="2B2F77"/>
          </a:solidFill>
          <a:ln/>
        </p:spPr>
      </p:sp>
      <p:sp>
        <p:nvSpPr>
          <p:cNvPr id="20" name="Shape 18"/>
          <p:cNvSpPr/>
          <p:nvPr/>
        </p:nvSpPr>
        <p:spPr>
          <a:xfrm>
            <a:off x="3898316" y="1865376"/>
            <a:ext cx="384048" cy="384048"/>
          </a:xfrm>
          <a:prstGeom prst="ellipse">
            <a:avLst/>
          </a:prstGeom>
          <a:solidFill>
            <a:srgbClr val="2B2F77"/>
          </a:solidFill>
          <a:ln/>
        </p:spPr>
      </p:sp>
      <p:sp>
        <p:nvSpPr>
          <p:cNvPr id="21" name="Text 19"/>
          <p:cNvSpPr txBox="1"/>
          <p:nvPr/>
        </p:nvSpPr>
        <p:spPr>
          <a:xfrm>
            <a:off x="3898316"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2" name="Text 20"/>
          <p:cNvSpPr txBox="1"/>
          <p:nvPr/>
        </p:nvSpPr>
        <p:spPr>
          <a:xfrm>
            <a:off x="3020492" y="2359152"/>
            <a:ext cx="1609344" cy="420624"/>
          </a:xfrm>
          <a:prstGeom prst="rect">
            <a:avLst/>
          </a:prstGeom>
          <a:noFill/>
          <a:ln/>
        </p:spPr>
        <p:txBody>
          <a:bodyPr wrap="square" lIns="0" tIns="0" rIns="0" bIns="0" rtlCol="0" anchor="ctr"/>
          <a:lstStyle/>
          <a:p>
            <a:pPr algn="ctr" indent="0" marL="0">
              <a:buNone/>
            </a:pPr>
            <a:r>
              <a:rPr lang="en-US" sz="1200" b="1" dirty="0">
                <a:solidFill>
                  <a:srgbClr val="2B2F77"/>
                </a:solidFill>
                <a:latin typeface="Arial" pitchFamily="34" charset="0"/>
                <a:ea typeface="Arial" pitchFamily="34" charset="-122"/>
                <a:cs typeface="Arial" pitchFamily="34" charset="-120"/>
              </a:rPr>
              <a:t>Input Gateway</a:t>
            </a:r>
            <a:endParaRPr lang="en-US" sz="1200" dirty="0"/>
          </a:p>
        </p:txBody>
      </p:sp>
      <p:sp>
        <p:nvSpPr>
          <p:cNvPr id="23" name="Text 21"/>
          <p:cNvSpPr txBox="1"/>
          <p:nvPr/>
        </p:nvSpPr>
        <p:spPr>
          <a:xfrm>
            <a:off x="3038780" y="2798064"/>
            <a:ext cx="1572768" cy="658368"/>
          </a:xfrm>
          <a:prstGeom prst="rect">
            <a:avLst/>
          </a:prstGeom>
          <a:noFill/>
          <a:ln/>
        </p:spPr>
        <p:txBody>
          <a:bodyPr wrap="square" lIns="0" tIns="0" rIns="0" bIns="0" rtlCol="0" anchor="ctr"/>
          <a:lstStyle/>
          <a:p>
            <a:pPr algn="ctr" indent="0" marL="0">
              <a:lnSpc>
                <a:spcPts val="1400"/>
              </a:lnSpc>
              <a:buNone/>
            </a:pPr>
            <a:r>
              <a:rPr lang="en-US" sz="950" dirty="0">
                <a:solidFill>
                  <a:srgbClr val="3A3F63"/>
                </a:solidFill>
                <a:latin typeface="Arial" pitchFamily="34" charset="0"/>
                <a:ea typeface="Arial" pitchFamily="34" charset="-122"/>
                <a:cs typeface="Arial" pitchFamily="34" charset="-120"/>
              </a:rPr>
              <a:t>署名・登録・重複・同一発行者・期限・範囲の 6 つを検査し、評価を分割する。</a:t>
            </a:r>
            <a:endParaRPr lang="en-US" sz="950" dirty="0"/>
          </a:p>
        </p:txBody>
      </p:sp>
      <p:sp>
        <p:nvSpPr>
          <p:cNvPr id="24" name="Text 22"/>
          <p:cNvSpPr txBox="1"/>
          <p:nvPr/>
        </p:nvSpPr>
        <p:spPr>
          <a:xfrm>
            <a:off x="3038780" y="3493008"/>
            <a:ext cx="1572768" cy="292608"/>
          </a:xfrm>
          <a:prstGeom prst="rect">
            <a:avLst/>
          </a:prstGeom>
          <a:noFill/>
          <a:ln/>
        </p:spPr>
        <p:txBody>
          <a:bodyPr wrap="square" lIns="0" tIns="0" rIns="0" bIns="0" rtlCol="0" anchor="ctr"/>
          <a:lstStyle/>
          <a:p>
            <a:pPr algn="ctr" indent="0" marL="0">
              <a:buNone/>
            </a:pPr>
            <a:r>
              <a:rPr lang="en-US" sz="900" b="1" dirty="0">
                <a:solidFill>
                  <a:srgbClr val="6A6F93"/>
                </a:solidFill>
                <a:latin typeface="Arial" pitchFamily="34" charset="0"/>
                <a:ea typeface="Arial" pitchFamily="34" charset="-122"/>
                <a:cs typeface="Arial" pitchFamily="34" charset="-120"/>
              </a:rPr>
              <a:t>3 者の加算的秘密分散</a:t>
            </a:r>
            <a:endParaRPr lang="en-US" sz="900" dirty="0"/>
          </a:p>
        </p:txBody>
      </p:sp>
      <p:sp>
        <p:nvSpPr>
          <p:cNvPr id="25" name="Shape 23"/>
          <p:cNvSpPr/>
          <p:nvPr/>
        </p:nvSpPr>
        <p:spPr>
          <a:xfrm>
            <a:off x="4777626" y="2596896"/>
            <a:ext cx="365760" cy="292608"/>
          </a:xfrm>
          <a:prstGeom prst="rightArrow">
            <a:avLst/>
          </a:prstGeom>
          <a:solidFill>
            <a:srgbClr val="5257AE"/>
          </a:solidFill>
          <a:ln/>
        </p:spPr>
      </p:sp>
      <p:sp>
        <p:nvSpPr>
          <p:cNvPr id="26" name="Shape 24"/>
          <p:cNvSpPr/>
          <p:nvPr/>
        </p:nvSpPr>
        <p:spPr>
          <a:xfrm>
            <a:off x="5181448" y="1664208"/>
            <a:ext cx="1828800" cy="2212848"/>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27" name="Shape 25"/>
          <p:cNvSpPr/>
          <p:nvPr/>
        </p:nvSpPr>
        <p:spPr>
          <a:xfrm>
            <a:off x="5722772" y="1964863"/>
            <a:ext cx="252374" cy="25237"/>
          </a:xfrm>
          <a:prstGeom prst="rect">
            <a:avLst/>
          </a:prstGeom>
          <a:solidFill>
            <a:srgbClr val="2B2F77"/>
          </a:solidFill>
          <a:ln/>
        </p:spPr>
      </p:sp>
      <p:sp>
        <p:nvSpPr>
          <p:cNvPr id="28" name="Shape 26"/>
          <p:cNvSpPr/>
          <p:nvPr/>
        </p:nvSpPr>
        <p:spPr>
          <a:xfrm>
            <a:off x="5836341" y="1973275"/>
            <a:ext cx="25237" cy="151425"/>
          </a:xfrm>
          <a:prstGeom prst="rect">
            <a:avLst/>
          </a:prstGeom>
          <a:solidFill>
            <a:srgbClr val="2B2F77"/>
          </a:solidFill>
          <a:ln/>
        </p:spPr>
      </p:sp>
      <p:sp>
        <p:nvSpPr>
          <p:cNvPr id="29" name="Shape 27"/>
          <p:cNvSpPr/>
          <p:nvPr/>
        </p:nvSpPr>
        <p:spPr>
          <a:xfrm>
            <a:off x="5655473" y="1905975"/>
            <a:ext cx="126187" cy="126187"/>
          </a:xfrm>
          <a:prstGeom prst="ellipse">
            <a:avLst/>
          </a:prstGeom>
          <a:solidFill>
            <a:srgbClr val="2B2F77"/>
          </a:solidFill>
          <a:ln/>
        </p:spPr>
      </p:sp>
      <p:sp>
        <p:nvSpPr>
          <p:cNvPr id="30" name="Shape 28"/>
          <p:cNvSpPr/>
          <p:nvPr/>
        </p:nvSpPr>
        <p:spPr>
          <a:xfrm>
            <a:off x="5916259" y="1905975"/>
            <a:ext cx="126187" cy="126187"/>
          </a:xfrm>
          <a:prstGeom prst="ellipse">
            <a:avLst/>
          </a:prstGeom>
          <a:solidFill>
            <a:srgbClr val="2B2F77"/>
          </a:solidFill>
          <a:ln/>
        </p:spPr>
      </p:sp>
      <p:sp>
        <p:nvSpPr>
          <p:cNvPr id="31" name="Shape 29"/>
          <p:cNvSpPr/>
          <p:nvPr/>
        </p:nvSpPr>
        <p:spPr>
          <a:xfrm>
            <a:off x="5785866" y="2107875"/>
            <a:ext cx="126187" cy="126187"/>
          </a:xfrm>
          <a:prstGeom prst="ellipse">
            <a:avLst/>
          </a:prstGeom>
          <a:solidFill>
            <a:srgbClr val="00875F"/>
          </a:solidFill>
          <a:ln/>
        </p:spPr>
      </p:sp>
      <p:sp>
        <p:nvSpPr>
          <p:cNvPr id="32" name="Shape 30"/>
          <p:cNvSpPr/>
          <p:nvPr/>
        </p:nvSpPr>
        <p:spPr>
          <a:xfrm>
            <a:off x="6169000" y="1865376"/>
            <a:ext cx="384048" cy="384048"/>
          </a:xfrm>
          <a:prstGeom prst="ellipse">
            <a:avLst/>
          </a:prstGeom>
          <a:solidFill>
            <a:srgbClr val="2B2F77"/>
          </a:solidFill>
          <a:ln/>
        </p:spPr>
      </p:sp>
      <p:sp>
        <p:nvSpPr>
          <p:cNvPr id="33" name="Text 31"/>
          <p:cNvSpPr txBox="1"/>
          <p:nvPr/>
        </p:nvSpPr>
        <p:spPr>
          <a:xfrm>
            <a:off x="6169000"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4" name="Text 32"/>
          <p:cNvSpPr txBox="1"/>
          <p:nvPr/>
        </p:nvSpPr>
        <p:spPr>
          <a:xfrm>
            <a:off x="5291176" y="2359152"/>
            <a:ext cx="1609344" cy="420624"/>
          </a:xfrm>
          <a:prstGeom prst="rect">
            <a:avLst/>
          </a:prstGeom>
          <a:noFill/>
          <a:ln/>
        </p:spPr>
        <p:txBody>
          <a:bodyPr wrap="square" lIns="0" tIns="0" rIns="0" bIns="0" rtlCol="0" anchor="ctr"/>
          <a:lstStyle/>
          <a:p>
            <a:pPr algn="ctr" indent="0" marL="0">
              <a:buNone/>
            </a:pPr>
            <a:r>
              <a:rPr lang="en-US" sz="1200" b="1" dirty="0">
                <a:solidFill>
                  <a:srgbClr val="2B2F77"/>
                </a:solidFill>
                <a:latin typeface="Arial" pitchFamily="34" charset="0"/>
                <a:ea typeface="Arial" pitchFamily="34" charset="-122"/>
                <a:cs typeface="Arial" pitchFamily="34" charset="-120"/>
              </a:rPr>
              <a:t>Reputation Committee</a:t>
            </a:r>
            <a:endParaRPr lang="en-US" sz="1200" dirty="0"/>
          </a:p>
        </p:txBody>
      </p:sp>
      <p:sp>
        <p:nvSpPr>
          <p:cNvPr id="35" name="Text 33"/>
          <p:cNvSpPr txBox="1"/>
          <p:nvPr/>
        </p:nvSpPr>
        <p:spPr>
          <a:xfrm>
            <a:off x="5309464" y="2798064"/>
            <a:ext cx="1572768" cy="658368"/>
          </a:xfrm>
          <a:prstGeom prst="rect">
            <a:avLst/>
          </a:prstGeom>
          <a:noFill/>
          <a:ln/>
        </p:spPr>
        <p:txBody>
          <a:bodyPr wrap="square" lIns="0" tIns="0" rIns="0" bIns="0" rtlCol="0" anchor="ctr"/>
          <a:lstStyle/>
          <a:p>
            <a:pPr algn="ctr" indent="0" marL="0">
              <a:lnSpc>
                <a:spcPts val="1400"/>
              </a:lnSpc>
              <a:buNone/>
            </a:pPr>
            <a:r>
              <a:rPr lang="en-US" sz="950" dirty="0">
                <a:solidFill>
                  <a:srgbClr val="3A3F63"/>
                </a:solidFill>
                <a:latin typeface="Arial" pitchFamily="34" charset="0"/>
                <a:ea typeface="Arial" pitchFamily="34" charset="-122"/>
                <a:cs typeface="Arial" pitchFamily="34" charset="-120"/>
              </a:rPr>
              <a:t>3 ノードが部分和を出し、2-of-3 で証明書に署名。ノード数は回路の固定値。</a:t>
            </a:r>
            <a:endParaRPr lang="en-US" sz="950" dirty="0"/>
          </a:p>
        </p:txBody>
      </p:sp>
      <p:sp>
        <p:nvSpPr>
          <p:cNvPr id="36" name="Text 34"/>
          <p:cNvSpPr txBox="1"/>
          <p:nvPr/>
        </p:nvSpPr>
        <p:spPr>
          <a:xfrm>
            <a:off x="5309464" y="3493008"/>
            <a:ext cx="1572768" cy="292608"/>
          </a:xfrm>
          <a:prstGeom prst="rect">
            <a:avLst/>
          </a:prstGeom>
          <a:noFill/>
          <a:ln/>
        </p:spPr>
        <p:txBody>
          <a:bodyPr wrap="square" lIns="0" tIns="0" rIns="0" bIns="0" rtlCol="0" anchor="ctr"/>
          <a:lstStyle/>
          <a:p>
            <a:pPr algn="ctr" indent="0" marL="0">
              <a:buNone/>
            </a:pPr>
            <a:r>
              <a:rPr lang="en-US" sz="900" b="1" dirty="0">
                <a:solidFill>
                  <a:srgbClr val="6A6F93"/>
                </a:solidFill>
                <a:latin typeface="Arial" pitchFamily="34" charset="0"/>
                <a:ea typeface="Arial" pitchFamily="34" charset="-122"/>
                <a:cs typeface="Arial" pitchFamily="34" charset="-120"/>
              </a:rPr>
              <a:t>BabyJubJub 上の EdDSA</a:t>
            </a:r>
            <a:endParaRPr lang="en-US" sz="900" dirty="0"/>
          </a:p>
        </p:txBody>
      </p:sp>
      <p:sp>
        <p:nvSpPr>
          <p:cNvPr id="37" name="Shape 35"/>
          <p:cNvSpPr/>
          <p:nvPr/>
        </p:nvSpPr>
        <p:spPr>
          <a:xfrm>
            <a:off x="7048310" y="2596896"/>
            <a:ext cx="365760" cy="292608"/>
          </a:xfrm>
          <a:prstGeom prst="rightArrow">
            <a:avLst/>
          </a:prstGeom>
          <a:solidFill>
            <a:srgbClr val="5257AE"/>
          </a:solidFill>
          <a:ln/>
        </p:spPr>
      </p:sp>
      <p:sp>
        <p:nvSpPr>
          <p:cNvPr id="38" name="Shape 36"/>
          <p:cNvSpPr/>
          <p:nvPr/>
        </p:nvSpPr>
        <p:spPr>
          <a:xfrm>
            <a:off x="7452131" y="1664208"/>
            <a:ext cx="1828800" cy="2212848"/>
          </a:xfrm>
          <a:prstGeom prst="roundRect">
            <a:avLst>
              <a:gd name="adj" fmla="val 4000"/>
            </a:avLst>
          </a:prstGeom>
          <a:solidFill>
            <a:srgbClr val="2B2F77"/>
          </a:solidFill>
          <a:ln/>
          <a:effectLst>
            <a:outerShdw sx="100000" sy="100000" kx="0" ky="0" algn="bl" rotWithShape="0" blurRad="127000" dist="19050" dir="5400000">
              <a:srgbClr val="2B2F77">
                <a:alpha val="12000"/>
              </a:srgbClr>
            </a:outerShdw>
          </a:effectLst>
        </p:spPr>
      </p:sp>
      <p:sp>
        <p:nvSpPr>
          <p:cNvPr id="39" name="Shape 37"/>
          <p:cNvSpPr/>
          <p:nvPr/>
        </p:nvSpPr>
        <p:spPr>
          <a:xfrm>
            <a:off x="8086725" y="1865376"/>
            <a:ext cx="47732" cy="47732"/>
          </a:xfrm>
          <a:prstGeom prst="ellipse">
            <a:avLst/>
          </a:prstGeom>
          <a:solidFill>
            <a:srgbClr val="00875F"/>
          </a:solidFill>
          <a:ln/>
        </p:spPr>
      </p:sp>
      <p:sp>
        <p:nvSpPr>
          <p:cNvPr id="40" name="Shape 38"/>
          <p:cNvSpPr/>
          <p:nvPr/>
        </p:nvSpPr>
        <p:spPr>
          <a:xfrm>
            <a:off x="8103961" y="1905152"/>
            <a:ext cx="13259" cy="53035"/>
          </a:xfrm>
          <a:prstGeom prst="rect">
            <a:avLst/>
          </a:prstGeom>
          <a:solidFill>
            <a:srgbClr val="FFFFFF"/>
          </a:solidFill>
          <a:ln/>
        </p:spPr>
      </p:sp>
      <p:sp>
        <p:nvSpPr>
          <p:cNvPr id="41" name="Shape 39"/>
          <p:cNvSpPr/>
          <p:nvPr/>
        </p:nvSpPr>
        <p:spPr>
          <a:xfrm>
            <a:off x="7932923" y="2019178"/>
            <a:ext cx="29169" cy="68946"/>
          </a:xfrm>
          <a:prstGeom prst="roundRect">
            <a:avLst>
              <a:gd name="adj" fmla="val 94045"/>
            </a:avLst>
          </a:prstGeom>
          <a:solidFill>
            <a:srgbClr val="DFE1F1"/>
          </a:solidFill>
          <a:ln/>
        </p:spPr>
      </p:sp>
      <p:sp>
        <p:nvSpPr>
          <p:cNvPr id="42" name="Shape 40"/>
          <p:cNvSpPr/>
          <p:nvPr/>
        </p:nvSpPr>
        <p:spPr>
          <a:xfrm>
            <a:off x="8256438" y="2019178"/>
            <a:ext cx="29169" cy="68946"/>
          </a:xfrm>
          <a:prstGeom prst="roundRect">
            <a:avLst>
              <a:gd name="adj" fmla="val 94045"/>
            </a:avLst>
          </a:prstGeom>
          <a:solidFill>
            <a:srgbClr val="DFE1F1"/>
          </a:solidFill>
          <a:ln/>
        </p:spPr>
      </p:sp>
      <p:sp>
        <p:nvSpPr>
          <p:cNvPr id="43" name="Shape 41"/>
          <p:cNvSpPr/>
          <p:nvPr/>
        </p:nvSpPr>
        <p:spPr>
          <a:xfrm>
            <a:off x="7959441" y="1952884"/>
            <a:ext cx="296997" cy="233355"/>
          </a:xfrm>
          <a:prstGeom prst="roundRect">
            <a:avLst>
              <a:gd name="adj" fmla="val 15909"/>
            </a:avLst>
          </a:prstGeom>
          <a:solidFill>
            <a:srgbClr val="FFFFFF"/>
          </a:solidFill>
          <a:ln/>
        </p:spPr>
      </p:sp>
      <p:sp>
        <p:nvSpPr>
          <p:cNvPr id="44" name="Shape 42"/>
          <p:cNvSpPr/>
          <p:nvPr/>
        </p:nvSpPr>
        <p:spPr>
          <a:xfrm>
            <a:off x="8028386" y="2016526"/>
            <a:ext cx="45080" cy="45080"/>
          </a:xfrm>
          <a:prstGeom prst="ellipse">
            <a:avLst/>
          </a:prstGeom>
          <a:solidFill>
            <a:srgbClr val="00875F"/>
          </a:solidFill>
          <a:ln/>
        </p:spPr>
      </p:sp>
      <p:sp>
        <p:nvSpPr>
          <p:cNvPr id="45" name="Shape 43"/>
          <p:cNvSpPr/>
          <p:nvPr/>
        </p:nvSpPr>
        <p:spPr>
          <a:xfrm>
            <a:off x="8142412" y="2016526"/>
            <a:ext cx="45080" cy="45080"/>
          </a:xfrm>
          <a:prstGeom prst="ellipse">
            <a:avLst/>
          </a:prstGeom>
          <a:solidFill>
            <a:srgbClr val="00875F"/>
          </a:solidFill>
          <a:ln/>
        </p:spPr>
      </p:sp>
      <p:sp>
        <p:nvSpPr>
          <p:cNvPr id="46" name="Shape 44"/>
          <p:cNvSpPr/>
          <p:nvPr/>
        </p:nvSpPr>
        <p:spPr>
          <a:xfrm>
            <a:off x="8060207" y="2109338"/>
            <a:ext cx="95463" cy="26518"/>
          </a:xfrm>
          <a:prstGeom prst="roundRect">
            <a:avLst>
              <a:gd name="adj" fmla="val 30000"/>
            </a:avLst>
          </a:prstGeom>
          <a:solidFill>
            <a:srgbClr val="2B2F77"/>
          </a:solidFill>
          <a:ln/>
        </p:spPr>
      </p:sp>
      <p:sp>
        <p:nvSpPr>
          <p:cNvPr id="47" name="Shape 45"/>
          <p:cNvSpPr/>
          <p:nvPr/>
        </p:nvSpPr>
        <p:spPr>
          <a:xfrm>
            <a:off x="8092029" y="2186239"/>
            <a:ext cx="31821" cy="26518"/>
          </a:xfrm>
          <a:prstGeom prst="rect">
            <a:avLst/>
          </a:prstGeom>
          <a:solidFill>
            <a:srgbClr val="DFE1F1"/>
          </a:solidFill>
          <a:ln/>
        </p:spPr>
      </p:sp>
      <p:sp>
        <p:nvSpPr>
          <p:cNvPr id="48" name="Shape 46"/>
          <p:cNvSpPr/>
          <p:nvPr/>
        </p:nvSpPr>
        <p:spPr>
          <a:xfrm>
            <a:off x="8007172" y="2210105"/>
            <a:ext cx="201534" cy="100767"/>
          </a:xfrm>
          <a:prstGeom prst="roundRect">
            <a:avLst>
              <a:gd name="adj" fmla="val 26316"/>
            </a:avLst>
          </a:prstGeom>
          <a:solidFill>
            <a:srgbClr val="DFE1F1"/>
          </a:solidFill>
          <a:ln/>
        </p:spPr>
      </p:sp>
      <p:sp>
        <p:nvSpPr>
          <p:cNvPr id="49" name="Shape 47"/>
          <p:cNvSpPr/>
          <p:nvPr/>
        </p:nvSpPr>
        <p:spPr>
          <a:xfrm>
            <a:off x="8439683" y="1865376"/>
            <a:ext cx="384048" cy="384048"/>
          </a:xfrm>
          <a:prstGeom prst="ellipse">
            <a:avLst/>
          </a:prstGeom>
          <a:solidFill>
            <a:srgbClr val="FFFFFF"/>
          </a:solidFill>
          <a:ln/>
        </p:spPr>
      </p:sp>
      <p:sp>
        <p:nvSpPr>
          <p:cNvPr id="50" name="Text 48"/>
          <p:cNvSpPr txBox="1"/>
          <p:nvPr/>
        </p:nvSpPr>
        <p:spPr>
          <a:xfrm>
            <a:off x="8439683" y="1865376"/>
            <a:ext cx="384048" cy="384048"/>
          </a:xfrm>
          <a:prstGeom prst="rect">
            <a:avLst/>
          </a:prstGeom>
          <a:noFill/>
          <a:ln/>
        </p:spPr>
        <p:txBody>
          <a:bodyPr wrap="square" lIns="0" tIns="0" rIns="0" bIns="0" rtlCol="0" anchor="ctr"/>
          <a:lstStyle/>
          <a:p>
            <a:pPr algn="ctr" indent="0" marL="0">
              <a:buNone/>
            </a:pPr>
            <a:r>
              <a:rPr lang="en-US" sz="1400" b="1" dirty="0">
                <a:solidFill>
                  <a:srgbClr val="2B2F77"/>
                </a:solidFill>
                <a:latin typeface="Arial" pitchFamily="34" charset="0"/>
                <a:ea typeface="Arial" pitchFamily="34" charset="-122"/>
                <a:cs typeface="Arial" pitchFamily="34" charset="-120"/>
              </a:rPr>
              <a:t>4</a:t>
            </a:r>
            <a:endParaRPr lang="en-US" sz="1400" dirty="0"/>
          </a:p>
        </p:txBody>
      </p:sp>
      <p:sp>
        <p:nvSpPr>
          <p:cNvPr id="51" name="Text 49"/>
          <p:cNvSpPr txBox="1"/>
          <p:nvPr/>
        </p:nvSpPr>
        <p:spPr>
          <a:xfrm>
            <a:off x="7561859" y="2359152"/>
            <a:ext cx="160934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Agent</a:t>
            </a:r>
            <a:endParaRPr lang="en-US" sz="1200" dirty="0"/>
          </a:p>
        </p:txBody>
      </p:sp>
      <p:sp>
        <p:nvSpPr>
          <p:cNvPr id="52" name="Text 50"/>
          <p:cNvSpPr txBox="1"/>
          <p:nvPr/>
        </p:nvSpPr>
        <p:spPr>
          <a:xfrm>
            <a:off x="7580147" y="2798064"/>
            <a:ext cx="1572768" cy="658368"/>
          </a:xfrm>
          <a:prstGeom prst="rect">
            <a:avLst/>
          </a:prstGeom>
          <a:noFill/>
          <a:ln/>
        </p:spPr>
        <p:txBody>
          <a:bodyPr wrap="square" lIns="0" tIns="0" rIns="0" bIns="0" rtlCol="0" anchor="ctr"/>
          <a:lstStyle/>
          <a:p>
            <a:pPr algn="ctr" indent="0" marL="0">
              <a:lnSpc>
                <a:spcPts val="1400"/>
              </a:lnSpc>
              <a:buNone/>
            </a:pPr>
            <a:r>
              <a:rPr lang="en-US" sz="950" dirty="0">
                <a:solidFill>
                  <a:srgbClr val="DFE1F1"/>
                </a:solidFill>
                <a:latin typeface="Arial" pitchFamily="34" charset="0"/>
                <a:ea typeface="Arial" pitchFamily="34" charset="-122"/>
                <a:cs typeface="Arial" pitchFamily="34" charset="-120"/>
              </a:rPr>
              <a:t>agentSecret と Manifest を持ち、証明書を外に出さずに証明だけを作る。</a:t>
            </a:r>
            <a:endParaRPr lang="en-US" sz="950" dirty="0"/>
          </a:p>
        </p:txBody>
      </p:sp>
      <p:sp>
        <p:nvSpPr>
          <p:cNvPr id="53" name="Text 51"/>
          <p:cNvSpPr txBox="1"/>
          <p:nvPr/>
        </p:nvSpPr>
        <p:spPr>
          <a:xfrm>
            <a:off x="7580147" y="3493008"/>
            <a:ext cx="1572768" cy="292608"/>
          </a:xfrm>
          <a:prstGeom prst="rect">
            <a:avLst/>
          </a:prstGeom>
          <a:noFill/>
          <a:ln/>
        </p:spPr>
        <p:txBody>
          <a:bodyPr wrap="square" lIns="0" tIns="0" rIns="0" bIns="0" rtlCol="0" anchor="ctr"/>
          <a:lstStyle/>
          <a:p>
            <a:pPr algn="ctr" indent="0" marL="0">
              <a:buNone/>
            </a:pPr>
            <a:r>
              <a:rPr lang="en-US" sz="900" b="1" dirty="0">
                <a:solidFill>
                  <a:srgbClr val="00875F"/>
                </a:solidFill>
                <a:latin typeface="Arial" pitchFamily="34" charset="0"/>
                <a:ea typeface="Arial" pitchFamily="34" charset="-122"/>
                <a:cs typeface="Arial" pitchFamily="34" charset="-120"/>
              </a:rPr>
              <a:t>Groth16 / BN254（gnark）</a:t>
            </a:r>
            <a:endParaRPr lang="en-US" sz="900" dirty="0"/>
          </a:p>
        </p:txBody>
      </p:sp>
      <p:sp>
        <p:nvSpPr>
          <p:cNvPr id="54" name="Shape 52"/>
          <p:cNvSpPr/>
          <p:nvPr/>
        </p:nvSpPr>
        <p:spPr>
          <a:xfrm>
            <a:off x="9318993" y="2414016"/>
            <a:ext cx="365760" cy="256032"/>
          </a:xfrm>
          <a:prstGeom prst="leftArrow">
            <a:avLst/>
          </a:prstGeom>
          <a:solidFill>
            <a:srgbClr val="6A6F93"/>
          </a:solidFill>
          <a:ln/>
        </p:spPr>
      </p:sp>
      <p:sp>
        <p:nvSpPr>
          <p:cNvPr id="55" name="Shape 53"/>
          <p:cNvSpPr/>
          <p:nvPr/>
        </p:nvSpPr>
        <p:spPr>
          <a:xfrm>
            <a:off x="9318993" y="2779776"/>
            <a:ext cx="365760" cy="256032"/>
          </a:xfrm>
          <a:prstGeom prst="rightArrow">
            <a:avLst/>
          </a:prstGeom>
          <a:solidFill>
            <a:srgbClr val="00875F"/>
          </a:solidFill>
          <a:ln/>
        </p:spPr>
      </p:sp>
      <p:sp>
        <p:nvSpPr>
          <p:cNvPr id="56" name="Shape 54"/>
          <p:cNvSpPr/>
          <p:nvPr/>
        </p:nvSpPr>
        <p:spPr>
          <a:xfrm>
            <a:off x="9722815" y="1664208"/>
            <a:ext cx="1828800" cy="2212848"/>
          </a:xfrm>
          <a:prstGeom prst="roundRect">
            <a:avLst>
              <a:gd name="adj" fmla="val 4000"/>
            </a:avLst>
          </a:prstGeom>
          <a:solidFill>
            <a:srgbClr val="EDEEF7"/>
          </a:solidFill>
          <a:ln/>
          <a:effectLst>
            <a:outerShdw sx="100000" sy="100000" kx="0" ky="0" algn="bl" rotWithShape="0" blurRad="127000" dist="19050" dir="5400000">
              <a:srgbClr val="2B2F77">
                <a:alpha val="12000"/>
              </a:srgbClr>
            </a:outerShdw>
          </a:effectLst>
        </p:spPr>
      </p:sp>
      <p:sp>
        <p:nvSpPr>
          <p:cNvPr id="57" name="Shape 55"/>
          <p:cNvSpPr/>
          <p:nvPr/>
        </p:nvSpPr>
        <p:spPr>
          <a:xfrm>
            <a:off x="10213665" y="1889150"/>
            <a:ext cx="353324" cy="344912"/>
          </a:xfrm>
          <a:prstGeom prst="roundRect">
            <a:avLst>
              <a:gd name="adj" fmla="val 6098"/>
            </a:avLst>
          </a:prstGeom>
          <a:solidFill>
            <a:srgbClr val="2B2F77"/>
          </a:solidFill>
          <a:ln/>
        </p:spPr>
      </p:sp>
      <p:sp>
        <p:nvSpPr>
          <p:cNvPr id="58" name="Shape 56"/>
          <p:cNvSpPr/>
          <p:nvPr/>
        </p:nvSpPr>
        <p:spPr>
          <a:xfrm>
            <a:off x="10272552" y="1956450"/>
            <a:ext cx="75712" cy="58887"/>
          </a:xfrm>
          <a:prstGeom prst="rect">
            <a:avLst/>
          </a:prstGeom>
          <a:solidFill>
            <a:srgbClr val="EDEEF7"/>
          </a:solidFill>
          <a:ln/>
        </p:spPr>
      </p:sp>
      <p:sp>
        <p:nvSpPr>
          <p:cNvPr id="59" name="Shape 57"/>
          <p:cNvSpPr/>
          <p:nvPr/>
        </p:nvSpPr>
        <p:spPr>
          <a:xfrm>
            <a:off x="10415565" y="1956450"/>
            <a:ext cx="75712" cy="58887"/>
          </a:xfrm>
          <a:prstGeom prst="rect">
            <a:avLst/>
          </a:prstGeom>
          <a:solidFill>
            <a:srgbClr val="EDEEF7"/>
          </a:solidFill>
          <a:ln/>
        </p:spPr>
      </p:sp>
      <p:sp>
        <p:nvSpPr>
          <p:cNvPr id="60" name="Shape 58"/>
          <p:cNvSpPr/>
          <p:nvPr/>
        </p:nvSpPr>
        <p:spPr>
          <a:xfrm>
            <a:off x="10272552" y="2048988"/>
            <a:ext cx="75712" cy="58887"/>
          </a:xfrm>
          <a:prstGeom prst="rect">
            <a:avLst/>
          </a:prstGeom>
          <a:solidFill>
            <a:srgbClr val="EDEEF7"/>
          </a:solidFill>
          <a:ln/>
        </p:spPr>
      </p:sp>
      <p:sp>
        <p:nvSpPr>
          <p:cNvPr id="61" name="Shape 59"/>
          <p:cNvSpPr/>
          <p:nvPr/>
        </p:nvSpPr>
        <p:spPr>
          <a:xfrm>
            <a:off x="10415565" y="2048988"/>
            <a:ext cx="75712" cy="58887"/>
          </a:xfrm>
          <a:prstGeom prst="rect">
            <a:avLst/>
          </a:prstGeom>
          <a:solidFill>
            <a:srgbClr val="EDEEF7"/>
          </a:solidFill>
          <a:ln/>
        </p:spPr>
      </p:sp>
      <p:sp>
        <p:nvSpPr>
          <p:cNvPr id="62" name="Shape 60"/>
          <p:cNvSpPr/>
          <p:nvPr/>
        </p:nvSpPr>
        <p:spPr>
          <a:xfrm>
            <a:off x="10344059" y="2149937"/>
            <a:ext cx="75712" cy="84125"/>
          </a:xfrm>
          <a:prstGeom prst="rect">
            <a:avLst/>
          </a:prstGeom>
          <a:solidFill>
            <a:srgbClr val="EDEEF7"/>
          </a:solidFill>
          <a:ln/>
        </p:spPr>
      </p:sp>
      <p:sp>
        <p:nvSpPr>
          <p:cNvPr id="63" name="Shape 61"/>
          <p:cNvSpPr/>
          <p:nvPr/>
        </p:nvSpPr>
        <p:spPr>
          <a:xfrm>
            <a:off x="10710367" y="1865376"/>
            <a:ext cx="384048" cy="384048"/>
          </a:xfrm>
          <a:prstGeom prst="ellipse">
            <a:avLst/>
          </a:prstGeom>
          <a:solidFill>
            <a:srgbClr val="2B2F77"/>
          </a:solidFill>
          <a:ln/>
        </p:spPr>
      </p:sp>
      <p:sp>
        <p:nvSpPr>
          <p:cNvPr id="64" name="Text 62"/>
          <p:cNvSpPr txBox="1"/>
          <p:nvPr/>
        </p:nvSpPr>
        <p:spPr>
          <a:xfrm>
            <a:off x="10710367"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65" name="Text 63"/>
          <p:cNvSpPr txBox="1"/>
          <p:nvPr/>
        </p:nvSpPr>
        <p:spPr>
          <a:xfrm>
            <a:off x="9832543" y="2359152"/>
            <a:ext cx="1609344" cy="420624"/>
          </a:xfrm>
          <a:prstGeom prst="rect">
            <a:avLst/>
          </a:prstGeom>
          <a:noFill/>
          <a:ln/>
        </p:spPr>
        <p:txBody>
          <a:bodyPr wrap="square" lIns="0" tIns="0" rIns="0" bIns="0" rtlCol="0" anchor="ctr"/>
          <a:lstStyle/>
          <a:p>
            <a:pPr algn="ctr" indent="0" marL="0">
              <a:buNone/>
            </a:pPr>
            <a:r>
              <a:rPr lang="en-US" sz="1200" b="1" dirty="0">
                <a:solidFill>
                  <a:srgbClr val="2B2F77"/>
                </a:solidFill>
                <a:latin typeface="Arial" pitchFamily="34" charset="0"/>
                <a:ea typeface="Arial" pitchFamily="34" charset="-122"/>
                <a:cs typeface="Arial" pitchFamily="34" charset="-120"/>
              </a:rPr>
              <a:t>Service（検証者）</a:t>
            </a:r>
            <a:endParaRPr lang="en-US" sz="1200" dirty="0"/>
          </a:p>
        </p:txBody>
      </p:sp>
      <p:sp>
        <p:nvSpPr>
          <p:cNvPr id="66" name="Text 64"/>
          <p:cNvSpPr txBox="1"/>
          <p:nvPr/>
        </p:nvSpPr>
        <p:spPr>
          <a:xfrm>
            <a:off x="9850831" y="2798064"/>
            <a:ext cx="1572768" cy="658368"/>
          </a:xfrm>
          <a:prstGeom prst="rect">
            <a:avLst/>
          </a:prstGeom>
          <a:noFill/>
          <a:ln/>
        </p:spPr>
        <p:txBody>
          <a:bodyPr wrap="square" lIns="0" tIns="0" rIns="0" bIns="0" rtlCol="0" anchor="ctr"/>
          <a:lstStyle/>
          <a:p>
            <a:pPr algn="ctr" indent="0" marL="0">
              <a:lnSpc>
                <a:spcPts val="1400"/>
              </a:lnSpc>
              <a:buNone/>
            </a:pPr>
            <a:r>
              <a:rPr lang="en-US" sz="950" dirty="0">
                <a:solidFill>
                  <a:srgbClr val="3A3F63"/>
                </a:solidFill>
                <a:latin typeface="Arial" pitchFamily="34" charset="0"/>
                <a:ea typeface="Arial" pitchFamily="34" charset="-122"/>
                <a:cs typeface="Arial" pitchFamily="34" charset="-120"/>
              </a:rPr>
              <a:t>Policy と nonce を発行し、5 つの検査で受理。公開入力は自分で組み立て直す。</a:t>
            </a:r>
            <a:endParaRPr lang="en-US" sz="950" dirty="0"/>
          </a:p>
        </p:txBody>
      </p:sp>
      <p:sp>
        <p:nvSpPr>
          <p:cNvPr id="67" name="Text 65"/>
          <p:cNvSpPr txBox="1"/>
          <p:nvPr/>
        </p:nvSpPr>
        <p:spPr>
          <a:xfrm>
            <a:off x="9850831" y="3493008"/>
            <a:ext cx="1572768" cy="292608"/>
          </a:xfrm>
          <a:prstGeom prst="rect">
            <a:avLst/>
          </a:prstGeom>
          <a:noFill/>
          <a:ln/>
        </p:spPr>
        <p:txBody>
          <a:bodyPr wrap="square" lIns="0" tIns="0" rIns="0" bIns="0" rtlCol="0" anchor="ctr"/>
          <a:lstStyle/>
          <a:p>
            <a:pPr algn="ctr" indent="0" marL="0">
              <a:buNone/>
            </a:pPr>
            <a:r>
              <a:rPr lang="en-US" sz="900" b="1" dirty="0">
                <a:solidFill>
                  <a:srgbClr val="6A6F93"/>
                </a:solidFill>
                <a:latin typeface="Arial" pitchFamily="34" charset="0"/>
                <a:ea typeface="Arial" pitchFamily="34" charset="-122"/>
                <a:cs typeface="Arial" pitchFamily="34" charset="-120"/>
              </a:rPr>
              <a:t>Poseidon2 コミットメント</a:t>
            </a:r>
            <a:endParaRPr lang="en-US" sz="900" dirty="0"/>
          </a:p>
        </p:txBody>
      </p:sp>
      <p:sp>
        <p:nvSpPr>
          <p:cNvPr id="68" name="Shape 66"/>
          <p:cNvSpPr/>
          <p:nvPr/>
        </p:nvSpPr>
        <p:spPr>
          <a:xfrm>
            <a:off x="640080" y="4078224"/>
            <a:ext cx="10911535" cy="749808"/>
          </a:xfrm>
          <a:prstGeom prst="roundRect">
            <a:avLst>
              <a:gd name="adj" fmla="val 9756"/>
            </a:avLst>
          </a:prstGeom>
          <a:solidFill>
            <a:srgbClr val="2B2F77"/>
          </a:solidFill>
          <a:ln/>
          <a:effectLst>
            <a:outerShdw sx="100000" sy="100000" kx="0" ky="0" algn="bl" rotWithShape="0" blurRad="127000" dist="19050" dir="5400000">
              <a:srgbClr val="2B2F77">
                <a:alpha val="12000"/>
              </a:srgbClr>
            </a:outerShdw>
          </a:effectLst>
        </p:spPr>
      </p:sp>
      <p:sp>
        <p:nvSpPr>
          <p:cNvPr id="69" name="Text 67"/>
          <p:cNvSpPr txBox="1"/>
          <p:nvPr/>
        </p:nvSpPr>
        <p:spPr>
          <a:xfrm>
            <a:off x="1005840" y="4078224"/>
            <a:ext cx="10180015" cy="7498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① 署名付き Receipt　→　② 評価の share　→　③ 証明書と開示情報　→　④ Policy と nonce（Service → Agent）　→　⑤ 証明と公開入力 20 個</a:t>
            </a:r>
            <a:endParaRPr lang="en-US" sz="1150" dirty="0"/>
          </a:p>
        </p:txBody>
      </p:sp>
      <p:sp>
        <p:nvSpPr>
          <p:cNvPr id="70" name="Shape 68"/>
          <p:cNvSpPr/>
          <p:nvPr/>
        </p:nvSpPr>
        <p:spPr>
          <a:xfrm>
            <a:off x="640080" y="4983480"/>
            <a:ext cx="10911535" cy="1005840"/>
          </a:xfrm>
          <a:prstGeom prst="roundRect">
            <a:avLst>
              <a:gd name="adj" fmla="val 7273"/>
            </a:avLst>
          </a:prstGeom>
          <a:solidFill>
            <a:srgbClr val="EDEEF7"/>
          </a:solidFill>
          <a:ln/>
        </p:spPr>
      </p:sp>
      <p:sp>
        <p:nvSpPr>
          <p:cNvPr id="71" name="Text 69"/>
          <p:cNvSpPr txBox="1"/>
          <p:nvPr/>
        </p:nvSpPr>
        <p:spPr>
          <a:xfrm>
            <a:off x="1005840" y="4983480"/>
            <a:ext cx="10180015" cy="1005840"/>
          </a:xfrm>
          <a:prstGeom prst="rect">
            <a:avLst/>
          </a:prstGeom>
          <a:noFill/>
          <a:ln/>
        </p:spPr>
        <p:txBody>
          <a:bodyPr wrap="square" lIns="0" tIns="0" rIns="0" bIns="0" rtlCol="0" anchor="ctr"/>
          <a:lstStyle/>
          <a:p>
            <a:pPr indent="0" marL="0">
              <a:lnSpc>
                <a:spcPts val="2200"/>
              </a:lnSpc>
              <a:buNone/>
            </a:pPr>
            <a:r>
              <a:rPr lang="en-US" sz="1200" b="1" dirty="0">
                <a:solidFill>
                  <a:srgbClr val="2B2F77"/>
                </a:solidFill>
              </a:rPr>
              <a:t>証明書は Agent で止まる。⑤ が運ぶのは Groth16 の証明（164 bytes）と公開入力 20 個だけで、証明書・合計点・件数・取引先は含まれない。</a:t>
            </a:r>
            <a:endParaRPr lang="en-US" sz="1200" dirty="0"/>
          </a:p>
          <a:p>
            <a:pPr indent="0" marL="0">
              <a:lnSpc>
                <a:spcPts val="2200"/>
              </a:lnSpc>
              <a:buNone/>
            </a:pPr>
            <a:r>
              <a:rPr lang="en-US" sz="1100" dirty="0">
                <a:solidFill>
                  <a:srgbClr val="3A3F63"/>
                </a:solidFill>
              </a:rPr>
              <a:t>Go 1.25（外部サービス不要）　·　証明系 Groth16 / BN254（gnark）　·　回路内のハッシュとコミットメントは Poseidon2　·　Committee 署名は回路内で検証（チャレンジは MiMC）</a:t>
            </a:r>
            <a:endParaRPr lang="en-US" sz="1200" dirty="0"/>
          </a:p>
        </p:txBody>
      </p:sp>
      <p:sp>
        <p:nvSpPr>
          <p:cNvPr id="72" name="Text 70"/>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既存のやり方と、何が違うのか</a:t>
            </a:r>
            <a:endParaRPr lang="en-US" sz="2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2834640"/>
                <a:gridCol w="1371600"/>
                <a:gridCol w="1554480"/>
                <a:gridCol w="1554480"/>
                <a:gridCol w="1920240"/>
                <a:gridCol w="1676095"/>
              </a:tblGrid>
              <a:tr h="603504">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方式</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偽装耐性</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取引先の秘匿</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合計点の秘匿</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構成変更の扱い</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サービスごとの条件</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r>
              <a:tr h="841248">
                <a:tc>
                  <a:txBody>
                    <a:bodyPr/>
                    <a:lstStyle/>
                    <a:p>
                      <a:pPr algn="l" indent="0" marL="0">
                        <a:buNone/>
                      </a:pPr>
                      <a:r>
                        <a:rPr lang="en-US" sz="1300" b="1" dirty="0">
                          <a:solidFill>
                            <a:srgbClr val="2B2F77"/>
                          </a:solidFill>
                          <a:latin typeface="Arial" pitchFamily="34" charset="0"/>
                          <a:ea typeface="Arial" pitchFamily="34" charset="-122"/>
                          <a:cs typeface="Arial" pitchFamily="34" charset="-120"/>
                        </a:rPr>
                        <a:t>星評価（プラットフォーム）</a:t>
                      </a:r>
                      <a:endParaRPr lang="en-US" sz="13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C0402A"/>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C0402A"/>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C0402A"/>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200" dirty="0">
                          <a:solidFill>
                            <a:srgbClr val="3A3F63"/>
                          </a:solidFill>
                          <a:latin typeface="Arial" pitchFamily="34" charset="0"/>
                          <a:ea typeface="Arial" pitchFamily="34" charset="-122"/>
                          <a:cs typeface="Arial" pitchFamily="34" charset="-120"/>
                        </a:rPr>
                        <a:t>引き継がれる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200" dirty="0">
                          <a:solidFill>
                            <a:srgbClr val="3A3F63"/>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841248">
                <a:tc>
                  <a:txBody>
                    <a:bodyPr/>
                    <a:lstStyle/>
                    <a:p>
                      <a:pPr algn="l" indent="0" marL="0">
                        <a:buNone/>
                      </a:pPr>
                      <a:r>
                        <a:rPr lang="en-US" sz="1300" b="1" dirty="0">
                          <a:solidFill>
                            <a:srgbClr val="2B2F77"/>
                          </a:solidFill>
                          <a:latin typeface="Arial" pitchFamily="34" charset="0"/>
                          <a:ea typeface="Arial" pitchFamily="34" charset="-122"/>
                          <a:cs typeface="Arial" pitchFamily="34" charset="-120"/>
                        </a:rPr>
                        <a:t>署名付きスコアの公開</a:t>
                      </a:r>
                      <a:endParaRPr lang="en-US" sz="13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00875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C0402A"/>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700" b="1" dirty="0">
                          <a:solidFill>
                            <a:srgbClr val="C0402A"/>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200" dirty="0">
                          <a:solidFill>
                            <a:srgbClr val="3A3F63"/>
                          </a:solidFill>
                          <a:latin typeface="Arial" pitchFamily="34" charset="0"/>
                          <a:ea typeface="Arial" pitchFamily="34" charset="-122"/>
                          <a:cs typeface="Arial" pitchFamily="34" charset="-120"/>
                        </a:rPr>
                        <a:t>発行元に再依頼</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ctr" indent="0" marL="0">
                        <a:buNone/>
                      </a:pPr>
                      <a:r>
                        <a:rPr lang="en-US" sz="1200" dirty="0">
                          <a:solidFill>
                            <a:srgbClr val="3A3F63"/>
                          </a:solidFill>
                          <a:latin typeface="Arial" pitchFamily="34" charset="0"/>
                          <a:ea typeface="Arial" pitchFamily="34" charset="-122"/>
                          <a:cs typeface="Arial" pitchFamily="34" charset="-120"/>
                        </a:rPr>
                        <a:t>条件ごとに再発行</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932688">
                <a:tc>
                  <a:txBody>
                    <a:bodyPr/>
                    <a:lstStyle/>
                    <a:p>
                      <a:pPr algn="l" indent="0" marL="0">
                        <a:buNone/>
                      </a:pPr>
                      <a:r>
                        <a:rPr lang="en-US" sz="1300" b="1" dirty="0">
                          <a:solidFill>
                            <a:srgbClr val="2B2F77"/>
                          </a:solidFill>
                          <a:latin typeface="Arial" pitchFamily="34" charset="0"/>
                          <a:ea typeface="Arial" pitchFamily="34" charset="-122"/>
                          <a:cs typeface="Arial" pitchFamily="34" charset="-120"/>
                        </a:rPr>
                        <a:t>zkAgent Passport</a:t>
                      </a:r>
                      <a:endParaRPr lang="en-US" sz="13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c>
                  <a:txBody>
                    <a:bodyPr/>
                    <a:lstStyle/>
                    <a:p>
                      <a:pPr algn="ctr" indent="0" marL="0">
                        <a:buNone/>
                      </a:pPr>
                      <a:r>
                        <a:rPr lang="en-US" sz="1700" b="1" dirty="0">
                          <a:solidFill>
                            <a:srgbClr val="00875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c>
                  <a:txBody>
                    <a:bodyPr/>
                    <a:lstStyle/>
                    <a:p>
                      <a:pPr algn="ctr" indent="0" marL="0">
                        <a:buNone/>
                      </a:pPr>
                      <a:r>
                        <a:rPr lang="en-US" sz="1700" b="1" dirty="0">
                          <a:solidFill>
                            <a:srgbClr val="00875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c>
                  <a:txBody>
                    <a:bodyPr/>
                    <a:lstStyle/>
                    <a:p>
                      <a:pPr algn="ctr" indent="0" marL="0">
                        <a:buNone/>
                      </a:pPr>
                      <a:r>
                        <a:rPr lang="en-US" sz="1700" b="1" dirty="0">
                          <a:solidFill>
                            <a:srgbClr val="00875F"/>
                          </a:solidFill>
                          <a:latin typeface="Arial" pitchFamily="34" charset="0"/>
                          <a:ea typeface="Arial" pitchFamily="34" charset="-122"/>
                          <a:cs typeface="Arial" pitchFamily="34" charset="-120"/>
                        </a:rPr>
                        <a:t>✓</a:t>
                      </a:r>
                      <a:endParaRPr lang="en-US" sz="17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c>
                  <a:txBody>
                    <a:bodyPr/>
                    <a:lstStyle/>
                    <a:p>
                      <a:pPr algn="ctr" indent="0" marL="0">
                        <a:buNone/>
                      </a:pPr>
                      <a:r>
                        <a:rPr lang="en-US" sz="1200" b="1" dirty="0">
                          <a:solidFill>
                            <a:srgbClr val="3A3F63"/>
                          </a:solidFill>
                          <a:latin typeface="Arial" pitchFamily="34" charset="0"/>
                          <a:ea typeface="Arial" pitchFamily="34" charset="-122"/>
                          <a:cs typeface="Arial" pitchFamily="34" charset="-120"/>
                        </a:rPr>
                        <a:t>Policy が範囲を決める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c>
                  <a:txBody>
                    <a:bodyPr/>
                    <a:lstStyle/>
                    <a:p>
                      <a:pPr algn="ctr" indent="0" marL="0">
                        <a:buNone/>
                      </a:pPr>
                      <a:r>
                        <a:rPr lang="en-US" sz="1200" b="1" dirty="0">
                          <a:solidFill>
                            <a:srgbClr val="3A3F63"/>
                          </a:solidFill>
                          <a:latin typeface="Arial" pitchFamily="34" charset="0"/>
                          <a:ea typeface="Arial" pitchFamily="34" charset="-122"/>
                          <a:cs typeface="Arial" pitchFamily="34" charset="-120"/>
                        </a:rPr>
                        <a:t>証明書 1 通で対応</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E1F1"/>
                    </a:solidFill>
                  </a:tcPr>
                </a:tc>
              </a:tr>
            </a:tbl>
          </a:graphicData>
        </a:graphic>
      </p:graphicFrame>
      <p:sp>
        <p:nvSpPr>
          <p:cNvPr id="5" name="Text 2"/>
          <p:cNvSpPr txBox="1"/>
          <p:nvPr/>
        </p:nvSpPr>
        <p:spPr>
          <a:xfrm>
            <a:off x="640080" y="5440680"/>
            <a:ext cx="10911535" cy="365760"/>
          </a:xfrm>
          <a:prstGeom prst="rect">
            <a:avLst/>
          </a:prstGeom>
          <a:noFill/>
          <a:ln/>
        </p:spPr>
        <p:txBody>
          <a:bodyPr wrap="square" lIns="0" tIns="0" rIns="0" bIns="0" rtlCol="0" anchor="ctr"/>
          <a:lstStyle/>
          <a:p>
            <a:pPr indent="0" marL="0">
              <a:buNone/>
            </a:pPr>
            <a:r>
              <a:rPr lang="en-US" sz="1300" i="1" dirty="0">
                <a:solidFill>
                  <a:srgbClr val="2B2F77"/>
                </a:solidFill>
                <a:latin typeface="Arial" pitchFamily="34" charset="0"/>
                <a:ea typeface="Arial" pitchFamily="34" charset="-122"/>
                <a:cs typeface="Arial" pitchFamily="34" charset="-120"/>
              </a:rPr>
              <a:t>解いているのは「偽装をなくすこと」ではなく、偽装耐性を保ったまま何も見せないこと。</a:t>
            </a:r>
            <a:endParaRPr lang="en-US" sz="1300" dirty="0"/>
          </a:p>
        </p:txBody>
      </p:sp>
      <p:sp>
        <p:nvSpPr>
          <p:cNvPr id="6" name="Text 3"/>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なぜ Committee の署名ではなく、ゼロ知識証明なのか</a:t>
            </a:r>
            <a:endParaRPr lang="en-US" sz="2900" dirty="0"/>
          </a:p>
        </p:txBody>
      </p:sp>
      <p:sp>
        <p:nvSpPr>
          <p:cNvPr id="4" name="Shape 2"/>
          <p:cNvSpPr/>
          <p:nvPr/>
        </p:nvSpPr>
        <p:spPr>
          <a:xfrm>
            <a:off x="640080" y="1783080"/>
            <a:ext cx="5250028" cy="3154680"/>
          </a:xfrm>
          <a:prstGeom prst="roundRect">
            <a:avLst>
              <a:gd name="adj" fmla="val 2319"/>
            </a:avLst>
          </a:prstGeom>
          <a:solidFill>
            <a:srgbClr val="FBEAE6"/>
          </a:solidFill>
          <a:ln/>
          <a:effectLst>
            <a:outerShdw sx="100000" sy="100000" kx="0" ky="0" algn="bl" rotWithShape="0" blurRad="127000" dist="19050" dir="5400000">
              <a:srgbClr val="2B2F77">
                <a:alpha val="12000"/>
              </a:srgbClr>
            </a:outerShdw>
          </a:effectLst>
        </p:spPr>
      </p:sp>
      <p:sp>
        <p:nvSpPr>
          <p:cNvPr id="5" name="Text 3"/>
          <p:cNvSpPr txBox="1"/>
          <p:nvPr/>
        </p:nvSpPr>
        <p:spPr>
          <a:xfrm>
            <a:off x="960120" y="2075688"/>
            <a:ext cx="4609948" cy="411480"/>
          </a:xfrm>
          <a:prstGeom prst="rect">
            <a:avLst/>
          </a:prstGeom>
          <a:noFill/>
          <a:ln/>
        </p:spPr>
        <p:txBody>
          <a:bodyPr wrap="square" lIns="0" tIns="0" rIns="0" bIns="0" rtlCol="0" anchor="ctr"/>
          <a:lstStyle/>
          <a:p>
            <a:pPr indent="0" marL="0">
              <a:buNone/>
            </a:pPr>
            <a:r>
              <a:rPr lang="en-US" sz="1600" b="1" dirty="0">
                <a:solidFill>
                  <a:srgbClr val="C0402A"/>
                </a:solidFill>
                <a:latin typeface="Arial" pitchFamily="34" charset="0"/>
                <a:ea typeface="Arial" pitchFamily="34" charset="-122"/>
                <a:cs typeface="Arial" pitchFamily="34" charset="-120"/>
              </a:rPr>
              <a:t>Committee が「12 点以上」と署名したら？</a:t>
            </a:r>
            <a:endParaRPr lang="en-US" sz="1600" dirty="0"/>
          </a:p>
        </p:txBody>
      </p:sp>
      <p:sp>
        <p:nvSpPr>
          <p:cNvPr id="6" name="Text 4"/>
          <p:cNvSpPr txBox="1"/>
          <p:nvPr/>
        </p:nvSpPr>
        <p:spPr>
          <a:xfrm>
            <a:off x="960120" y="2651760"/>
            <a:ext cx="4609948" cy="1828800"/>
          </a:xfrm>
          <a:prstGeom prst="rect">
            <a:avLst/>
          </a:prstGeom>
          <a:noFill/>
          <a:ln/>
        </p:spPr>
        <p:txBody>
          <a:bodyPr wrap="square" lIns="0" tIns="0" rIns="0" bIns="0" rtlCol="0" anchor="ctr"/>
          <a:lstStyle/>
          <a:p>
            <a:pPr marL="342900" indent="-342900">
              <a:lnSpc>
                <a:spcPts val="2400"/>
              </a:lnSpc>
              <a:spcAft>
                <a:spcPts val="1000"/>
              </a:spcAft>
              <a:buSzPct val="100000"/>
              <a:buChar char="•"/>
            </a:pPr>
            <a:r>
              <a:rPr lang="en-US" sz="1400" dirty="0">
                <a:solidFill>
                  <a:srgbClr val="5A2418"/>
                </a:solidFill>
                <a:latin typeface="Arial" pitchFamily="34" charset="0"/>
                <a:ea typeface="Arial" pitchFamily="34" charset="-122"/>
                <a:cs typeface="Arial" pitchFamily="34" charset="-120"/>
              </a:rPr>
              <a:t>閾値も Version Policy も、サービスごとに違う</a:t>
            </a:r>
            <a:endParaRPr lang="en-US" sz="1400" dirty="0"/>
          </a:p>
          <a:p>
            <a:pPr marL="342900" indent="-342900">
              <a:lnSpc>
                <a:spcPts val="2400"/>
              </a:lnSpc>
              <a:spcAft>
                <a:spcPts val="1000"/>
              </a:spcAft>
              <a:buSzPct val="100000"/>
              <a:buChar char="•"/>
            </a:pPr>
            <a:r>
              <a:rPr lang="en-US" sz="1400" dirty="0">
                <a:solidFill>
                  <a:srgbClr val="5A2418"/>
                </a:solidFill>
                <a:latin typeface="Arial" pitchFamily="34" charset="0"/>
                <a:ea typeface="Arial" pitchFamily="34" charset="-122"/>
                <a:cs typeface="Arial" pitchFamily="34" charset="-120"/>
              </a:rPr>
              <a:t>新しい条件が出るたびに Committee へ依頼し直すことになる</a:t>
            </a:r>
            <a:endParaRPr lang="en-US" sz="1400" dirty="0"/>
          </a:p>
          <a:p>
            <a:pPr marL="342900" indent="-342900">
              <a:lnSpc>
                <a:spcPts val="2400"/>
              </a:lnSpc>
              <a:spcAft>
                <a:spcPts val="1000"/>
              </a:spcAft>
              <a:buSzPct val="100000"/>
              <a:buChar char="•"/>
            </a:pPr>
            <a:r>
              <a:rPr lang="en-US" sz="1400" dirty="0">
                <a:solidFill>
                  <a:srgbClr val="5A2418"/>
                </a:solidFill>
                <a:latin typeface="Arial" pitchFamily="34" charset="0"/>
                <a:ea typeface="Arial" pitchFamily="34" charset="-122"/>
                <a:cs typeface="Arial" pitchFamily="34" charset="-120"/>
              </a:rPr>
              <a:t>依頼の履歴そのものが、満たしている閾値を漏らす</a:t>
            </a:r>
            <a:endParaRPr lang="en-US" sz="1400" dirty="0"/>
          </a:p>
        </p:txBody>
      </p:sp>
      <p:sp>
        <p:nvSpPr>
          <p:cNvPr id="7" name="Shape 5"/>
          <p:cNvSpPr/>
          <p:nvPr/>
        </p:nvSpPr>
        <p:spPr>
          <a:xfrm>
            <a:off x="6301588" y="1783080"/>
            <a:ext cx="5250028" cy="3154680"/>
          </a:xfrm>
          <a:prstGeom prst="roundRect">
            <a:avLst>
              <a:gd name="adj" fmla="val 2319"/>
            </a:avLst>
          </a:prstGeom>
          <a:solidFill>
            <a:srgbClr val="E2F3EC"/>
          </a:solidFill>
          <a:ln/>
          <a:effectLst>
            <a:outerShdw sx="100000" sy="100000" kx="0" ky="0" algn="bl" rotWithShape="0" blurRad="127000" dist="19050" dir="5400000">
              <a:srgbClr val="2B2F77">
                <a:alpha val="12000"/>
              </a:srgbClr>
            </a:outerShdw>
          </a:effectLst>
        </p:spPr>
      </p:sp>
      <p:sp>
        <p:nvSpPr>
          <p:cNvPr id="8" name="Text 6"/>
          <p:cNvSpPr txBox="1"/>
          <p:nvPr/>
        </p:nvSpPr>
        <p:spPr>
          <a:xfrm>
            <a:off x="6621628" y="2075688"/>
            <a:ext cx="4609948" cy="411480"/>
          </a:xfrm>
          <a:prstGeom prst="rect">
            <a:avLst/>
          </a:prstGeom>
          <a:noFill/>
          <a:ln/>
        </p:spPr>
        <p:txBody>
          <a:bodyPr wrap="square" lIns="0" tIns="0" rIns="0" bIns="0" rtlCol="0" anchor="ctr"/>
          <a:lstStyle/>
          <a:p>
            <a:pPr indent="0" marL="0">
              <a:buNone/>
            </a:pPr>
            <a:r>
              <a:rPr lang="en-US" sz="1600" b="1" dirty="0">
                <a:solidFill>
                  <a:srgbClr val="00875F"/>
                </a:solidFill>
                <a:latin typeface="Arial" pitchFamily="34" charset="0"/>
                <a:ea typeface="Arial" pitchFamily="34" charset="-122"/>
                <a:cs typeface="Arial" pitchFamily="34" charset="-120"/>
              </a:rPr>
              <a:t>証明にすると</a:t>
            </a:r>
            <a:endParaRPr lang="en-US" sz="1600" dirty="0"/>
          </a:p>
        </p:txBody>
      </p:sp>
      <p:sp>
        <p:nvSpPr>
          <p:cNvPr id="9" name="Text 7"/>
          <p:cNvSpPr txBox="1"/>
          <p:nvPr/>
        </p:nvSpPr>
        <p:spPr>
          <a:xfrm>
            <a:off x="6621628" y="2651760"/>
            <a:ext cx="4609948" cy="1828800"/>
          </a:xfrm>
          <a:prstGeom prst="rect">
            <a:avLst/>
          </a:prstGeom>
          <a:noFill/>
          <a:ln/>
        </p:spPr>
        <p:txBody>
          <a:bodyPr wrap="square" lIns="0" tIns="0" rIns="0" bIns="0" rtlCol="0" anchor="ctr"/>
          <a:lstStyle/>
          <a:p>
            <a:pPr marL="342900" indent="-342900">
              <a:lnSpc>
                <a:spcPts val="2400"/>
              </a:lnSpc>
              <a:spcAft>
                <a:spcPts val="1000"/>
              </a:spcAft>
              <a:buSzPct val="100000"/>
              <a:buChar char="•"/>
            </a:pPr>
            <a:r>
              <a:rPr lang="en-US" sz="1400" dirty="0">
                <a:solidFill>
                  <a:srgbClr val="23483C"/>
                </a:solidFill>
                <a:latin typeface="Arial" pitchFamily="34" charset="0"/>
                <a:ea typeface="Arial" pitchFamily="34" charset="-122"/>
                <a:cs typeface="Arial" pitchFamily="34" charset="-120"/>
              </a:rPr>
              <a:t>証明書 1 通で、どんな Policy にも Committee 抜きで答えられる</a:t>
            </a:r>
            <a:endParaRPr lang="en-US" sz="1400" dirty="0"/>
          </a:p>
          <a:p>
            <a:pPr marL="342900" indent="-342900">
              <a:lnSpc>
                <a:spcPts val="2400"/>
              </a:lnSpc>
              <a:spcAft>
                <a:spcPts val="1000"/>
              </a:spcAft>
              <a:buSzPct val="100000"/>
              <a:buChar char="•"/>
            </a:pPr>
            <a:r>
              <a:rPr lang="en-US" sz="1400" dirty="0">
                <a:solidFill>
                  <a:srgbClr val="23483C"/>
                </a:solidFill>
                <a:latin typeface="Arial" pitchFamily="34" charset="0"/>
                <a:ea typeface="Arial" pitchFamily="34" charset="-122"/>
                <a:cs typeface="Arial" pitchFamily="34" charset="-120"/>
              </a:rPr>
              <a:t>証明は verifierId・nonce・policyHash・期限に束縛される</a:t>
            </a:r>
            <a:endParaRPr lang="en-US" sz="1400" dirty="0"/>
          </a:p>
          <a:p>
            <a:pPr marL="342900" indent="-342900">
              <a:lnSpc>
                <a:spcPts val="2400"/>
              </a:lnSpc>
              <a:spcAft>
                <a:spcPts val="1000"/>
              </a:spcAft>
              <a:buSzPct val="100000"/>
              <a:buChar char="•"/>
            </a:pPr>
            <a:r>
              <a:rPr lang="en-US" sz="1400" dirty="0">
                <a:solidFill>
                  <a:srgbClr val="23483C"/>
                </a:solidFill>
                <a:latin typeface="Arial" pitchFamily="34" charset="0"/>
                <a:ea typeface="Arial" pitchFamily="34" charset="-122"/>
                <a:cs typeface="Arial" pitchFamily="34" charset="-120"/>
              </a:rPr>
              <a:t>他サービスへの転用も、別条件への転用も、再送も落ちる</a:t>
            </a:r>
            <a:endParaRPr lang="en-US" sz="1400" dirty="0"/>
          </a:p>
        </p:txBody>
      </p:sp>
      <p:sp>
        <p:nvSpPr>
          <p:cNvPr id="10" name="Text 8"/>
          <p:cNvSpPr txBox="1"/>
          <p:nvPr/>
        </p:nvSpPr>
        <p:spPr>
          <a:xfrm>
            <a:off x="640080" y="5349240"/>
            <a:ext cx="10911535" cy="365760"/>
          </a:xfrm>
          <a:prstGeom prst="rect">
            <a:avLst/>
          </a:prstGeom>
          <a:noFill/>
          <a:ln/>
        </p:spPr>
        <p:txBody>
          <a:bodyPr wrap="square" lIns="0" tIns="0" rIns="0" bIns="0" rtlCol="0" anchor="ctr"/>
          <a:lstStyle/>
          <a:p>
            <a:pPr indent="0" marL="0">
              <a:buNone/>
            </a:pPr>
            <a:r>
              <a:rPr lang="en-US" sz="1300" i="1" dirty="0">
                <a:solidFill>
                  <a:srgbClr val="2B2F77"/>
                </a:solidFill>
                <a:latin typeface="Arial" pitchFamily="34" charset="0"/>
                <a:ea typeface="Arial" pitchFamily="34" charset="-122"/>
                <a:cs typeface="Arial" pitchFamily="34" charset="-120"/>
              </a:rPr>
              <a:t>「条件がサービスごとに違う」ことが、ZK を必然にしている。</a:t>
            </a:r>
            <a:endParaRPr lang="en-US" sz="1300" dirty="0"/>
          </a:p>
        </p:txBody>
      </p:sp>
      <p:sp>
        <p:nvSpPr>
          <p:cNvPr id="11" name="Text 9"/>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制約 28,596 の内訳</a:t>
            </a:r>
            <a:endParaRPr lang="en-US" sz="2900" dirty="0"/>
          </a:p>
        </p:txBody>
      </p:sp>
      <p:graphicFrame>
        <p:nvGraphicFramePr>
          <p:cNvPr id="4" name="Chart 0" descr=""/>
          <p:cNvGraphicFramePr/>
          <p:nvPr/>
        </p:nvGraphicFramePr>
        <p:xfrm>
          <a:off x="640080" y="1737360"/>
          <a:ext cx="77724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823960" y="1737360"/>
            <a:ext cx="2727655" cy="4206240"/>
          </a:xfrm>
          <a:prstGeom prst="roundRect">
            <a:avLst>
              <a:gd name="adj" fmla="val 2682"/>
            </a:avLst>
          </a:prstGeom>
          <a:solidFill>
            <a:srgbClr val="EDEEF7"/>
          </a:solidFill>
          <a:ln/>
          <a:effectLst>
            <a:outerShdw sx="100000" sy="100000" kx="0" ky="0" algn="bl" rotWithShape="0" blurRad="127000" dist="19050" dir="5400000">
              <a:srgbClr val="2B2F77">
                <a:alpha val="12000"/>
              </a:srgbClr>
            </a:outerShdw>
          </a:effectLst>
        </p:spPr>
      </p:sp>
      <p:sp>
        <p:nvSpPr>
          <p:cNvPr id="6" name="Text 3"/>
          <p:cNvSpPr txBox="1"/>
          <p:nvPr/>
        </p:nvSpPr>
        <p:spPr>
          <a:xfrm>
            <a:off x="9098280" y="1993392"/>
            <a:ext cx="2179015" cy="365760"/>
          </a:xfrm>
          <a:prstGeom prst="rect">
            <a:avLst/>
          </a:prstGeom>
          <a:noFill/>
          <a:ln/>
        </p:spPr>
        <p:txBody>
          <a:bodyPr wrap="square" lIns="0" tIns="0" rIns="0" bIns="0" rtlCol="0" anchor="ctr"/>
          <a:lstStyle/>
          <a:p>
            <a:pPr indent="0" marL="0">
              <a:buNone/>
            </a:pPr>
            <a:r>
              <a:rPr lang="en-US" sz="1600" b="1" dirty="0">
                <a:solidFill>
                  <a:srgbClr val="2B2F77"/>
                </a:solidFill>
                <a:latin typeface="Arial" pitchFamily="34" charset="0"/>
                <a:ea typeface="Arial" pitchFamily="34" charset="-122"/>
                <a:cs typeface="Arial" pitchFamily="34" charset="-120"/>
              </a:rPr>
              <a:t>証明書を隠す代償</a:t>
            </a:r>
            <a:endParaRPr lang="en-US" sz="1600" dirty="0"/>
          </a:p>
        </p:txBody>
      </p:sp>
      <p:sp>
        <p:nvSpPr>
          <p:cNvPr id="7" name="Text 4"/>
          <p:cNvSpPr txBox="1"/>
          <p:nvPr/>
        </p:nvSpPr>
        <p:spPr>
          <a:xfrm>
            <a:off x="9098280" y="2468880"/>
            <a:ext cx="2179015" cy="32004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200" dirty="0">
                <a:solidFill>
                  <a:srgbClr val="3A3F63"/>
                </a:solidFill>
                <a:latin typeface="Arial" pitchFamily="34" charset="0"/>
                <a:ea typeface="Arial" pitchFamily="34" charset="-122"/>
                <a:cs typeface="Arial" pitchFamily="34" charset="-120"/>
              </a:rPr>
              <a:t>Committee 署名の回路内検証だけで 54%。証明書をサービスに渡さないための本体。</a:t>
            </a:r>
            <a:endParaRPr lang="en-US" sz="1200" dirty="0"/>
          </a:p>
          <a:p>
            <a:pPr marL="342900" indent="-342900">
              <a:lnSpc>
                <a:spcPts val="1800"/>
              </a:lnSpc>
              <a:spcAft>
                <a:spcPts val="1000"/>
              </a:spcAft>
              <a:buSzPct val="100000"/>
              <a:buChar char="•"/>
            </a:pPr>
            <a:r>
              <a:rPr lang="en-US" sz="1200" dirty="0">
                <a:solidFill>
                  <a:srgbClr val="3A3F63"/>
                </a:solidFill>
                <a:latin typeface="Arial" pitchFamily="34" charset="0"/>
                <a:ea typeface="Arial" pitchFamily="34" charset="-122"/>
                <a:cs typeface="Arial" pitchFamily="34" charset="-120"/>
              </a:rPr>
              <a:t>Version Policy が 24%。4 項目それぞれに leaf と深さ 4 の Merkle 経路が要る。</a:t>
            </a:r>
            <a:endParaRPr lang="en-US" sz="1200" dirty="0"/>
          </a:p>
          <a:p>
            <a:pPr marL="342900" indent="-342900">
              <a:lnSpc>
                <a:spcPts val="1800"/>
              </a:lnSpc>
              <a:spcAft>
                <a:spcPts val="1000"/>
              </a:spcAft>
              <a:buSzPct val="100000"/>
              <a:buChar char="•"/>
            </a:pPr>
            <a:r>
              <a:rPr lang="en-US" sz="1200" dirty="0">
                <a:solidFill>
                  <a:srgbClr val="3A3F63"/>
                </a:solidFill>
                <a:latin typeface="Arial" pitchFamily="34" charset="0"/>
                <a:ea typeface="Arial" pitchFamily="34" charset="-122"/>
                <a:cs typeface="Arial" pitchFamily="34" charset="-120"/>
              </a:rPr>
              <a:t>残りはハッシュと開示。範囲比較は 297 制約しかない。</a:t>
            </a:r>
            <a:endParaRPr lang="en-US" sz="1200" dirty="0"/>
          </a:p>
          <a:p>
            <a:pPr marL="342900" indent="-342900">
              <a:lnSpc>
                <a:spcPts val="1800"/>
              </a:lnSpc>
              <a:spcAft>
                <a:spcPts val="1000"/>
              </a:spcAft>
              <a:buSzPct val="100000"/>
              <a:buChar char="•"/>
            </a:pPr>
            <a:r>
              <a:rPr lang="en-US" sz="1200" dirty="0">
                <a:solidFill>
                  <a:srgbClr val="3A3F63"/>
                </a:solidFill>
                <a:latin typeface="Arial" pitchFamily="34" charset="0"/>
                <a:ea typeface="Arial" pitchFamily="34" charset="-122"/>
                <a:cs typeface="Arial" pitchFamily="34" charset="-120"/>
              </a:rPr>
              <a:t>公開入力は 20 個。Policy 9・challenge 3・鍵セット ID・公開鍵 3 本（各 2 座標）・nullifier。</a:t>
            </a:r>
            <a:endParaRPr lang="en-US" sz="1200" dirty="0"/>
          </a:p>
        </p:txBody>
      </p:sp>
      <p:sp>
        <p:nvSpPr>
          <p:cNvPr id="8" name="Text 5"/>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信頼の前提と、対象外にしたもの</a:t>
            </a:r>
            <a:endParaRPr lang="en-US" sz="2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914400"/>
        </p:xfrm>
        <a:graphic>
          <a:graphicData uri="http://schemas.openxmlformats.org/drawingml/2006/table">
            <a:tbl>
              <a:tblPr/>
              <a:tblGrid>
                <a:gridCol w="2468880"/>
                <a:gridCol w="3931920"/>
                <a:gridCol w="4510735"/>
              </a:tblGrid>
              <a:tr h="45720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参加者 / 項目</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何を前提にしているか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破られたらどうなるか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B2F77"/>
                    </a:solidFill>
                  </a:tcPr>
                </a:tc>
              </a:tr>
              <a:tr h="658368">
                <a:tc>
                  <a:txBody>
                    <a:bodyPr/>
                    <a:lstStyle/>
                    <a:p>
                      <a:pPr algn="l" indent="0" marL="0">
                        <a:buNone/>
                      </a:pPr>
                      <a:r>
                        <a:rPr lang="en-US" sz="1250" b="1" dirty="0">
                          <a:solidFill>
                            <a:srgbClr val="2B2F77"/>
                          </a:solidFill>
                          <a:latin typeface="Arial" pitchFamily="34" charset="0"/>
                          <a:ea typeface="Arial" pitchFamily="34" charset="-122"/>
                          <a:cs typeface="Arial" pitchFamily="34" charset="-120"/>
                        </a:rPr>
                        <a:t>Issuer Registry</a:t>
                      </a:r>
                      <a:endParaRPr lang="en-US" sz="12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登録済み Provider は正しい評価を出す</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偽レビュー・Sybil・共謀は防げない。Gateway の検査はコストを上げるだけ</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658368">
                <a:tc>
                  <a:txBody>
                    <a:bodyPr/>
                    <a:lstStyle/>
                    <a:p>
                      <a:pPr algn="l" indent="0" marL="0">
                        <a:buNone/>
                      </a:pPr>
                      <a:r>
                        <a:rPr lang="en-US" sz="1250" b="1" dirty="0">
                          <a:solidFill>
                            <a:srgbClr val="2B2F77"/>
                          </a:solidFill>
                          <a:latin typeface="Arial" pitchFamily="34" charset="0"/>
                          <a:ea typeface="Arial" pitchFamily="34" charset="-122"/>
                          <a:cs typeface="Arial" pitchFamily="34" charset="-120"/>
                        </a:rPr>
                        <a:t>Input Gateway</a:t>
                      </a:r>
                      <a:endParaRPr lang="en-US" sz="12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正しく 6 つの検査を行う。平文の評価を見る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Gateway が嘘の評価を通せる。Provider → Committee 直接分散で解消できる</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658368">
                <a:tc>
                  <a:txBody>
                    <a:bodyPr/>
                    <a:lstStyle/>
                    <a:p>
                      <a:pPr algn="l" indent="0" marL="0">
                        <a:buNone/>
                      </a:pPr>
                      <a:r>
                        <a:rPr lang="en-US" sz="1250" b="1" dirty="0">
                          <a:solidFill>
                            <a:srgbClr val="2B2F77"/>
                          </a:solidFill>
                          <a:latin typeface="Arial" pitchFamily="34" charset="0"/>
                          <a:ea typeface="Arial" pitchFamily="34" charset="-122"/>
                          <a:cs typeface="Arial" pitchFamily="34" charset="-120"/>
                        </a:rPr>
                        <a:t>Reputation Committee</a:t>
                      </a:r>
                      <a:endParaRPr lang="en-US" sz="12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semi-honest。3 ノードは 1 プロセス内のシミュレーション</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2 ノード署名は単独発行を防ぐだけ。悪意ある 2 ノードには無力</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658368">
                <a:tc>
                  <a:txBody>
                    <a:bodyPr/>
                    <a:lstStyle/>
                    <a:p>
                      <a:pPr algn="l" indent="0" marL="0">
                        <a:buNone/>
                      </a:pPr>
                      <a:r>
                        <a:rPr lang="en-US" sz="1250" b="1" dirty="0">
                          <a:solidFill>
                            <a:srgbClr val="2B2F77"/>
                          </a:solidFill>
                          <a:latin typeface="Arial" pitchFamily="34" charset="0"/>
                          <a:ea typeface="Arial" pitchFamily="34" charset="-122"/>
                          <a:cs typeface="Arial" pitchFamily="34" charset="-120"/>
                        </a:rPr>
                        <a:t>Manifest</a:t>
                      </a:r>
                      <a:endParaRPr lang="en-US" sz="12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束縛するのは宣言であって、実行ではない</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宣言どおりに動いた保証はない。Remote Attestation / TEE と組み合わせる領域</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r h="658368">
                <a:tc>
                  <a:txBody>
                    <a:bodyPr/>
                    <a:lstStyle/>
                    <a:p>
                      <a:pPr algn="l" indent="0" marL="0">
                        <a:buNone/>
                      </a:pPr>
                      <a:r>
                        <a:rPr lang="en-US" sz="1250" b="1" dirty="0">
                          <a:solidFill>
                            <a:srgbClr val="2B2F77"/>
                          </a:solidFill>
                          <a:latin typeface="Arial" pitchFamily="34" charset="0"/>
                          <a:ea typeface="Arial" pitchFamily="34" charset="-122"/>
                          <a:cs typeface="Arial" pitchFamily="34" charset="-120"/>
                        </a:rPr>
                        <a:t>Groth16 setup</a:t>
                      </a:r>
                      <a:endParaRPr lang="en-US" sz="125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開発専用の単一者セットアップ</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c>
                  <a:txBody>
                    <a:bodyPr/>
                    <a:lstStyle/>
                    <a:p>
                      <a:pPr algn="l" indent="0" marL="0">
                        <a:buNone/>
                      </a:pPr>
                      <a:r>
                        <a:rPr lang="en-US" sz="1200" dirty="0">
                          <a:solidFill>
                            <a:srgbClr val="3A3F63"/>
                          </a:solidFill>
                          <a:latin typeface="Arial" pitchFamily="34" charset="0"/>
                          <a:ea typeface="Arial" pitchFamily="34" charset="-122"/>
                          <a:cs typeface="Arial" pitchFamily="34" charset="-120"/>
                        </a:rPr>
                        <a:t>本番には MPC ceremony が要る。失効機構と真の閾値署名も未実装</a:t>
                      </a:r>
                      <a:endParaRPr lang="en-US" sz="1200" dirty="0">
                        <a:latin typeface="Arial" charset="0"/>
                        <a:ea typeface="Arial" charset="0"/>
                        <a:cs typeface="Arial"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EF7"/>
                    </a:solidFill>
                  </a:tcPr>
                </a:tc>
              </a:tr>
            </a:tbl>
          </a:graphicData>
        </a:graphic>
      </p:graphicFrame>
      <p:sp>
        <p:nvSpPr>
          <p:cNvPr id="5" name="Text 2"/>
          <p:cNvSpPr txBox="1"/>
          <p:nvPr/>
        </p:nvSpPr>
        <p:spPr>
          <a:xfrm>
            <a:off x="640080" y="5577840"/>
            <a:ext cx="10911535" cy="365760"/>
          </a:xfrm>
          <a:prstGeom prst="rect">
            <a:avLst/>
          </a:prstGeom>
          <a:noFill/>
          <a:ln/>
        </p:spPr>
        <p:txBody>
          <a:bodyPr wrap="square" lIns="0" tIns="0" rIns="0" bIns="0" rtlCol="0" anchor="ctr"/>
          <a:lstStyle/>
          <a:p>
            <a:pPr indent="0" marL="0">
              <a:buNone/>
            </a:pPr>
            <a:r>
              <a:rPr lang="en-US" sz="1300" i="1" dirty="0">
                <a:solidFill>
                  <a:srgbClr val="2B2F77"/>
                </a:solidFill>
                <a:latin typeface="Arial" pitchFamily="34" charset="0"/>
                <a:ea typeface="Arial" pitchFamily="34" charset="-122"/>
                <a:cs typeface="Arial" pitchFamily="34" charset="-120"/>
              </a:rPr>
              <a:t>暗号が守っているのはプライバシーであって、信頼そのものではない。</a:t>
            </a:r>
            <a:endParaRPr lang="en-US" sz="1300" dirty="0"/>
          </a:p>
        </p:txBody>
      </p:sp>
      <p:sp>
        <p:nvSpPr>
          <p:cNvPr id="6" name="Text 3"/>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メンターからの指摘と、その回答</a:t>
            </a:r>
            <a:endParaRPr lang="en-US" sz="2900" dirty="0"/>
          </a:p>
        </p:txBody>
      </p:sp>
      <p:sp>
        <p:nvSpPr>
          <p:cNvPr id="4" name="Text 2"/>
          <p:cNvSpPr txBox="1"/>
          <p:nvPr/>
        </p:nvSpPr>
        <p:spPr>
          <a:xfrm>
            <a:off x="640080" y="1609344"/>
            <a:ext cx="10911535" cy="274320"/>
          </a:xfrm>
          <a:prstGeom prst="rect">
            <a:avLst/>
          </a:prstGeom>
          <a:noFill/>
          <a:ln/>
        </p:spPr>
        <p:txBody>
          <a:bodyPr wrap="square" lIns="0" tIns="0" rIns="0" bIns="0" rtlCol="0" anchor="ctr"/>
          <a:lstStyle/>
          <a:p>
            <a:pPr indent="0" marL="0">
              <a:buNone/>
            </a:pPr>
            <a:r>
              <a:rPr lang="en-US" sz="1100" dirty="0">
                <a:solidFill>
                  <a:srgbClr val="6A6F93"/>
                </a:solidFill>
                <a:latin typeface="Arial" pitchFamily="34" charset="0"/>
                <a:ea typeface="Arial" pitchFamily="34" charset="-122"/>
                <a:cs typeface="Arial" pitchFamily="34" charset="-120"/>
              </a:rPr>
              <a:t>zk-tokyo/advanced-cryptography-2026 Issue #124（SeiyaKobayashi さん、2026-08-21）</a:t>
            </a:r>
            <a:endParaRPr lang="en-US" sz="1100" dirty="0"/>
          </a:p>
        </p:txBody>
      </p:sp>
      <p:sp>
        <p:nvSpPr>
          <p:cNvPr id="5" name="Shape 3"/>
          <p:cNvSpPr/>
          <p:nvPr/>
        </p:nvSpPr>
        <p:spPr>
          <a:xfrm>
            <a:off x="640080" y="1965960"/>
            <a:ext cx="10911535" cy="1261872"/>
          </a:xfrm>
          <a:prstGeom prst="roundRect">
            <a:avLst>
              <a:gd name="adj" fmla="val 5797"/>
            </a:avLst>
          </a:prstGeom>
          <a:solidFill>
            <a:srgbClr val="EDEEF7"/>
          </a:solidFill>
          <a:ln/>
          <a:effectLst>
            <a:outerShdw sx="100000" sy="100000" kx="0" ky="0" algn="bl" rotWithShape="0" blurRad="127000" dist="19050" dir="5400000">
              <a:srgbClr val="2B2F77">
                <a:alpha val="12000"/>
              </a:srgbClr>
            </a:outerShdw>
          </a:effectLst>
        </p:spPr>
      </p:sp>
      <p:sp>
        <p:nvSpPr>
          <p:cNvPr id="6" name="Shape 4"/>
          <p:cNvSpPr/>
          <p:nvPr/>
        </p:nvSpPr>
        <p:spPr>
          <a:xfrm>
            <a:off x="914400" y="2148840"/>
            <a:ext cx="384048" cy="384048"/>
          </a:xfrm>
          <a:prstGeom prst="ellipse">
            <a:avLst/>
          </a:prstGeom>
          <a:solidFill>
            <a:srgbClr val="2B2F77"/>
          </a:solidFill>
          <a:ln/>
        </p:spPr>
      </p:sp>
      <p:sp>
        <p:nvSpPr>
          <p:cNvPr id="7" name="Text 5"/>
          <p:cNvSpPr txBox="1"/>
          <p:nvPr/>
        </p:nvSpPr>
        <p:spPr>
          <a:xfrm>
            <a:off x="914400" y="2148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81328" y="2112264"/>
            <a:ext cx="9768535" cy="347472"/>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ステークホルダーと技術スタックを明示した構成図が欲しい（発表にも使える）</a:t>
            </a:r>
            <a:endParaRPr lang="en-US" sz="1350" dirty="0"/>
          </a:p>
        </p:txBody>
      </p:sp>
      <p:sp>
        <p:nvSpPr>
          <p:cNvPr id="9" name="Text 7"/>
          <p:cNvSpPr txBox="1"/>
          <p:nvPr/>
        </p:nvSpPr>
        <p:spPr>
          <a:xfrm>
            <a:off x="1481328" y="2496312"/>
            <a:ext cx="9768535" cy="621792"/>
          </a:xfrm>
          <a:prstGeom prst="rect">
            <a:avLst/>
          </a:prstGeom>
          <a:noFill/>
          <a:ln/>
        </p:spPr>
        <p:txBody>
          <a:bodyPr wrap="square" lIns="0" tIns="0" rIns="0" bIns="0" rtlCol="0" anchor="ctr"/>
          <a:lstStyle/>
          <a:p>
            <a:pPr indent="0" marL="0">
              <a:lnSpc>
                <a:spcPts val="1700"/>
              </a:lnSpc>
              <a:buNone/>
            </a:pPr>
            <a:r>
              <a:rPr lang="en-US" sz="1150" dirty="0">
                <a:solidFill>
                  <a:srgbClr val="3A3F63"/>
                </a:solidFill>
                <a:latin typeface="Arial" pitchFamily="34" charset="0"/>
                <a:ea typeface="Arial" pitchFamily="34" charset="-122"/>
                <a:cs typeface="Arial" pitchFamily="34" charset="-120"/>
              </a:rPr>
              <a:t>Issue 本文と README に Mermaid の構成図を追加した。本編 6 枚目と、直前のバックアップ「構成の詳細」がその図に当たる。</a:t>
            </a:r>
            <a:endParaRPr lang="en-US" sz="1150" dirty="0"/>
          </a:p>
        </p:txBody>
      </p:sp>
      <p:sp>
        <p:nvSpPr>
          <p:cNvPr id="10" name="Shape 8"/>
          <p:cNvSpPr/>
          <p:nvPr/>
        </p:nvSpPr>
        <p:spPr>
          <a:xfrm>
            <a:off x="640080" y="3364992"/>
            <a:ext cx="10911535" cy="1261872"/>
          </a:xfrm>
          <a:prstGeom prst="roundRect">
            <a:avLst>
              <a:gd name="adj" fmla="val 5797"/>
            </a:avLst>
          </a:prstGeom>
          <a:solidFill>
            <a:srgbClr val="EDEEF7"/>
          </a:solidFill>
          <a:ln/>
          <a:effectLst>
            <a:outerShdw sx="100000" sy="100000" kx="0" ky="0" algn="bl" rotWithShape="0" blurRad="127000" dist="19050" dir="5400000">
              <a:srgbClr val="2B2F77">
                <a:alpha val="12000"/>
              </a:srgbClr>
            </a:outerShdw>
          </a:effectLst>
        </p:spPr>
      </p:sp>
      <p:sp>
        <p:nvSpPr>
          <p:cNvPr id="11" name="Shape 9"/>
          <p:cNvSpPr/>
          <p:nvPr/>
        </p:nvSpPr>
        <p:spPr>
          <a:xfrm>
            <a:off x="914400" y="3547872"/>
            <a:ext cx="384048" cy="384048"/>
          </a:xfrm>
          <a:prstGeom prst="ellipse">
            <a:avLst/>
          </a:prstGeom>
          <a:solidFill>
            <a:srgbClr val="2B2F77"/>
          </a:solidFill>
          <a:ln/>
        </p:spPr>
      </p:sp>
      <p:sp>
        <p:nvSpPr>
          <p:cNvPr id="12" name="Text 10"/>
          <p:cNvSpPr txBox="1"/>
          <p:nvPr/>
        </p:nvSpPr>
        <p:spPr>
          <a:xfrm>
            <a:off x="914400" y="35478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1481328" y="3511296"/>
            <a:ext cx="9768535" cy="347472"/>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Agent は Lambda のような単発実行が主流になる。その場合の「Agent の存在単位」は何か</a:t>
            </a:r>
            <a:endParaRPr lang="en-US" sz="1350" dirty="0"/>
          </a:p>
        </p:txBody>
      </p:sp>
      <p:sp>
        <p:nvSpPr>
          <p:cNvPr id="14" name="Text 12"/>
          <p:cNvSpPr txBox="1"/>
          <p:nvPr/>
        </p:nvSpPr>
        <p:spPr>
          <a:xfrm>
            <a:off x="1481328" y="3895344"/>
            <a:ext cx="9768535" cy="621792"/>
          </a:xfrm>
          <a:prstGeom prst="rect">
            <a:avLst/>
          </a:prstGeom>
          <a:noFill/>
          <a:ln/>
        </p:spPr>
        <p:txBody>
          <a:bodyPr wrap="square" lIns="0" tIns="0" rIns="0" bIns="0" rtlCol="0" anchor="ctr"/>
          <a:lstStyle/>
          <a:p>
            <a:pPr indent="0" marL="0">
              <a:lnSpc>
                <a:spcPts val="1700"/>
              </a:lnSpc>
              <a:buNone/>
            </a:pPr>
            <a:r>
              <a:rPr lang="en-US" sz="1150" dirty="0">
                <a:solidFill>
                  <a:srgbClr val="3A3F63"/>
                </a:solidFill>
                <a:latin typeface="Arial" pitchFamily="34" charset="0"/>
                <a:ea typeface="Arial" pitchFamily="34" charset="-122"/>
                <a:cs typeface="Arial" pitchFamily="34" charset="-120"/>
              </a:rPr>
              <a:t>実行プロセスではなく「agentSecret の保持 × Manifest の宣言」。同じ鍵と同じ Manifest なら単発実行でも同一 Agent として実績が積まれる。cmd/agent prove は 起動 → 環境変数から鍵を読む → 証明 → 終了 で、nonce の状態は Service 側が持つ。常時稼働は前提にしない。</a:t>
            </a:r>
            <a:endParaRPr lang="en-US" sz="1150" dirty="0"/>
          </a:p>
        </p:txBody>
      </p:sp>
      <p:sp>
        <p:nvSpPr>
          <p:cNvPr id="15" name="Shape 13"/>
          <p:cNvSpPr/>
          <p:nvPr/>
        </p:nvSpPr>
        <p:spPr>
          <a:xfrm>
            <a:off x="640080" y="4764024"/>
            <a:ext cx="10911535" cy="1261872"/>
          </a:xfrm>
          <a:prstGeom prst="roundRect">
            <a:avLst>
              <a:gd name="adj" fmla="val 5797"/>
            </a:avLst>
          </a:prstGeom>
          <a:solidFill>
            <a:srgbClr val="EDEEF7"/>
          </a:solidFill>
          <a:ln/>
          <a:effectLst>
            <a:outerShdw sx="100000" sy="100000" kx="0" ky="0" algn="bl" rotWithShape="0" blurRad="127000" dist="19050" dir="5400000">
              <a:srgbClr val="2B2F77">
                <a:alpha val="12000"/>
              </a:srgbClr>
            </a:outerShdw>
          </a:effectLst>
        </p:spPr>
      </p:sp>
      <p:sp>
        <p:nvSpPr>
          <p:cNvPr id="16" name="Shape 14"/>
          <p:cNvSpPr/>
          <p:nvPr/>
        </p:nvSpPr>
        <p:spPr>
          <a:xfrm>
            <a:off x="914400" y="4946904"/>
            <a:ext cx="384048" cy="384048"/>
          </a:xfrm>
          <a:prstGeom prst="ellipse">
            <a:avLst/>
          </a:prstGeom>
          <a:solidFill>
            <a:srgbClr val="2B2F77"/>
          </a:solidFill>
          <a:ln/>
        </p:spPr>
      </p:sp>
      <p:sp>
        <p:nvSpPr>
          <p:cNvPr id="17" name="Text 15"/>
          <p:cNvSpPr txBox="1"/>
          <p:nvPr/>
        </p:nvSpPr>
        <p:spPr>
          <a:xfrm>
            <a:off x="914400" y="4946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481328" y="4910328"/>
            <a:ext cx="9768535" cy="347472"/>
          </a:xfrm>
          <a:prstGeom prst="rect">
            <a:avLst/>
          </a:prstGeom>
          <a:noFill/>
          <a:ln/>
        </p:spPr>
        <p:txBody>
          <a:bodyPr wrap="square" lIns="0" tIns="0" rIns="0" bIns="0" rtlCol="0" anchor="ctr"/>
          <a:lstStyle/>
          <a:p>
            <a:pPr indent="0" marL="0">
              <a:buNone/>
            </a:pPr>
            <a:r>
              <a:rPr lang="en-US" sz="1350" b="1" dirty="0">
                <a:solidFill>
                  <a:srgbClr val="2B2F77"/>
                </a:solidFill>
                <a:latin typeface="Arial" pitchFamily="34" charset="0"/>
                <a:ea typeface="Arial" pitchFamily="34" charset="-122"/>
                <a:cs typeface="Arial" pitchFamily="34" charset="-120"/>
              </a:rPr>
              <a:t>ZK + MPC の計算量ボトルネックを定量評価としてスコープに入れるとよい</a:t>
            </a:r>
            <a:endParaRPr lang="en-US" sz="1350" dirty="0"/>
          </a:p>
        </p:txBody>
      </p:sp>
      <p:sp>
        <p:nvSpPr>
          <p:cNvPr id="19" name="Text 17"/>
          <p:cNvSpPr txBox="1"/>
          <p:nvPr/>
        </p:nvSpPr>
        <p:spPr>
          <a:xfrm>
            <a:off x="1481328" y="5294376"/>
            <a:ext cx="9768535" cy="621792"/>
          </a:xfrm>
          <a:prstGeom prst="rect">
            <a:avLst/>
          </a:prstGeom>
          <a:noFill/>
          <a:ln/>
        </p:spPr>
        <p:txBody>
          <a:bodyPr wrap="square" lIns="0" tIns="0" rIns="0" bIns="0" rtlCol="0" anchor="ctr"/>
          <a:lstStyle/>
          <a:p>
            <a:pPr indent="0" marL="0">
              <a:lnSpc>
                <a:spcPts val="1700"/>
              </a:lnSpc>
              <a:buNone/>
            </a:pPr>
            <a:r>
              <a:rPr lang="en-US" sz="1150" dirty="0">
                <a:solidFill>
                  <a:srgbClr val="3A3F63"/>
                </a:solidFill>
                <a:latin typeface="Arial" pitchFamily="34" charset="0"/>
                <a:ea typeface="Arial" pitchFamily="34" charset="-122"/>
                <a:cs typeface="Arial" pitchFamily="34" charset="-120"/>
              </a:rPr>
              <a:t>Scope に Performance Evaluation を追加し、go run ./cmd/bench で実測した。制約 28,596（Committee 署名 54% / Version Policy 24%）、証明 55 ms、検証 1 ms 未満、164 bytes。MPC は加算的秘密分散なので集計は軽微で、ボトルネックは証明生成側にある。</a:t>
            </a:r>
            <a:endParaRPr lang="en-US" sz="1150" dirty="0"/>
          </a:p>
        </p:txBody>
      </p:sp>
      <p:sp>
        <p:nvSpPr>
          <p:cNvPr id="20" name="Text 18"/>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329184"/>
            <a:ext cx="10911535" cy="237744"/>
          </a:xfrm>
          <a:prstGeom prst="rect">
            <a:avLst/>
          </a:prstGeom>
          <a:noFill/>
          <a:ln/>
        </p:spPr>
        <p:txBody>
          <a:bodyPr wrap="square" lIns="0" tIns="0" rIns="0" bIns="0" rtlCol="0" anchor="ctr"/>
          <a:lstStyle/>
          <a:p>
            <a:pPr indent="0" marL="0">
              <a:buNone/>
            </a:pPr>
            <a:r>
              <a:rPr lang="en-US" sz="1100" b="1" spc="200" kern="0" dirty="0">
                <a:solidFill>
                  <a:srgbClr val="6A6F93"/>
                </a:solidFill>
                <a:latin typeface="Arial" pitchFamily="34" charset="0"/>
                <a:ea typeface="Arial" pitchFamily="34" charset="-122"/>
                <a:cs typeface="Arial" pitchFamily="34" charset="-120"/>
              </a:rPr>
              <a:t>BACKUP</a:t>
            </a:r>
            <a:endParaRPr lang="en-US" sz="1100" dirty="0"/>
          </a:p>
        </p:txBody>
      </p:sp>
      <p:sp>
        <p:nvSpPr>
          <p:cNvPr id="3" name="Text 1"/>
          <p:cNvSpPr txBox="1"/>
          <p:nvPr/>
        </p:nvSpPr>
        <p:spPr>
          <a:xfrm>
            <a:off x="640080" y="603504"/>
            <a:ext cx="10911535" cy="713232"/>
          </a:xfrm>
          <a:prstGeom prst="rect">
            <a:avLst/>
          </a:prstGeom>
          <a:noFill/>
          <a:ln/>
        </p:spPr>
        <p:txBody>
          <a:bodyPr wrap="square" lIns="0" tIns="0" rIns="0" bIns="0" rtlCol="0" anchor="t"/>
          <a:lstStyle/>
          <a:p>
            <a:pPr indent="0" marL="0">
              <a:buNone/>
            </a:pPr>
            <a:r>
              <a:rPr lang="en-US" sz="2900" b="1" dirty="0">
                <a:solidFill>
                  <a:srgbClr val="2B2F77"/>
                </a:solidFill>
                <a:latin typeface="Arial" pitchFamily="34" charset="0"/>
                <a:ea typeface="Arial" pitchFamily="34" charset="-122"/>
                <a:cs typeface="Arial" pitchFamily="34" charset="-120"/>
              </a:rPr>
              <a:t>想定問答</a:t>
            </a:r>
            <a:endParaRPr lang="en-US" sz="2900" dirty="0"/>
          </a:p>
        </p:txBody>
      </p:sp>
      <p:sp>
        <p:nvSpPr>
          <p:cNvPr id="4" name="Shape 2"/>
          <p:cNvSpPr/>
          <p:nvPr/>
        </p:nvSpPr>
        <p:spPr>
          <a:xfrm>
            <a:off x="640080" y="1737360"/>
            <a:ext cx="10911535" cy="795528"/>
          </a:xfrm>
          <a:prstGeom prst="roundRect">
            <a:avLst>
              <a:gd name="adj" fmla="val 9195"/>
            </a:avLst>
          </a:prstGeom>
          <a:solidFill>
            <a:srgbClr val="EDEEF7"/>
          </a:solidFill>
          <a:ln/>
          <a:effectLst>
            <a:outerShdw sx="100000" sy="100000" kx="0" ky="0" algn="bl" rotWithShape="0" blurRad="127000" dist="19050" dir="5400000">
              <a:srgbClr val="2B2F77">
                <a:alpha val="12000"/>
              </a:srgbClr>
            </a:outerShdw>
          </a:effectLst>
        </p:spPr>
      </p:sp>
      <p:sp>
        <p:nvSpPr>
          <p:cNvPr id="5" name="Shape 3"/>
          <p:cNvSpPr/>
          <p:nvPr/>
        </p:nvSpPr>
        <p:spPr>
          <a:xfrm>
            <a:off x="896112" y="1943100"/>
            <a:ext cx="384048" cy="384048"/>
          </a:xfrm>
          <a:prstGeom prst="ellipse">
            <a:avLst/>
          </a:prstGeom>
          <a:solidFill>
            <a:srgbClr val="2B2F77"/>
          </a:solidFill>
          <a:ln/>
        </p:spPr>
      </p:sp>
      <p:sp>
        <p:nvSpPr>
          <p:cNvPr id="6" name="Text 4"/>
          <p:cNvSpPr txBox="1"/>
          <p:nvPr/>
        </p:nvSpPr>
        <p:spPr>
          <a:xfrm>
            <a:off x="896112" y="19431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p>
        </p:txBody>
      </p:sp>
      <p:sp>
        <p:nvSpPr>
          <p:cNvPr id="7" name="Text 5"/>
          <p:cNvSpPr txBox="1"/>
          <p:nvPr/>
        </p:nvSpPr>
        <p:spPr>
          <a:xfrm>
            <a:off x="1463040" y="1837944"/>
            <a:ext cx="9814255" cy="292608"/>
          </a:xfrm>
          <a:prstGeom prst="rect">
            <a:avLst/>
          </a:prstGeom>
          <a:noFill/>
          <a:ln/>
        </p:spPr>
        <p:txBody>
          <a:bodyPr wrap="square" lIns="0" tIns="0" rIns="0" bIns="0" rtlCol="0" anchor="ctr"/>
          <a:lstStyle/>
          <a:p>
            <a:pPr indent="0" marL="0">
              <a:buNone/>
            </a:pPr>
            <a:r>
              <a:rPr lang="en-US" sz="1300" b="1" dirty="0">
                <a:solidFill>
                  <a:srgbClr val="2B2F77"/>
                </a:solidFill>
                <a:latin typeface="Arial" pitchFamily="34" charset="0"/>
                <a:ea typeface="Arial" pitchFamily="34" charset="-122"/>
                <a:cs typeface="Arial" pitchFamily="34" charset="-120"/>
              </a:rPr>
              <a:t>Gateway が平文を見るのに MPC は要るのか</a:t>
            </a:r>
            <a:endParaRPr lang="en-US" sz="1300" dirty="0"/>
          </a:p>
        </p:txBody>
      </p:sp>
      <p:sp>
        <p:nvSpPr>
          <p:cNvPr id="8" name="Text 6"/>
          <p:cNvSpPr txBox="1"/>
          <p:nvPr/>
        </p:nvSpPr>
        <p:spPr>
          <a:xfrm>
            <a:off x="1463040" y="2130552"/>
            <a:ext cx="9814255" cy="329184"/>
          </a:xfrm>
          <a:prstGeom prst="rect">
            <a:avLst/>
          </a:prstGeom>
          <a:noFill/>
          <a:ln/>
        </p:spPr>
        <p:txBody>
          <a:bodyPr wrap="square" lIns="0" tIns="0" rIns="0" bIns="0" rtlCol="0" anchor="ctr"/>
          <a:lstStyle/>
          <a:p>
            <a:pPr indent="0" marL="0">
              <a:lnSpc>
                <a:spcPts val="1600"/>
              </a:lnSpc>
              <a:buNone/>
            </a:pPr>
            <a:r>
              <a:rPr lang="en-US" sz="1150" dirty="0">
                <a:solidFill>
                  <a:srgbClr val="3A3F63"/>
                </a:solidFill>
                <a:latin typeface="Arial" pitchFamily="34" charset="0"/>
                <a:ea typeface="Arial" pitchFamily="34" charset="-122"/>
                <a:cs typeface="Arial" pitchFamily="34" charset="-120"/>
              </a:rPr>
              <a:t>Committee のノードから個別評価を隠す防御線。将来 Provider が直接秘密分散する構成への布石で、現構成では限定的だと認める。</a:t>
            </a:r>
            <a:endParaRPr lang="en-US" sz="1150" dirty="0"/>
          </a:p>
        </p:txBody>
      </p:sp>
      <p:sp>
        <p:nvSpPr>
          <p:cNvPr id="9" name="Shape 7"/>
          <p:cNvSpPr/>
          <p:nvPr/>
        </p:nvSpPr>
        <p:spPr>
          <a:xfrm>
            <a:off x="640080" y="2670048"/>
            <a:ext cx="10911535" cy="795528"/>
          </a:xfrm>
          <a:prstGeom prst="roundRect">
            <a:avLst>
              <a:gd name="adj" fmla="val 9195"/>
            </a:avLst>
          </a:prstGeom>
          <a:solidFill>
            <a:srgbClr val="EDEEF7"/>
          </a:solidFill>
          <a:ln/>
          <a:effectLst>
            <a:outerShdw sx="100000" sy="100000" kx="0" ky="0" algn="bl" rotWithShape="0" blurRad="127000" dist="19050" dir="5400000">
              <a:srgbClr val="2B2F77">
                <a:alpha val="12000"/>
              </a:srgbClr>
            </a:outerShdw>
          </a:effectLst>
        </p:spPr>
      </p:sp>
      <p:sp>
        <p:nvSpPr>
          <p:cNvPr id="10" name="Shape 8"/>
          <p:cNvSpPr/>
          <p:nvPr/>
        </p:nvSpPr>
        <p:spPr>
          <a:xfrm>
            <a:off x="896112" y="2875788"/>
            <a:ext cx="384048" cy="384048"/>
          </a:xfrm>
          <a:prstGeom prst="ellipse">
            <a:avLst/>
          </a:prstGeom>
          <a:solidFill>
            <a:srgbClr val="2B2F77"/>
          </a:solidFill>
          <a:ln/>
        </p:spPr>
      </p:sp>
      <p:sp>
        <p:nvSpPr>
          <p:cNvPr id="11" name="Text 9"/>
          <p:cNvSpPr txBox="1"/>
          <p:nvPr/>
        </p:nvSpPr>
        <p:spPr>
          <a:xfrm>
            <a:off x="896112" y="28757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p>
        </p:txBody>
      </p:sp>
      <p:sp>
        <p:nvSpPr>
          <p:cNvPr id="12" name="Text 10"/>
          <p:cNvSpPr txBox="1"/>
          <p:nvPr/>
        </p:nvSpPr>
        <p:spPr>
          <a:xfrm>
            <a:off x="1463040" y="2770632"/>
            <a:ext cx="9814255" cy="292608"/>
          </a:xfrm>
          <a:prstGeom prst="rect">
            <a:avLst/>
          </a:prstGeom>
          <a:noFill/>
          <a:ln/>
        </p:spPr>
        <p:txBody>
          <a:bodyPr wrap="square" lIns="0" tIns="0" rIns="0" bIns="0" rtlCol="0" anchor="ctr"/>
          <a:lstStyle/>
          <a:p>
            <a:pPr indent="0" marL="0">
              <a:buNone/>
            </a:pPr>
            <a:r>
              <a:rPr lang="en-US" sz="1300" b="1" dirty="0">
                <a:solidFill>
                  <a:srgbClr val="2B2F77"/>
                </a:solidFill>
                <a:latin typeface="Arial" pitchFamily="34" charset="0"/>
                <a:ea typeface="Arial" pitchFamily="34" charset="-122"/>
                <a:cs typeface="Arial" pitchFamily="34" charset="-120"/>
              </a:rPr>
              <a:t>Lambda のような単発実行で Agent の単位は？</a:t>
            </a:r>
            <a:endParaRPr lang="en-US" sz="1300" dirty="0"/>
          </a:p>
        </p:txBody>
      </p:sp>
      <p:sp>
        <p:nvSpPr>
          <p:cNvPr id="13" name="Text 11"/>
          <p:cNvSpPr txBox="1"/>
          <p:nvPr/>
        </p:nvSpPr>
        <p:spPr>
          <a:xfrm>
            <a:off x="1463040" y="3063240"/>
            <a:ext cx="9814255" cy="329184"/>
          </a:xfrm>
          <a:prstGeom prst="rect">
            <a:avLst/>
          </a:prstGeom>
          <a:noFill/>
          <a:ln/>
        </p:spPr>
        <p:txBody>
          <a:bodyPr wrap="square" lIns="0" tIns="0" rIns="0" bIns="0" rtlCol="0" anchor="ctr"/>
          <a:lstStyle/>
          <a:p>
            <a:pPr indent="0" marL="0">
              <a:lnSpc>
                <a:spcPts val="1600"/>
              </a:lnSpc>
              <a:buNone/>
            </a:pPr>
            <a:r>
              <a:rPr lang="en-US" sz="1150" dirty="0">
                <a:solidFill>
                  <a:srgbClr val="3A3F63"/>
                </a:solidFill>
                <a:latin typeface="Arial" pitchFamily="34" charset="0"/>
                <a:ea typeface="Arial" pitchFamily="34" charset="-122"/>
                <a:cs typeface="Arial" pitchFamily="34" charset="-120"/>
              </a:rPr>
              <a:t>実行プロセスではなく agentSecret の保持 × Manifest の宣言。cmd/agent prove は起動 → 証明 → 終了。nonce は Service 側が持つ。</a:t>
            </a:r>
            <a:endParaRPr lang="en-US" sz="1150" dirty="0"/>
          </a:p>
        </p:txBody>
      </p:sp>
      <p:sp>
        <p:nvSpPr>
          <p:cNvPr id="14" name="Shape 12"/>
          <p:cNvSpPr/>
          <p:nvPr/>
        </p:nvSpPr>
        <p:spPr>
          <a:xfrm>
            <a:off x="640080" y="3602736"/>
            <a:ext cx="10911535" cy="795528"/>
          </a:xfrm>
          <a:prstGeom prst="roundRect">
            <a:avLst>
              <a:gd name="adj" fmla="val 9195"/>
            </a:avLst>
          </a:prstGeom>
          <a:solidFill>
            <a:srgbClr val="EDEEF7"/>
          </a:solidFill>
          <a:ln/>
          <a:effectLst>
            <a:outerShdw sx="100000" sy="100000" kx="0" ky="0" algn="bl" rotWithShape="0" blurRad="127000" dist="19050" dir="5400000">
              <a:srgbClr val="2B2F77">
                <a:alpha val="12000"/>
              </a:srgbClr>
            </a:outerShdw>
          </a:effectLst>
        </p:spPr>
      </p:sp>
      <p:sp>
        <p:nvSpPr>
          <p:cNvPr id="15" name="Shape 13"/>
          <p:cNvSpPr/>
          <p:nvPr/>
        </p:nvSpPr>
        <p:spPr>
          <a:xfrm>
            <a:off x="896112" y="3808476"/>
            <a:ext cx="384048" cy="384048"/>
          </a:xfrm>
          <a:prstGeom prst="ellipse">
            <a:avLst/>
          </a:prstGeom>
          <a:solidFill>
            <a:srgbClr val="2B2F77"/>
          </a:solidFill>
          <a:ln/>
        </p:spPr>
      </p:sp>
      <p:sp>
        <p:nvSpPr>
          <p:cNvPr id="16" name="Text 14"/>
          <p:cNvSpPr txBox="1"/>
          <p:nvPr/>
        </p:nvSpPr>
        <p:spPr>
          <a:xfrm>
            <a:off x="896112" y="38084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p>
        </p:txBody>
      </p:sp>
      <p:sp>
        <p:nvSpPr>
          <p:cNvPr id="17" name="Text 15"/>
          <p:cNvSpPr txBox="1"/>
          <p:nvPr/>
        </p:nvSpPr>
        <p:spPr>
          <a:xfrm>
            <a:off x="1463040" y="3703320"/>
            <a:ext cx="9814255" cy="292608"/>
          </a:xfrm>
          <a:prstGeom prst="rect">
            <a:avLst/>
          </a:prstGeom>
          <a:noFill/>
          <a:ln/>
        </p:spPr>
        <p:txBody>
          <a:bodyPr wrap="square" lIns="0" tIns="0" rIns="0" bIns="0" rtlCol="0" anchor="ctr"/>
          <a:lstStyle/>
          <a:p>
            <a:pPr indent="0" marL="0">
              <a:buNone/>
            </a:pPr>
            <a:r>
              <a:rPr lang="en-US" sz="1300" b="1" dirty="0">
                <a:solidFill>
                  <a:srgbClr val="2B2F77"/>
                </a:solidFill>
                <a:latin typeface="Arial" pitchFamily="34" charset="0"/>
                <a:ea typeface="Arial" pitchFamily="34" charset="-122"/>
                <a:cs typeface="Arial" pitchFamily="34" charset="-120"/>
              </a:rPr>
              <a:t>Sybil / Review Farming は防げるか</a:t>
            </a:r>
            <a:endParaRPr lang="en-US" sz="1300" dirty="0"/>
          </a:p>
        </p:txBody>
      </p:sp>
      <p:sp>
        <p:nvSpPr>
          <p:cNvPr id="18" name="Text 16"/>
          <p:cNvSpPr txBox="1"/>
          <p:nvPr/>
        </p:nvSpPr>
        <p:spPr>
          <a:xfrm>
            <a:off x="1463040" y="3995928"/>
            <a:ext cx="9814255" cy="329184"/>
          </a:xfrm>
          <a:prstGeom prst="rect">
            <a:avLst/>
          </a:prstGeom>
          <a:noFill/>
          <a:ln/>
        </p:spPr>
        <p:txBody>
          <a:bodyPr wrap="square" lIns="0" tIns="0" rIns="0" bIns="0" rtlCol="0" anchor="ctr"/>
          <a:lstStyle/>
          <a:p>
            <a:pPr indent="0" marL="0">
              <a:lnSpc>
                <a:spcPts val="1600"/>
              </a:lnSpc>
              <a:buNone/>
            </a:pPr>
            <a:r>
              <a:rPr lang="en-US" sz="1150" dirty="0">
                <a:solidFill>
                  <a:srgbClr val="3A3F63"/>
                </a:solidFill>
                <a:latin typeface="Arial" pitchFamily="34" charset="0"/>
                <a:ea typeface="Arial" pitchFamily="34" charset="-122"/>
                <a:cs typeface="Arial" pitchFamily="34" charset="-120"/>
              </a:rPr>
              <a:t>防げない。Issuer Registry への信頼に依存する。Gateway の検査は同一 Provider の 2 件目などを弾くが、コストを上げるだけ。</a:t>
            </a:r>
            <a:endParaRPr lang="en-US" sz="1150" dirty="0"/>
          </a:p>
        </p:txBody>
      </p:sp>
      <p:sp>
        <p:nvSpPr>
          <p:cNvPr id="19" name="Shape 17"/>
          <p:cNvSpPr/>
          <p:nvPr/>
        </p:nvSpPr>
        <p:spPr>
          <a:xfrm>
            <a:off x="640080" y="4535424"/>
            <a:ext cx="10911535" cy="795528"/>
          </a:xfrm>
          <a:prstGeom prst="roundRect">
            <a:avLst>
              <a:gd name="adj" fmla="val 9195"/>
            </a:avLst>
          </a:prstGeom>
          <a:solidFill>
            <a:srgbClr val="EDEEF7"/>
          </a:solidFill>
          <a:ln/>
          <a:effectLst>
            <a:outerShdw sx="100000" sy="100000" kx="0" ky="0" algn="bl" rotWithShape="0" blurRad="127000" dist="19050" dir="5400000">
              <a:srgbClr val="2B2F77">
                <a:alpha val="12000"/>
              </a:srgbClr>
            </a:outerShdw>
          </a:effectLst>
        </p:spPr>
      </p:sp>
      <p:sp>
        <p:nvSpPr>
          <p:cNvPr id="20" name="Shape 18"/>
          <p:cNvSpPr/>
          <p:nvPr/>
        </p:nvSpPr>
        <p:spPr>
          <a:xfrm>
            <a:off x="896112" y="4741164"/>
            <a:ext cx="384048" cy="384048"/>
          </a:xfrm>
          <a:prstGeom prst="ellipse">
            <a:avLst/>
          </a:prstGeom>
          <a:solidFill>
            <a:srgbClr val="2B2F77"/>
          </a:solidFill>
          <a:ln/>
        </p:spPr>
      </p:sp>
      <p:sp>
        <p:nvSpPr>
          <p:cNvPr id="21" name="Text 19"/>
          <p:cNvSpPr txBox="1"/>
          <p:nvPr/>
        </p:nvSpPr>
        <p:spPr>
          <a:xfrm>
            <a:off x="896112" y="47411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p>
        </p:txBody>
      </p:sp>
      <p:sp>
        <p:nvSpPr>
          <p:cNvPr id="22" name="Text 20"/>
          <p:cNvSpPr txBox="1"/>
          <p:nvPr/>
        </p:nvSpPr>
        <p:spPr>
          <a:xfrm>
            <a:off x="1463040" y="4636008"/>
            <a:ext cx="9814255" cy="292608"/>
          </a:xfrm>
          <a:prstGeom prst="rect">
            <a:avLst/>
          </a:prstGeom>
          <a:noFill/>
          <a:ln/>
        </p:spPr>
        <p:txBody>
          <a:bodyPr wrap="square" lIns="0" tIns="0" rIns="0" bIns="0" rtlCol="0" anchor="ctr"/>
          <a:lstStyle/>
          <a:p>
            <a:pPr indent="0" marL="0">
              <a:buNone/>
            </a:pPr>
            <a:r>
              <a:rPr lang="en-US" sz="1300" b="1" dirty="0">
                <a:solidFill>
                  <a:srgbClr val="2B2F77"/>
                </a:solidFill>
                <a:latin typeface="Arial" pitchFamily="34" charset="0"/>
                <a:ea typeface="Arial" pitchFamily="34" charset="-122"/>
                <a:cs typeface="Arial" pitchFamily="34" charset="-120"/>
              </a:rPr>
              <a:t>高スコアなら公開したいのでは</a:t>
            </a:r>
            <a:endParaRPr lang="en-US" sz="1300" dirty="0"/>
          </a:p>
        </p:txBody>
      </p:sp>
      <p:sp>
        <p:nvSpPr>
          <p:cNvPr id="23" name="Text 21"/>
          <p:cNvSpPr txBox="1"/>
          <p:nvPr/>
        </p:nvSpPr>
        <p:spPr>
          <a:xfrm>
            <a:off x="1463040" y="4928616"/>
            <a:ext cx="9814255" cy="329184"/>
          </a:xfrm>
          <a:prstGeom prst="rect">
            <a:avLst/>
          </a:prstGeom>
          <a:noFill/>
          <a:ln/>
        </p:spPr>
        <p:txBody>
          <a:bodyPr wrap="square" lIns="0" tIns="0" rIns="0" bIns="0" rtlCol="0" anchor="ctr"/>
          <a:lstStyle/>
          <a:p>
            <a:pPr indent="0" marL="0">
              <a:lnSpc>
                <a:spcPts val="1600"/>
              </a:lnSpc>
              <a:buNone/>
            </a:pPr>
            <a:r>
              <a:rPr lang="en-US" sz="1150" dirty="0">
                <a:solidFill>
                  <a:srgbClr val="3A3F63"/>
                </a:solidFill>
                <a:latin typeface="Arial" pitchFamily="34" charset="0"/>
                <a:ea typeface="Arial" pitchFamily="34" charset="-122"/>
                <a:cs typeface="Arial" pitchFamily="34" charset="-120"/>
              </a:rPr>
              <a:t>秘匿の主目的は合計点そのものより、取引先の名前と個別の低評価。B2B では実需がある。</a:t>
            </a:r>
            <a:endParaRPr lang="en-US" sz="1150" dirty="0"/>
          </a:p>
        </p:txBody>
      </p:sp>
      <p:sp>
        <p:nvSpPr>
          <p:cNvPr id="24" name="Shape 22"/>
          <p:cNvSpPr/>
          <p:nvPr/>
        </p:nvSpPr>
        <p:spPr>
          <a:xfrm>
            <a:off x="640080" y="5468112"/>
            <a:ext cx="10911535" cy="795528"/>
          </a:xfrm>
          <a:prstGeom prst="roundRect">
            <a:avLst>
              <a:gd name="adj" fmla="val 9195"/>
            </a:avLst>
          </a:prstGeom>
          <a:solidFill>
            <a:srgbClr val="EDEEF7"/>
          </a:solidFill>
          <a:ln/>
          <a:effectLst>
            <a:outerShdw sx="100000" sy="100000" kx="0" ky="0" algn="bl" rotWithShape="0" blurRad="127000" dist="19050" dir="5400000">
              <a:srgbClr val="2B2F77">
                <a:alpha val="12000"/>
              </a:srgbClr>
            </a:outerShdw>
          </a:effectLst>
        </p:spPr>
      </p:sp>
      <p:sp>
        <p:nvSpPr>
          <p:cNvPr id="25" name="Shape 23"/>
          <p:cNvSpPr/>
          <p:nvPr/>
        </p:nvSpPr>
        <p:spPr>
          <a:xfrm>
            <a:off x="896112" y="5673852"/>
            <a:ext cx="384048" cy="384048"/>
          </a:xfrm>
          <a:prstGeom prst="ellipse">
            <a:avLst/>
          </a:prstGeom>
          <a:solidFill>
            <a:srgbClr val="2B2F77"/>
          </a:solidFill>
          <a:ln/>
        </p:spPr>
      </p:sp>
      <p:sp>
        <p:nvSpPr>
          <p:cNvPr id="26" name="Text 24"/>
          <p:cNvSpPr txBox="1"/>
          <p:nvPr/>
        </p:nvSpPr>
        <p:spPr>
          <a:xfrm>
            <a:off x="896112" y="56738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a:t>
            </a:r>
            <a:endParaRPr lang="en-US" sz="1400" dirty="0"/>
          </a:p>
        </p:txBody>
      </p:sp>
      <p:sp>
        <p:nvSpPr>
          <p:cNvPr id="27" name="Text 25"/>
          <p:cNvSpPr txBox="1"/>
          <p:nvPr/>
        </p:nvSpPr>
        <p:spPr>
          <a:xfrm>
            <a:off x="1463040" y="5568696"/>
            <a:ext cx="9814255" cy="292608"/>
          </a:xfrm>
          <a:prstGeom prst="rect">
            <a:avLst/>
          </a:prstGeom>
          <a:noFill/>
          <a:ln/>
        </p:spPr>
        <p:txBody>
          <a:bodyPr wrap="square" lIns="0" tIns="0" rIns="0" bIns="0" rtlCol="0" anchor="ctr"/>
          <a:lstStyle/>
          <a:p>
            <a:pPr indent="0" marL="0">
              <a:buNone/>
            </a:pPr>
            <a:r>
              <a:rPr lang="en-US" sz="1300" b="1" dirty="0">
                <a:solidFill>
                  <a:srgbClr val="2B2F77"/>
                </a:solidFill>
                <a:latin typeface="Arial" pitchFamily="34" charset="0"/>
                <a:ea typeface="Arial" pitchFamily="34" charset="-122"/>
                <a:cs typeface="Arial" pitchFamily="34" charset="-120"/>
              </a:rPr>
              <a:t>実行時に同じモデルが使われている保証は</a:t>
            </a:r>
            <a:endParaRPr lang="en-US" sz="1300" dirty="0"/>
          </a:p>
        </p:txBody>
      </p:sp>
      <p:sp>
        <p:nvSpPr>
          <p:cNvPr id="28" name="Text 26"/>
          <p:cNvSpPr txBox="1"/>
          <p:nvPr/>
        </p:nvSpPr>
        <p:spPr>
          <a:xfrm>
            <a:off x="1463040" y="5861304"/>
            <a:ext cx="9814255" cy="329184"/>
          </a:xfrm>
          <a:prstGeom prst="rect">
            <a:avLst/>
          </a:prstGeom>
          <a:noFill/>
          <a:ln/>
        </p:spPr>
        <p:txBody>
          <a:bodyPr wrap="square" lIns="0" tIns="0" rIns="0" bIns="0" rtlCol="0" anchor="ctr"/>
          <a:lstStyle/>
          <a:p>
            <a:pPr indent="0" marL="0">
              <a:lnSpc>
                <a:spcPts val="1600"/>
              </a:lnSpc>
              <a:buNone/>
            </a:pPr>
            <a:r>
              <a:rPr lang="en-US" sz="1150" dirty="0">
                <a:solidFill>
                  <a:srgbClr val="3A3F63"/>
                </a:solidFill>
                <a:latin typeface="Arial" pitchFamily="34" charset="0"/>
                <a:ea typeface="Arial" pitchFamily="34" charset="-122"/>
                <a:cs typeface="Arial" pitchFamily="34" charset="-120"/>
              </a:rPr>
              <a:t>無い。Manifest は宣言への束縛で、Remote Attestation は対象外。TEE とは競合ではなく補完関係。</a:t>
            </a:r>
            <a:endParaRPr lang="en-US" sz="1150" dirty="0"/>
          </a:p>
        </p:txBody>
      </p:sp>
      <p:sp>
        <p:nvSpPr>
          <p:cNvPr id="29" name="Text 27"/>
          <p:cNvSpPr txBox="1"/>
          <p:nvPr/>
        </p:nvSpPr>
        <p:spPr>
          <a:xfrm>
            <a:off x="11140135" y="6327648"/>
            <a:ext cx="411480" cy="256032"/>
          </a:xfrm>
          <a:prstGeom prst="rect">
            <a:avLst/>
          </a:prstGeom>
          <a:noFill/>
          <a:ln/>
        </p:spPr>
        <p:txBody>
          <a:bodyPr wrap="square" lIns="0" tIns="0" rIns="0" bIns="0" rtlCol="0" anchor="ctr"/>
          <a:lstStyle/>
          <a:p>
            <a:pPr algn="r" indent="0" marL="0">
              <a:buNone/>
            </a:pPr>
            <a:r>
              <a:rPr lang="en-US" sz="1000" dirty="0">
                <a:solidFill>
                  <a:srgbClr val="6A6F93"/>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zkAgent Passport</dc:title>
  <dc:subject>PptxGenJS Presentation</dc:subject>
  <dc:creator>Daisuke Iuchi</dc:creator>
  <cp:lastModifiedBy>Daisuke Iuchi</cp:lastModifiedBy>
  <cp:revision>1</cp:revision>
  <dcterms:created xsi:type="dcterms:W3CDTF">2026-09-12T03:05:03Z</dcterms:created>
  <dcterms:modified xsi:type="dcterms:W3CDTF">2026-09-12T03:05:03Z</dcterms:modified>
</cp:coreProperties>
</file>