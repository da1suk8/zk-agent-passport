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cat>
            <c:multiLvlStrRef>
              <c:f>Sheet1!$A$2:$A$4</c:f>
              <c:multiLvlStrCache>
                <c:ptCount val="3"/>
                <c:lvl>
                  <c:pt idx="0">
                    <c:v>閾値証明のみ</c:v>
                  </c:pt>
                  <c:pt idx="1">
                    <c:v>+ Version Policy</c:v>
                  </c:pt>
                  <c:pt idx="2">
                    <c:v>+ 証明書を隠す</c:v>
                  </c:pt>
                </c:lvl>
              </c:multiLvlStrCache>
            </c:multiLvlStrRef>
          </c:cat>
          <c:val>
            <c:numRef>
              <c:f>Sheet1!$B$2:$B$4</c:f>
              <c:numCache>
                <c:formatCode>General</c:formatCode>
                <c:ptCount val="3"/>
                <c:pt idx="0">
                  <c:v>3829</c:v>
                </c:pt>
                <c:pt idx="1">
                  <c:v>12570</c:v>
                </c:pt>
                <c:pt idx="2">
                  <c:v>28596</c:v>
                </c:pt>
              </c:numCache>
            </c:numRef>
          </c:val>
        </c:ser>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34000"/>
        </c:scaling>
        <c:delete val="0"/>
        <c:axPos val="l"/>
        <c:majorGridlines>
          <c:spPr>
            <a:ln w="12700" cap="flat">
              <a:solidFill>
                <a:srgbClr val="DFE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cat>
            <c:multiLvlStrRef>
              <c:f>Sheet1!$A$2:$A$9</c:f>
              <c:multiLvlStrCache>
                <c:ptCount val="8"/>
                <c:lvl>
                  <c:pt idx="0">
                    <c:v>鍵セットの選択と署名者の相異</c:v>
                  </c:pt>
                  <c:pt idx="1">
                    <c:v>32bit の比較（score・件数・期限）</c:v>
                  </c:pt>
                  <c:pt idx="2">
                    <c:v>コミットメントの開示</c:v>
                  </c:pt>
                  <c:pt idx="3">
                    <c:v>Policy のハッシュ（8 入力）</c:v>
                  </c:pt>
                  <c:pt idx="4">
                    <c:v>Manifest の開示（4 入力 × 2）</c:v>
                  </c:pt>
                  <c:pt idx="5">
                    <c:v>証明書のハッシュ（10 入力）</c:v>
                  </c:pt>
                  <c:pt idx="6">
                    <c:v>Manifest Version Policy</c:v>
                  </c:pt>
                  <c:pt idx="7">
                    <c:v>Committee の署名（EdDSA 2 本）</c:v>
                  </c:pt>
                </c:lvl>
              </c:multiLvlStrCache>
            </c:multiLvlStrRef>
          </c:cat>
          <c:val>
            <c:numRef>
              <c:f>Sheet1!$B$2:$B$9</c:f>
              <c:numCache>
                <c:formatCode>General</c:formatCode>
                <c:ptCount val="8"/>
                <c:pt idx="0">
                  <c:v>22</c:v>
                </c:pt>
                <c:pt idx="1">
                  <c:v>297</c:v>
                </c:pt>
                <c:pt idx="2">
                  <c:v>1119</c:v>
                </c:pt>
                <c:pt idx="3">
                  <c:v>1489</c:v>
                </c:pt>
                <c:pt idx="4">
                  <c:v>1490</c:v>
                </c:pt>
                <c:pt idx="5">
                  <c:v>1861</c:v>
                </c:pt>
                <c:pt idx="6">
                  <c:v>6776</c:v>
                </c:pt>
                <c:pt idx="7">
                  <c:v>15538</c:v>
                </c:pt>
              </c:numCache>
            </c:numRef>
          </c:val>
        </c:ser>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18000"/>
        </c:scaling>
        <c:delete val="0"/>
        <c:axPos val="b"/>
        <c:majorGridlines>
          <c:spPr>
            <a:ln w="12700" cap="flat">
              <a:solidFill>
                <a:srgbClr val="DFE1F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掴み。名前を言ったら、すぐ下の 1 行をそのまま読む。『評価の中身も取引先も渡さずに、この領域で宣言した構成のまま条件を満たしていることだけを証明する』。何を作ったのかはこの 1 行で足りる。緑の 1 文は Manifest binding のキャッチで、最後にもう一度出す。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問題提起。左のロボットを指して、話しているのは人や代理店ではなくソフトウェアの AI エージェントだと最初に分からせる。旅行予約を代行するこの Agent が、予約サービスに来る。この Agent を信頼してよいか、という問いを立てる。ここで一度切って『しかし』と続け、サービス側の箱の 2 つを指す。自己申告は確かめられない、かといって履歴を全部渡されるのも困る。だから『他所で積んだ実績を検証できる形で持ち運ぶ』が要る、と言って次へ。具体的な会社名と点数はデモまで出さない。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問題②。人間にはない問題。昨日と今日で名前は同じ travel-agent-01 のまま、モデルも指示もツールも権限も入れ替わっている。実績を名前に紐付けると意味を失う。かといって更新のたびに実績を捨てるのも困る、という緊張をここで作っておくと、7 枚目の Version Policy が効く。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0:55-1:20 提案。ここで初めて名前を出す。定義を 1 文で読み上げてから、3 枚のカードがそれぞれ前の 2 枚で挙げた問題への答えになっていることを指差す。3 つ目が独自点だと明言しておくと、後ろの Manifest binding のスライドが素直に入る。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1:20-1:40 開示。左右の対比を読み上げる。証明書そのものが渡らないことと、Agent 固有の値が nullifier だけであることの 2 点を強調する。デモの右パネルがちょうどこの対比になっている、と繋げる。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1:40-2:15 構成。「3」が 2 回出るので、凡例の 1 行を指して区別を言う（Provider の 3 はデモの社数、Committee の 3 は回路の固定値）。Provider が署名付き Receipt を出し、Gateway が検査して評価を 3 分割、Committee が部分和から証明書を作る。Agent はそれを自分の中に持ったまま証明だけをサービスに出す。MPC の出力を ZK で開く、というのが Week 6 のスタック設計そのもの。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独自点。ここが主役。3 枚目で見せた箱と同じ図に戻ってくる。左の箱を指しながら「実績が付くのは名前ではなくこの 4 項目です」と言う。モデルを v2 にしても Policy が許していれば証明は通る、permissionScope の拡大は許可外なので Agent 側で証明を作れない、と 2 つを対にして説明する。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2:40-3:45 デモ。まず場面を読み上げる。A・B・C 社が 5・4・5 の評価を出した travel-agent-01 を、D 社が検証する。ここで冒頭の問いに具体的な数字が入る。あとは画面のボタンを ① から ⑥ まで上から押すだけ。各ボタンが条件の設定・実行・答えの表示までやる。③④が Manifest binding の表と裏、⑥ が unlinkability、②⑤ が『暗号で解けるもの／解けないもの』の線引き。見える / 見えないの対比は「Service から何が見えるか」タブを開いて話す（そこに 14・5/4/5・取引先名と、唯一残る限界も出る）。押していたら ② と ⑤ を飛ばす。ブラウザ 1 枚・外部 CDN なしは口頭で。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3:45-4:15 数字。制約が 2 段階で増えた推移を『プライバシーの値段』として語る。55 ms なら市場の効率を損なうレベルではない、と添える。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4:15-4:35 限界。自分から先に言う。ここを誠実に出すと、質疑が Shamir・直接秘密分散・許可 Manifest 集合という先の話に進む。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4:35-4:50 締め。3 行を読み上げてからキャッチに戻る。リポジトリはそのまま leave-behind 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ここから先は本編では出さない。質疑で必要になったときだけ飛ぶ。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メンター指摘①（ステークホルダーと技術スタックを明示した構成図が欲しい）への直接の答え。本編 6 枚目より詳しい版で、④ が Service → Agent の向きであることと、各層にどの技術を使っているかまで出している。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本編からは外した 1 枚。「他の方式でよいのでは」と聞かれたら出す。署名付きでスコアを公開すれば偽装は防げる。しかし取引先も合計点も見えるし、条件が変わるたび発行元に頼み直すことになる。zkAgent Passport は、この 3 列を同時に埋めにいく。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質疑で必ず来る問い。「Committee が 12 点以上と署名すれば済むのでは」と聞かれたらこの 1 枚を出す。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『制約数の内訳は？』に即答するための 1 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信頼前提を聞かれたらこの 1 枚。自分から本編で 1 行触れてあるので、ここは詳細版。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メンター（SeiyaKobayashi さん）から 2026-08-21 に来た 3 点。3 つとも実装と計測で答えが出ている。Issue への返信自体はまだ投稿していないので、聞かれたらそのまま言う。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分の質疑はこの 5 つでほぼ埋まる。声に出して 1 回ずつ答える練習をしておく。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24"/>
        </a:solidFill>
      </p:bgPr>
    </p:bg>
    <p:spTree>
      <p:nvGrpSpPr>
        <p:cNvPr id="1" name=""/>
        <p:cNvGrpSpPr/>
        <p:nvPr/>
      </p:nvGrpSpPr>
      <p:grpSpPr>
        <a:xfrm>
          <a:off x="0" y="0"/>
          <a:ext cx="0" cy="0"/>
          <a:chOff x="0" y="0"/>
          <a:chExt cx="0" cy="0"/>
        </a:xfrm>
      </p:grpSpPr>
      <p:sp>
        <p:nvSpPr>
          <p:cNvPr id="2" name="Shape 0"/>
          <p:cNvSpPr/>
          <p:nvPr/>
        </p:nvSpPr>
        <p:spPr>
          <a:xfrm>
            <a:off x="8321040" y="1143000"/>
            <a:ext cx="4206240" cy="4206240"/>
          </a:xfrm>
          <a:prstGeom prst="ellipse">
            <a:avLst/>
          </a:prstGeom>
          <a:solidFill>
            <a:srgbClr val="0F1024"/>
          </a:solidFill>
          <a:ln w="19050">
            <a:solidFill>
              <a:srgbClr val="5257AE">
                <a:alpha val="75000"/>
              </a:srgbClr>
            </a:solidFill>
            <a:prstDash val="solid"/>
          </a:ln>
        </p:spPr>
      </p:sp>
      <p:sp>
        <p:nvSpPr>
          <p:cNvPr id="3" name="Shape 1"/>
          <p:cNvSpPr/>
          <p:nvPr/>
        </p:nvSpPr>
        <p:spPr>
          <a:xfrm>
            <a:off x="8823960" y="1645920"/>
            <a:ext cx="3200400" cy="3200400"/>
          </a:xfrm>
          <a:prstGeom prst="ellipse">
            <a:avLst/>
          </a:prstGeom>
          <a:solidFill>
            <a:srgbClr val="0F1024"/>
          </a:solidFill>
          <a:ln w="15875">
            <a:solidFill>
              <a:srgbClr val="5257AE">
                <a:alpha val="50000"/>
              </a:srgbClr>
            </a:solidFill>
            <a:prstDash val="solid"/>
          </a:ln>
        </p:spPr>
      </p:sp>
      <p:sp>
        <p:nvSpPr>
          <p:cNvPr id="4" name="Shape 2"/>
          <p:cNvSpPr/>
          <p:nvPr/>
        </p:nvSpPr>
        <p:spPr>
          <a:xfrm>
            <a:off x="9418320" y="2240280"/>
            <a:ext cx="2011680" cy="2011680"/>
          </a:xfrm>
          <a:prstGeom prst="ellipse">
            <a:avLst/>
          </a:prstGeom>
          <a:solidFill>
            <a:srgbClr val="1B1E3D"/>
          </a:solidFill>
          <a:ln w="19050">
            <a:solidFill>
              <a:srgbClr val="00875F">
                <a:alpha val="80000"/>
              </a:srgbClr>
            </a:solidFill>
            <a:prstDash val="solid"/>
          </a:ln>
        </p:spPr>
      </p:sp>
      <p:sp>
        <p:nvSpPr>
          <p:cNvPr id="5" name="Text 3"/>
          <p:cNvSpPr txBox="1"/>
          <p:nvPr/>
        </p:nvSpPr>
        <p:spPr>
          <a:xfrm>
            <a:off x="9418320" y="2240280"/>
            <a:ext cx="2011680" cy="2011680"/>
          </a:xfrm>
          <a:prstGeom prst="rect">
            <a:avLst/>
          </a:prstGeom>
          <a:noFill/>
          <a:ln/>
        </p:spPr>
        <p:txBody>
          <a:bodyPr wrap="square" lIns="0" tIns="0" rIns="0" bIns="0" rtlCol="0" anchor="ctr"/>
          <a:lstStyle/>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VERIFIED</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WITHOUT</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DISCLOSURE</a:t>
            </a:r>
            <a:endParaRPr lang="en-US" sz="1100" dirty="0"/>
          </a:p>
        </p:txBody>
      </p:sp>
      <p:sp>
        <p:nvSpPr>
          <p:cNvPr id="6" name="Text 4"/>
          <p:cNvSpPr txBox="1"/>
          <p:nvPr/>
        </p:nvSpPr>
        <p:spPr>
          <a:xfrm>
            <a:off x="640080" y="1417320"/>
            <a:ext cx="7406640" cy="274320"/>
          </a:xfrm>
          <a:prstGeom prst="rect">
            <a:avLst/>
          </a:prstGeom>
          <a:noFill/>
          <a:ln/>
        </p:spPr>
        <p:txBody>
          <a:bodyPr wrap="square" lIns="0" tIns="0" rIns="0" bIns="0" rtlCol="0" anchor="ctr"/>
          <a:lstStyle/>
          <a:p>
            <a:pPr indent="0" marL="0">
              <a:buNone/>
            </a:pPr>
            <a:r>
              <a:rPr lang="en-US" sz="1200" b="1" spc="200" kern="0" dirty="0">
                <a:solidFill>
                  <a:srgbClr val="5257AE"/>
                </a:solidFill>
                <a:latin typeface="Arial" pitchFamily="34" charset="0"/>
                <a:ea typeface="Arial" pitchFamily="34" charset="-122"/>
                <a:cs typeface="Arial" pitchFamily="34" charset="-120"/>
              </a:rPr>
              <a:t>zk-tokyo  Advanced Cryptography 2026  ·  最終発表</a:t>
            </a:r>
            <a:endParaRPr lang="en-US" sz="1200" dirty="0"/>
          </a:p>
        </p:txBody>
      </p:sp>
      <p:sp>
        <p:nvSpPr>
          <p:cNvPr id="7" name="Text 5"/>
          <p:cNvSpPr txBox="1"/>
          <p:nvPr/>
        </p:nvSpPr>
        <p:spPr>
          <a:xfrm>
            <a:off x="640080" y="1783080"/>
            <a:ext cx="7406640" cy="96012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zkAgent Passport</a:t>
            </a:r>
            <a:endParaRPr lang="en-US" sz="5200" dirty="0"/>
          </a:p>
        </p:txBody>
      </p:sp>
      <p:sp>
        <p:nvSpPr>
          <p:cNvPr id="8" name="Text 6"/>
          <p:cNvSpPr txBox="1"/>
          <p:nvPr/>
        </p:nvSpPr>
        <p:spPr>
          <a:xfrm>
            <a:off x="640080" y="2816352"/>
            <a:ext cx="7406640" cy="841248"/>
          </a:xfrm>
          <a:prstGeom prst="rect">
            <a:avLst/>
          </a:prstGeom>
          <a:noFill/>
          <a:ln/>
        </p:spPr>
        <p:txBody>
          <a:bodyPr wrap="square" lIns="0" tIns="0" rIns="0" bIns="0" rtlCol="0" anchor="ctr"/>
          <a:lstStyle/>
          <a:p>
            <a:pPr indent="0" marL="0">
              <a:lnSpc>
                <a:spcPts val="2800"/>
              </a:lnSpc>
              <a:buNone/>
            </a:pPr>
            <a:r>
              <a:rPr lang="en-US" sz="1700" dirty="0">
                <a:solidFill>
                  <a:srgbClr val="DFE1F1"/>
                </a:solidFill>
                <a:latin typeface="Arial" pitchFamily="34" charset="0"/>
                <a:ea typeface="Arial" pitchFamily="34" charset="-122"/>
                <a:cs typeface="Arial" pitchFamily="34" charset="-120"/>
              </a:rPr>
              <a:t>評価の中身も取引先も渡さずに、「この領域で、宣言した構成のまま、条件を満たしている」ことだけをサービスに証明する</a:t>
            </a:r>
            <a:endParaRPr lang="en-US" sz="1700" dirty="0"/>
          </a:p>
        </p:txBody>
      </p:sp>
      <p:sp>
        <p:nvSpPr>
          <p:cNvPr id="9" name="Text 7"/>
          <p:cNvSpPr txBox="1"/>
          <p:nvPr/>
        </p:nvSpPr>
        <p:spPr>
          <a:xfrm>
            <a:off x="640080" y="3840480"/>
            <a:ext cx="7406640" cy="457200"/>
          </a:xfrm>
          <a:prstGeom prst="rect">
            <a:avLst/>
          </a:prstGeom>
          <a:noFill/>
          <a:ln/>
        </p:spPr>
        <p:txBody>
          <a:bodyPr wrap="square" lIns="0" tIns="0" rIns="0" bIns="0" rtlCol="0" anchor="ctr"/>
          <a:lstStyle/>
          <a:p>
            <a:pPr indent="0" marL="0">
              <a:buNone/>
            </a:pPr>
            <a:r>
              <a:rPr lang="en-US" sz="19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1900" dirty="0"/>
          </a:p>
        </p:txBody>
      </p:sp>
      <p:sp>
        <p:nvSpPr>
          <p:cNvPr id="10" name="Text 8"/>
          <p:cNvSpPr txBox="1"/>
          <p:nvPr/>
        </p:nvSpPr>
        <p:spPr>
          <a:xfrm>
            <a:off x="640080" y="4846320"/>
            <a:ext cx="7406640" cy="29260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Daisuke Iuchi　/　Group 3・Issue #124</a:t>
            </a:r>
            <a:endParaRPr lang="en-US" sz="1400" dirty="0"/>
          </a:p>
        </p:txBody>
      </p:sp>
      <p:sp>
        <p:nvSpPr>
          <p:cNvPr id="11" name="Text 9"/>
          <p:cNvSpPr txBox="1"/>
          <p:nvPr/>
        </p:nvSpPr>
        <p:spPr>
          <a:xfrm>
            <a:off x="640080" y="5212080"/>
            <a:ext cx="7406640" cy="292608"/>
          </a:xfrm>
          <a:prstGeom prst="rect">
            <a:avLst/>
          </a:prstGeom>
          <a:noFill/>
          <a:ln/>
        </p:spPr>
        <p:txBody>
          <a:bodyPr wrap="square" lIns="0" tIns="0" rIns="0" bIns="0" rtlCol="0" anchor="ctr"/>
          <a:lstStyle/>
          <a:p>
            <a:pPr indent="0" marL="0">
              <a:buNone/>
            </a:pPr>
            <a:r>
              <a:rPr lang="en-US" sz="1100" dirty="0">
                <a:solidFill>
                  <a:srgbClr val="6A6F93"/>
                </a:solidFill>
                <a:latin typeface="Courier New" pitchFamily="34" charset="0"/>
                <a:ea typeface="Courier New" pitchFamily="34" charset="-122"/>
                <a:cs typeface="Courier New" pitchFamily="34" charset="-120"/>
              </a:rPr>
              <a:t>github.com/da1suk8/zk-agent-passport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01 ─ 問題提起</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この AI エージェントに、予約を任せてよいか</a:t>
            </a:r>
            <a:endParaRPr lang="en-US" sz="2900" dirty="0"/>
          </a:p>
        </p:txBody>
      </p:sp>
      <p:sp>
        <p:nvSpPr>
          <p:cNvPr id="4" name="Shape 2"/>
          <p:cNvSpPr/>
          <p:nvPr/>
        </p:nvSpPr>
        <p:spPr>
          <a:xfrm>
            <a:off x="640080" y="1783080"/>
            <a:ext cx="4937760" cy="2651760"/>
          </a:xfrm>
          <a:prstGeom prst="roundRect">
            <a:avLst>
              <a:gd name="adj" fmla="val 2069"/>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932688" y="2039112"/>
            <a:ext cx="1280160" cy="365760"/>
          </a:xfrm>
          <a:prstGeom prst="roundRect">
            <a:avLst>
              <a:gd name="adj" fmla="val 15000"/>
            </a:avLst>
          </a:prstGeom>
          <a:solidFill>
            <a:srgbClr val="2B2F77"/>
          </a:solidFill>
          <a:ln/>
        </p:spPr>
      </p:sp>
      <p:sp>
        <p:nvSpPr>
          <p:cNvPr id="6" name="Text 4"/>
          <p:cNvSpPr txBox="1"/>
          <p:nvPr/>
        </p:nvSpPr>
        <p:spPr>
          <a:xfrm>
            <a:off x="932688" y="2039112"/>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AI Agent</a:t>
            </a:r>
            <a:endParaRPr lang="en-US" sz="1250" dirty="0"/>
          </a:p>
        </p:txBody>
      </p:sp>
      <p:sp>
        <p:nvSpPr>
          <p:cNvPr id="7" name="Text 5"/>
          <p:cNvSpPr txBox="1"/>
          <p:nvPr/>
        </p:nvSpPr>
        <p:spPr>
          <a:xfrm>
            <a:off x="2331720" y="2039112"/>
            <a:ext cx="2971800" cy="365760"/>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8" name="Shape 6"/>
          <p:cNvSpPr/>
          <p:nvPr/>
        </p:nvSpPr>
        <p:spPr>
          <a:xfrm>
            <a:off x="1490472" y="2624328"/>
            <a:ext cx="139903" cy="139903"/>
          </a:xfrm>
          <a:prstGeom prst="ellipse">
            <a:avLst/>
          </a:prstGeom>
          <a:solidFill>
            <a:srgbClr val="00875F"/>
          </a:solidFill>
          <a:ln/>
        </p:spPr>
      </p:sp>
      <p:sp>
        <p:nvSpPr>
          <p:cNvPr id="9" name="Shape 7"/>
          <p:cNvSpPr/>
          <p:nvPr/>
        </p:nvSpPr>
        <p:spPr>
          <a:xfrm>
            <a:off x="1540993" y="2740914"/>
            <a:ext cx="38862" cy="155448"/>
          </a:xfrm>
          <a:prstGeom prst="rect">
            <a:avLst/>
          </a:prstGeom>
          <a:solidFill>
            <a:srgbClr val="2B2F77"/>
          </a:solidFill>
          <a:ln/>
        </p:spPr>
      </p:sp>
      <p:sp>
        <p:nvSpPr>
          <p:cNvPr id="10" name="Shape 8"/>
          <p:cNvSpPr/>
          <p:nvPr/>
        </p:nvSpPr>
        <p:spPr>
          <a:xfrm>
            <a:off x="1039673" y="3075127"/>
            <a:ext cx="85496" cy="202082"/>
          </a:xfrm>
          <a:prstGeom prst="roundRect">
            <a:avLst>
              <a:gd name="adj" fmla="val 32086"/>
            </a:avLst>
          </a:prstGeom>
          <a:solidFill>
            <a:srgbClr val="5257AE"/>
          </a:solidFill>
          <a:ln/>
        </p:spPr>
      </p:sp>
      <p:sp>
        <p:nvSpPr>
          <p:cNvPr id="11" name="Shape 9"/>
          <p:cNvSpPr/>
          <p:nvPr/>
        </p:nvSpPr>
        <p:spPr>
          <a:xfrm>
            <a:off x="1987906" y="3075127"/>
            <a:ext cx="85496" cy="202082"/>
          </a:xfrm>
          <a:prstGeom prst="roundRect">
            <a:avLst>
              <a:gd name="adj" fmla="val 32086"/>
            </a:avLst>
          </a:prstGeom>
          <a:solidFill>
            <a:srgbClr val="5257AE"/>
          </a:solidFill>
          <a:ln/>
        </p:spPr>
      </p:sp>
      <p:sp>
        <p:nvSpPr>
          <p:cNvPr id="12" name="Shape 10"/>
          <p:cNvSpPr/>
          <p:nvPr/>
        </p:nvSpPr>
        <p:spPr>
          <a:xfrm>
            <a:off x="1117397" y="2880817"/>
            <a:ext cx="870509" cy="683971"/>
          </a:xfrm>
          <a:prstGeom prst="roundRect">
            <a:avLst>
              <a:gd name="adj" fmla="val 15909"/>
            </a:avLst>
          </a:prstGeom>
          <a:solidFill>
            <a:srgbClr val="2B2F77"/>
          </a:solidFill>
          <a:ln/>
        </p:spPr>
      </p:sp>
      <p:sp>
        <p:nvSpPr>
          <p:cNvPr id="13" name="Shape 11"/>
          <p:cNvSpPr/>
          <p:nvPr/>
        </p:nvSpPr>
        <p:spPr>
          <a:xfrm>
            <a:off x="1319479" y="3067355"/>
            <a:ext cx="132131" cy="132131"/>
          </a:xfrm>
          <a:prstGeom prst="ellipse">
            <a:avLst/>
          </a:prstGeom>
          <a:solidFill>
            <a:srgbClr val="00875F"/>
          </a:solidFill>
          <a:ln/>
        </p:spPr>
      </p:sp>
      <p:sp>
        <p:nvSpPr>
          <p:cNvPr id="14" name="Shape 12"/>
          <p:cNvSpPr/>
          <p:nvPr/>
        </p:nvSpPr>
        <p:spPr>
          <a:xfrm>
            <a:off x="1653692" y="3067355"/>
            <a:ext cx="132131" cy="132131"/>
          </a:xfrm>
          <a:prstGeom prst="ellipse">
            <a:avLst/>
          </a:prstGeom>
          <a:solidFill>
            <a:srgbClr val="00875F"/>
          </a:solidFill>
          <a:ln/>
        </p:spPr>
      </p:sp>
      <p:sp>
        <p:nvSpPr>
          <p:cNvPr id="15" name="Shape 13"/>
          <p:cNvSpPr/>
          <p:nvPr/>
        </p:nvSpPr>
        <p:spPr>
          <a:xfrm>
            <a:off x="1412748" y="3339389"/>
            <a:ext cx="279806" cy="77724"/>
          </a:xfrm>
          <a:prstGeom prst="roundRect">
            <a:avLst>
              <a:gd name="adj" fmla="val 30000"/>
            </a:avLst>
          </a:prstGeom>
          <a:solidFill>
            <a:srgbClr val="DFE1F1"/>
          </a:solidFill>
          <a:ln/>
        </p:spPr>
      </p:sp>
      <p:sp>
        <p:nvSpPr>
          <p:cNvPr id="16" name="Shape 14"/>
          <p:cNvSpPr/>
          <p:nvPr/>
        </p:nvSpPr>
        <p:spPr>
          <a:xfrm>
            <a:off x="1506017" y="3564788"/>
            <a:ext cx="93269" cy="77724"/>
          </a:xfrm>
          <a:prstGeom prst="rect">
            <a:avLst/>
          </a:prstGeom>
          <a:solidFill>
            <a:srgbClr val="5257AE"/>
          </a:solidFill>
          <a:ln/>
        </p:spPr>
      </p:sp>
      <p:sp>
        <p:nvSpPr>
          <p:cNvPr id="17" name="Shape 15"/>
          <p:cNvSpPr/>
          <p:nvPr/>
        </p:nvSpPr>
        <p:spPr>
          <a:xfrm>
            <a:off x="1257300" y="3634740"/>
            <a:ext cx="590702" cy="295351"/>
          </a:xfrm>
          <a:prstGeom prst="roundRect">
            <a:avLst>
              <a:gd name="adj" fmla="val 26316"/>
            </a:avLst>
          </a:prstGeom>
          <a:solidFill>
            <a:srgbClr val="5257AE"/>
          </a:solidFill>
          <a:ln/>
        </p:spPr>
      </p:sp>
      <p:sp>
        <p:nvSpPr>
          <p:cNvPr id="18" name="Text 16"/>
          <p:cNvSpPr txBox="1"/>
          <p:nvPr/>
        </p:nvSpPr>
        <p:spPr>
          <a:xfrm>
            <a:off x="2331720" y="2606040"/>
            <a:ext cx="2953512" cy="731520"/>
          </a:xfrm>
          <a:prstGeom prst="rect">
            <a:avLst/>
          </a:prstGeom>
          <a:noFill/>
          <a:ln/>
        </p:spPr>
        <p:txBody>
          <a:bodyPr wrap="square" lIns="0" tIns="0" rIns="0" bIns="0" rtlCol="0" anchor="ctr"/>
          <a:lstStyle/>
          <a:p>
            <a:pPr indent="0" marL="0">
              <a:lnSpc>
                <a:spcPts val="2100"/>
              </a:lnSpc>
              <a:buNone/>
            </a:pPr>
            <a:r>
              <a:rPr lang="en-US" sz="1250" dirty="0">
                <a:solidFill>
                  <a:srgbClr val="3A3F63"/>
                </a:solidFill>
                <a:latin typeface="Arial" pitchFamily="34" charset="0"/>
                <a:ea typeface="Arial" pitchFamily="34" charset="-122"/>
                <a:cs typeface="Arial" pitchFamily="34" charset="-120"/>
              </a:rPr>
              <a:t>旅行予約を代行する AI エージェント。利用者の代わりに空室を探し、予約や変更をする。</a:t>
            </a:r>
            <a:endParaRPr lang="en-US" sz="1250" dirty="0"/>
          </a:p>
        </p:txBody>
      </p:sp>
      <p:sp>
        <p:nvSpPr>
          <p:cNvPr id="19" name="Text 17"/>
          <p:cNvSpPr txBox="1"/>
          <p:nvPr/>
        </p:nvSpPr>
        <p:spPr>
          <a:xfrm>
            <a:off x="2331720" y="3429000"/>
            <a:ext cx="2953512" cy="457200"/>
          </a:xfrm>
          <a:prstGeom prst="rect">
            <a:avLst/>
          </a:prstGeom>
          <a:noFill/>
          <a:ln/>
        </p:spPr>
        <p:txBody>
          <a:bodyPr wrap="square" lIns="0" tIns="0" rIns="0" bIns="0" rtlCol="0" anchor="ctr"/>
          <a:lstStyle/>
          <a:p>
            <a:pPr indent="0" marL="0">
              <a:buNone/>
            </a:pPr>
            <a:r>
              <a:rPr lang="en-US" sz="1450" b="1" dirty="0">
                <a:solidFill>
                  <a:srgbClr val="2B2F77"/>
                </a:solidFill>
                <a:latin typeface="Arial" pitchFamily="34" charset="0"/>
                <a:ea typeface="Arial" pitchFamily="34" charset="-122"/>
                <a:cs typeface="Arial" pitchFamily="34" charset="-120"/>
              </a:rPr>
              <a:t>「他のサービスで実績があります」</a:t>
            </a:r>
            <a:endParaRPr lang="en-US" sz="1450" dirty="0"/>
          </a:p>
        </p:txBody>
      </p:sp>
      <p:sp>
        <p:nvSpPr>
          <p:cNvPr id="20" name="Text 18"/>
          <p:cNvSpPr txBox="1"/>
          <p:nvPr/>
        </p:nvSpPr>
        <p:spPr>
          <a:xfrm>
            <a:off x="2331720" y="3904488"/>
            <a:ext cx="2953512"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 本人の自己申告</a:t>
            </a:r>
            <a:endParaRPr lang="en-US" sz="1050" dirty="0"/>
          </a:p>
        </p:txBody>
      </p:sp>
      <p:sp>
        <p:nvSpPr>
          <p:cNvPr id="21" name="Shape 19"/>
          <p:cNvSpPr/>
          <p:nvPr/>
        </p:nvSpPr>
        <p:spPr>
          <a:xfrm>
            <a:off x="5687568" y="2944368"/>
            <a:ext cx="502920" cy="329184"/>
          </a:xfrm>
          <a:prstGeom prst="rightArrow">
            <a:avLst/>
          </a:prstGeom>
          <a:solidFill>
            <a:srgbClr val="C0402A"/>
          </a:solidFill>
          <a:ln/>
        </p:spPr>
      </p:sp>
      <p:sp>
        <p:nvSpPr>
          <p:cNvPr id="22" name="Shape 20"/>
          <p:cNvSpPr/>
          <p:nvPr/>
        </p:nvSpPr>
        <p:spPr>
          <a:xfrm>
            <a:off x="6300216" y="1783080"/>
            <a:ext cx="5251399" cy="2651760"/>
          </a:xfrm>
          <a:prstGeom prst="roundRect">
            <a:avLst>
              <a:gd name="adj" fmla="val 2069"/>
            </a:avLst>
          </a:prstGeom>
          <a:solidFill>
            <a:srgbClr val="2B2F77"/>
          </a:solidFill>
          <a:ln/>
          <a:effectLst>
            <a:outerShdw sx="100000" sy="100000" kx="0" ky="0" algn="bl" rotWithShape="0" blurRad="127000" dist="19050" dir="5400000">
              <a:srgbClr val="2B2F77">
                <a:alpha val="12000"/>
              </a:srgbClr>
            </a:outerShdw>
          </a:effectLst>
        </p:spPr>
      </p:sp>
      <p:sp>
        <p:nvSpPr>
          <p:cNvPr id="23" name="Shape 21"/>
          <p:cNvSpPr/>
          <p:nvPr/>
        </p:nvSpPr>
        <p:spPr>
          <a:xfrm>
            <a:off x="6626474" y="2044598"/>
            <a:ext cx="353324" cy="344912"/>
          </a:xfrm>
          <a:prstGeom prst="roundRect">
            <a:avLst>
              <a:gd name="adj" fmla="val 6098"/>
            </a:avLst>
          </a:prstGeom>
          <a:solidFill>
            <a:srgbClr val="FFFFFF"/>
          </a:solidFill>
          <a:ln/>
        </p:spPr>
      </p:sp>
      <p:sp>
        <p:nvSpPr>
          <p:cNvPr id="24" name="Shape 22"/>
          <p:cNvSpPr/>
          <p:nvPr/>
        </p:nvSpPr>
        <p:spPr>
          <a:xfrm>
            <a:off x="6685361" y="2111898"/>
            <a:ext cx="75712" cy="58887"/>
          </a:xfrm>
          <a:prstGeom prst="rect">
            <a:avLst/>
          </a:prstGeom>
          <a:solidFill>
            <a:srgbClr val="2B2F77"/>
          </a:solidFill>
          <a:ln/>
        </p:spPr>
      </p:sp>
      <p:sp>
        <p:nvSpPr>
          <p:cNvPr id="25" name="Shape 23"/>
          <p:cNvSpPr/>
          <p:nvPr/>
        </p:nvSpPr>
        <p:spPr>
          <a:xfrm>
            <a:off x="6828373" y="2111898"/>
            <a:ext cx="75712" cy="58887"/>
          </a:xfrm>
          <a:prstGeom prst="rect">
            <a:avLst/>
          </a:prstGeom>
          <a:solidFill>
            <a:srgbClr val="2B2F77"/>
          </a:solidFill>
          <a:ln/>
        </p:spPr>
      </p:sp>
      <p:sp>
        <p:nvSpPr>
          <p:cNvPr id="26" name="Shape 24"/>
          <p:cNvSpPr/>
          <p:nvPr/>
        </p:nvSpPr>
        <p:spPr>
          <a:xfrm>
            <a:off x="6685361" y="2204436"/>
            <a:ext cx="75712" cy="58887"/>
          </a:xfrm>
          <a:prstGeom prst="rect">
            <a:avLst/>
          </a:prstGeom>
          <a:solidFill>
            <a:srgbClr val="2B2F77"/>
          </a:solidFill>
          <a:ln/>
        </p:spPr>
      </p:sp>
      <p:sp>
        <p:nvSpPr>
          <p:cNvPr id="27" name="Shape 25"/>
          <p:cNvSpPr/>
          <p:nvPr/>
        </p:nvSpPr>
        <p:spPr>
          <a:xfrm>
            <a:off x="6828373" y="2204436"/>
            <a:ext cx="75712" cy="58887"/>
          </a:xfrm>
          <a:prstGeom prst="rect">
            <a:avLst/>
          </a:prstGeom>
          <a:solidFill>
            <a:srgbClr val="2B2F77"/>
          </a:solidFill>
          <a:ln/>
        </p:spPr>
      </p:sp>
      <p:sp>
        <p:nvSpPr>
          <p:cNvPr id="28" name="Shape 26"/>
          <p:cNvSpPr/>
          <p:nvPr/>
        </p:nvSpPr>
        <p:spPr>
          <a:xfrm>
            <a:off x="6756867" y="2305385"/>
            <a:ext cx="75712" cy="84125"/>
          </a:xfrm>
          <a:prstGeom prst="rect">
            <a:avLst/>
          </a:prstGeom>
          <a:solidFill>
            <a:srgbClr val="2B2F77"/>
          </a:solidFill>
          <a:ln/>
        </p:spPr>
      </p:sp>
      <p:sp>
        <p:nvSpPr>
          <p:cNvPr id="29" name="Shape 27"/>
          <p:cNvSpPr/>
          <p:nvPr/>
        </p:nvSpPr>
        <p:spPr>
          <a:xfrm>
            <a:off x="7077456" y="2039112"/>
            <a:ext cx="1554480" cy="365760"/>
          </a:xfrm>
          <a:prstGeom prst="roundRect">
            <a:avLst>
              <a:gd name="adj" fmla="val 15000"/>
            </a:avLst>
          </a:prstGeom>
          <a:solidFill>
            <a:srgbClr val="FFFFFF"/>
          </a:solidFill>
          <a:ln/>
        </p:spPr>
      </p:sp>
      <p:sp>
        <p:nvSpPr>
          <p:cNvPr id="30" name="Text 28"/>
          <p:cNvSpPr txBox="1"/>
          <p:nvPr/>
        </p:nvSpPr>
        <p:spPr>
          <a:xfrm>
            <a:off x="7077456" y="203911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31" name="Text 29"/>
          <p:cNvSpPr txBox="1"/>
          <p:nvPr/>
        </p:nvSpPr>
        <p:spPr>
          <a:xfrm>
            <a:off x="8769096" y="2039112"/>
            <a:ext cx="2489911" cy="365760"/>
          </a:xfrm>
          <a:prstGeom prst="rect">
            <a:avLst/>
          </a:prstGeom>
          <a:noFill/>
          <a:ln/>
        </p:spPr>
        <p:txBody>
          <a:bodyPr wrap="square" lIns="0" tIns="0" rIns="0" bIns="0" rtlCol="0" anchor="ctr"/>
          <a:lstStyle/>
          <a:p>
            <a:pPr algn="r" indent="0" marL="0">
              <a:buNone/>
            </a:pPr>
            <a:r>
              <a:rPr lang="en-US" sz="1100" dirty="0">
                <a:solidFill>
                  <a:srgbClr val="DFE1F1"/>
                </a:solidFill>
                <a:latin typeface="Arial" pitchFamily="34" charset="0"/>
                <a:ea typeface="Arial" pitchFamily="34" charset="-122"/>
                <a:cs typeface="Arial" pitchFamily="34" charset="-120"/>
              </a:rPr>
              <a:t>この Agent は初めて</a:t>
            </a:r>
            <a:endParaRPr lang="en-US" sz="1100" dirty="0"/>
          </a:p>
        </p:txBody>
      </p:sp>
      <p:sp>
        <p:nvSpPr>
          <p:cNvPr id="32" name="Text 30"/>
          <p:cNvSpPr txBox="1"/>
          <p:nvPr/>
        </p:nvSpPr>
        <p:spPr>
          <a:xfrm>
            <a:off x="6592824" y="2587752"/>
            <a:ext cx="4666183"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「この AI エージェントに予約を任せてよいか？」</a:t>
            </a:r>
            <a:endParaRPr lang="en-US" sz="1500" dirty="0"/>
          </a:p>
        </p:txBody>
      </p:sp>
      <p:sp>
        <p:nvSpPr>
          <p:cNvPr id="33" name="Shape 31"/>
          <p:cNvSpPr/>
          <p:nvPr/>
        </p:nvSpPr>
        <p:spPr>
          <a:xfrm>
            <a:off x="6592824" y="3154680"/>
            <a:ext cx="4666183" cy="530352"/>
          </a:xfrm>
          <a:prstGeom prst="roundRect">
            <a:avLst>
              <a:gd name="adj" fmla="val 8621"/>
            </a:avLst>
          </a:prstGeom>
          <a:solidFill>
            <a:srgbClr val="222657"/>
          </a:solidFill>
          <a:ln/>
        </p:spPr>
      </p:sp>
      <p:sp>
        <p:nvSpPr>
          <p:cNvPr id="34" name="Text 32"/>
          <p:cNvSpPr txBox="1"/>
          <p:nvPr/>
        </p:nvSpPr>
        <p:spPr>
          <a:xfrm>
            <a:off x="6757416" y="3154680"/>
            <a:ext cx="274320" cy="530352"/>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5" name="Text 33"/>
          <p:cNvSpPr txBox="1"/>
          <p:nvPr/>
        </p:nvSpPr>
        <p:spPr>
          <a:xfrm>
            <a:off x="7104888" y="3154680"/>
            <a:ext cx="4154119" cy="53035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rPr>
              <a:t>自己申告は確かめられない</a:t>
            </a:r>
            <a:endParaRPr lang="en-US" sz="1250" dirty="0"/>
          </a:p>
          <a:p>
            <a:pPr indent="0" marL="0">
              <a:lnSpc>
                <a:spcPts val="1600"/>
              </a:lnSpc>
              <a:buNone/>
            </a:pPr>
            <a:r>
              <a:rPr lang="en-US" sz="1050" dirty="0">
                <a:solidFill>
                  <a:srgbClr val="DFE1F1"/>
                </a:solidFill>
              </a:rPr>
              <a:t>偽装できるし、誰が出した数字かも分からない</a:t>
            </a:r>
            <a:endParaRPr lang="en-US" sz="1250" dirty="0"/>
          </a:p>
        </p:txBody>
      </p:sp>
      <p:sp>
        <p:nvSpPr>
          <p:cNvPr id="36" name="Shape 34"/>
          <p:cNvSpPr/>
          <p:nvPr/>
        </p:nvSpPr>
        <p:spPr>
          <a:xfrm>
            <a:off x="6592824" y="3758184"/>
            <a:ext cx="4666183" cy="530352"/>
          </a:xfrm>
          <a:prstGeom prst="roundRect">
            <a:avLst>
              <a:gd name="adj" fmla="val 8621"/>
            </a:avLst>
          </a:prstGeom>
          <a:solidFill>
            <a:srgbClr val="222657"/>
          </a:solidFill>
          <a:ln/>
        </p:spPr>
      </p:sp>
      <p:sp>
        <p:nvSpPr>
          <p:cNvPr id="37" name="Text 35"/>
          <p:cNvSpPr txBox="1"/>
          <p:nvPr/>
        </p:nvSpPr>
        <p:spPr>
          <a:xfrm>
            <a:off x="6757416" y="3758184"/>
            <a:ext cx="274320" cy="530352"/>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8" name="Text 36"/>
          <p:cNvSpPr txBox="1"/>
          <p:nvPr/>
        </p:nvSpPr>
        <p:spPr>
          <a:xfrm>
            <a:off x="7104888" y="3758184"/>
            <a:ext cx="4154119" cy="530352"/>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rPr>
              <a:t>履歴を全部渡すことになる</a:t>
            </a:r>
            <a:endParaRPr lang="en-US" sz="1250" dirty="0"/>
          </a:p>
          <a:p>
            <a:pPr indent="0" marL="0">
              <a:lnSpc>
                <a:spcPts val="1600"/>
              </a:lnSpc>
              <a:buNone/>
            </a:pPr>
            <a:r>
              <a:rPr lang="en-US" sz="1050" dirty="0">
                <a:solidFill>
                  <a:srgbClr val="DFE1F1"/>
                </a:solidFill>
              </a:rPr>
              <a:t>実績を示すと、取引先も個別の低評価も一緒に渡る</a:t>
            </a:r>
            <a:endParaRPr lang="en-US" sz="1250" dirty="0"/>
          </a:p>
        </p:txBody>
      </p:sp>
      <p:sp>
        <p:nvSpPr>
          <p:cNvPr id="39" name="Shape 37"/>
          <p:cNvSpPr/>
          <p:nvPr/>
        </p:nvSpPr>
        <p:spPr>
          <a:xfrm>
            <a:off x="640080" y="4736592"/>
            <a:ext cx="10911535" cy="914400"/>
          </a:xfrm>
          <a:prstGeom prst="roundRect">
            <a:avLst>
              <a:gd name="adj" fmla="val 8000"/>
            </a:avLst>
          </a:prstGeom>
          <a:solidFill>
            <a:srgbClr val="EDEEF7"/>
          </a:solidFill>
          <a:ln/>
        </p:spPr>
      </p:sp>
      <p:sp>
        <p:nvSpPr>
          <p:cNvPr id="40" name="Text 38"/>
          <p:cNvSpPr txBox="1"/>
          <p:nvPr/>
        </p:nvSpPr>
        <p:spPr>
          <a:xfrm>
            <a:off x="1005840" y="4736592"/>
            <a:ext cx="10180015" cy="914400"/>
          </a:xfrm>
          <a:prstGeom prst="rect">
            <a:avLst/>
          </a:prstGeom>
          <a:noFill/>
          <a:ln/>
        </p:spPr>
        <p:txBody>
          <a:bodyPr wrap="square" lIns="0" tIns="0" rIns="0" bIns="0" rtlCol="0" anchor="ctr"/>
          <a:lstStyle/>
          <a:p>
            <a:pPr indent="0" marL="0">
              <a:lnSpc>
                <a:spcPts val="2500"/>
              </a:lnSpc>
              <a:buNone/>
            </a:pPr>
            <a:r>
              <a:rPr lang="en-US" sz="1600" b="1" dirty="0">
                <a:solidFill>
                  <a:srgbClr val="2B2F77"/>
                </a:solidFill>
              </a:rPr>
              <a:t>ほしいのは、「他所で積んだ実績を、検証できる形で持ち運ぶこと」</a:t>
            </a:r>
            <a:endParaRPr lang="en-US" sz="1600" dirty="0"/>
          </a:p>
          <a:p>
            <a:pPr indent="0" marL="0">
              <a:lnSpc>
                <a:spcPts val="2500"/>
              </a:lnSpc>
              <a:buNone/>
            </a:pPr>
            <a:r>
              <a:rPr lang="en-US" sz="1200" dirty="0">
                <a:solidFill>
                  <a:srgbClr val="3A3F63"/>
                </a:solidFill>
              </a:rPr>
              <a:t>サービスごとに一から実績を積み直すのも、履歴を全部渡すのも現実的ではない。</a:t>
            </a:r>
            <a:endParaRPr lang="en-US" sz="1600" dirty="0"/>
          </a:p>
        </p:txBody>
      </p:sp>
      <p:sp>
        <p:nvSpPr>
          <p:cNvPr id="41" name="Text 39"/>
          <p:cNvSpPr txBox="1"/>
          <p:nvPr/>
        </p:nvSpPr>
        <p:spPr>
          <a:xfrm>
            <a:off x="640080" y="5833872"/>
            <a:ext cx="10911535" cy="365760"/>
          </a:xfrm>
          <a:prstGeom prst="rect">
            <a:avLst/>
          </a:prstGeom>
          <a:noFill/>
          <a:ln/>
        </p:spPr>
        <p:txBody>
          <a:bodyPr wrap="square" lIns="0" tIns="0" rIns="0" bIns="0" rtlCol="0" anchor="ctr"/>
          <a:lstStyle/>
          <a:p>
            <a:pPr indent="0" marL="0">
              <a:buNone/>
            </a:pPr>
            <a:r>
              <a:rPr lang="en-US" sz="1300" i="1" dirty="0">
                <a:solidFill>
                  <a:srgbClr val="6A6F93"/>
                </a:solidFill>
                <a:latin typeface="Arial" pitchFamily="34" charset="0"/>
                <a:ea typeface="Arial" pitchFamily="34" charset="-122"/>
                <a:cs typeface="Arial" pitchFamily="34" charset="-120"/>
              </a:rPr>
              <a:t>AI が「答える」から「任される」へ進むほど、この判断が必要になる場面が増える。</a:t>
            </a:r>
            <a:endParaRPr lang="en-US" sz="1300" dirty="0"/>
          </a:p>
        </p:txBody>
      </p:sp>
      <p:sp>
        <p:nvSpPr>
          <p:cNvPr id="42" name="Text 4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02 ─ AI 固有の難しさ</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しかも、Agent は中身を入れ替えられる</a:t>
            </a:r>
            <a:endParaRPr lang="en-US" sz="2900" dirty="0"/>
          </a:p>
        </p:txBody>
      </p:sp>
      <p:sp>
        <p:nvSpPr>
          <p:cNvPr id="4" name="Shape 2"/>
          <p:cNvSpPr/>
          <p:nvPr/>
        </p:nvSpPr>
        <p:spPr>
          <a:xfrm>
            <a:off x="640080" y="1783080"/>
            <a:ext cx="5227168" cy="3063240"/>
          </a:xfrm>
          <a:prstGeom prst="roundRect">
            <a:avLst>
              <a:gd name="adj" fmla="val 1791"/>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600200" cy="384048"/>
          </a:xfrm>
          <a:prstGeom prst="roundRect">
            <a:avLst>
              <a:gd name="adj" fmla="val 14286"/>
            </a:avLst>
          </a:prstGeom>
          <a:solidFill>
            <a:srgbClr val="2B2F77"/>
          </a:solidFill>
          <a:ln/>
        </p:spPr>
      </p:sp>
      <p:sp>
        <p:nvSpPr>
          <p:cNvPr id="16" name="Text 14"/>
          <p:cNvSpPr txBox="1"/>
          <p:nvPr/>
        </p:nvSpPr>
        <p:spPr>
          <a:xfrm>
            <a:off x="1417320"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昨日の Agent</a:t>
            </a:r>
            <a:endParaRPr lang="en-US" sz="1250" dirty="0"/>
          </a:p>
        </p:txBody>
      </p:sp>
      <p:sp>
        <p:nvSpPr>
          <p:cNvPr id="17" name="Text 15"/>
          <p:cNvSpPr txBox="1"/>
          <p:nvPr/>
        </p:nvSpPr>
        <p:spPr>
          <a:xfrm>
            <a:off x="3127248"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18" name="Shape 16"/>
          <p:cNvSpPr/>
          <p:nvPr/>
        </p:nvSpPr>
        <p:spPr>
          <a:xfrm>
            <a:off x="914400" y="2624328"/>
            <a:ext cx="4678528" cy="438912"/>
          </a:xfrm>
          <a:prstGeom prst="roundRect">
            <a:avLst>
              <a:gd name="adj" fmla="val 10417"/>
            </a:avLst>
          </a:prstGeom>
          <a:solidFill>
            <a:srgbClr val="EDEEF7"/>
          </a:solidFill>
          <a:ln/>
        </p:spPr>
      </p:sp>
      <p:sp>
        <p:nvSpPr>
          <p:cNvPr id="19" name="Text 17"/>
          <p:cNvSpPr txBox="1"/>
          <p:nvPr/>
        </p:nvSpPr>
        <p:spPr>
          <a:xfrm>
            <a:off x="1060704" y="2624328"/>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modelId</a:t>
            </a:r>
            <a:endParaRPr lang="en-US" sz="950" dirty="0"/>
          </a:p>
        </p:txBody>
      </p:sp>
      <p:sp>
        <p:nvSpPr>
          <p:cNvPr id="20" name="Text 18"/>
          <p:cNvSpPr txBox="1"/>
          <p:nvPr/>
        </p:nvSpPr>
        <p:spPr>
          <a:xfrm>
            <a:off x="2926080" y="2624328"/>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gpt-demo-v1</a:t>
            </a:r>
            <a:endParaRPr lang="en-US" sz="1100" dirty="0"/>
          </a:p>
        </p:txBody>
      </p:sp>
      <p:sp>
        <p:nvSpPr>
          <p:cNvPr id="21" name="Shape 19"/>
          <p:cNvSpPr/>
          <p:nvPr/>
        </p:nvSpPr>
        <p:spPr>
          <a:xfrm>
            <a:off x="914400" y="3136392"/>
            <a:ext cx="4678528" cy="438912"/>
          </a:xfrm>
          <a:prstGeom prst="roundRect">
            <a:avLst>
              <a:gd name="adj" fmla="val 10417"/>
            </a:avLst>
          </a:prstGeom>
          <a:solidFill>
            <a:srgbClr val="EDEEF7"/>
          </a:solidFill>
          <a:ln/>
        </p:spPr>
      </p:sp>
      <p:sp>
        <p:nvSpPr>
          <p:cNvPr id="22" name="Text 20"/>
          <p:cNvSpPr txBox="1"/>
          <p:nvPr/>
        </p:nvSpPr>
        <p:spPr>
          <a:xfrm>
            <a:off x="1060704" y="3136392"/>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systemPromptHash</a:t>
            </a:r>
            <a:endParaRPr lang="en-US" sz="950" dirty="0"/>
          </a:p>
        </p:txBody>
      </p:sp>
      <p:sp>
        <p:nvSpPr>
          <p:cNvPr id="23" name="Text 21"/>
          <p:cNvSpPr txBox="1"/>
          <p:nvPr/>
        </p:nvSpPr>
        <p:spPr>
          <a:xfrm>
            <a:off x="2926080" y="3136392"/>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予約案を提案する</a:t>
            </a:r>
            <a:endParaRPr lang="en-US" sz="1100" dirty="0"/>
          </a:p>
        </p:txBody>
      </p:sp>
      <p:sp>
        <p:nvSpPr>
          <p:cNvPr id="24" name="Shape 22"/>
          <p:cNvSpPr/>
          <p:nvPr/>
        </p:nvSpPr>
        <p:spPr>
          <a:xfrm>
            <a:off x="914400" y="3648456"/>
            <a:ext cx="4678528" cy="438912"/>
          </a:xfrm>
          <a:prstGeom prst="roundRect">
            <a:avLst>
              <a:gd name="adj" fmla="val 10417"/>
            </a:avLst>
          </a:prstGeom>
          <a:solidFill>
            <a:srgbClr val="EDEEF7"/>
          </a:solidFill>
          <a:ln/>
        </p:spPr>
      </p:sp>
      <p:sp>
        <p:nvSpPr>
          <p:cNvPr id="25" name="Text 23"/>
          <p:cNvSpPr txBox="1"/>
          <p:nvPr/>
        </p:nvSpPr>
        <p:spPr>
          <a:xfrm>
            <a:off x="1060704" y="3648456"/>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toolPolicyHash</a:t>
            </a:r>
            <a:endParaRPr lang="en-US" sz="950" dirty="0"/>
          </a:p>
        </p:txBody>
      </p:sp>
      <p:sp>
        <p:nvSpPr>
          <p:cNvPr id="26" name="Text 24"/>
          <p:cNvSpPr txBox="1"/>
          <p:nvPr/>
        </p:nvSpPr>
        <p:spPr>
          <a:xfrm>
            <a:off x="2926080" y="3648456"/>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検索のみ</a:t>
            </a:r>
            <a:endParaRPr lang="en-US" sz="1100" dirty="0"/>
          </a:p>
        </p:txBody>
      </p:sp>
      <p:sp>
        <p:nvSpPr>
          <p:cNvPr id="27" name="Shape 25"/>
          <p:cNvSpPr/>
          <p:nvPr/>
        </p:nvSpPr>
        <p:spPr>
          <a:xfrm>
            <a:off x="914400" y="4160520"/>
            <a:ext cx="4678528" cy="438912"/>
          </a:xfrm>
          <a:prstGeom prst="roundRect">
            <a:avLst>
              <a:gd name="adj" fmla="val 10417"/>
            </a:avLst>
          </a:prstGeom>
          <a:solidFill>
            <a:srgbClr val="EDEEF7"/>
          </a:solidFill>
          <a:ln/>
        </p:spPr>
      </p:sp>
      <p:sp>
        <p:nvSpPr>
          <p:cNvPr id="28" name="Text 26"/>
          <p:cNvSpPr txBox="1"/>
          <p:nvPr/>
        </p:nvSpPr>
        <p:spPr>
          <a:xfrm>
            <a:off x="1060704" y="4160520"/>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permissionScope</a:t>
            </a:r>
            <a:endParaRPr lang="en-US" sz="950" dirty="0"/>
          </a:p>
        </p:txBody>
      </p:sp>
      <p:sp>
        <p:nvSpPr>
          <p:cNvPr id="29" name="Text 27"/>
          <p:cNvSpPr txBox="1"/>
          <p:nvPr/>
        </p:nvSpPr>
        <p:spPr>
          <a:xfrm>
            <a:off x="2926080" y="4160520"/>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travel-booking</a:t>
            </a:r>
            <a:endParaRPr lang="en-US" sz="1100" dirty="0"/>
          </a:p>
        </p:txBody>
      </p:sp>
      <p:sp>
        <p:nvSpPr>
          <p:cNvPr id="30" name="Shape 28"/>
          <p:cNvSpPr/>
          <p:nvPr/>
        </p:nvSpPr>
        <p:spPr>
          <a:xfrm>
            <a:off x="6324448" y="1783080"/>
            <a:ext cx="5227168" cy="3063240"/>
          </a:xfrm>
          <a:prstGeom prst="roundRect">
            <a:avLst>
              <a:gd name="adj" fmla="val 1791"/>
            </a:avLst>
          </a:prstGeom>
          <a:solidFill>
            <a:srgbClr val="FEF7F5"/>
          </a:solidFill>
          <a:ln w="28575">
            <a:solidFill>
              <a:srgbClr val="C0402A"/>
            </a:solidFill>
            <a:prstDash val="solid"/>
          </a:ln>
          <a:effectLst>
            <a:outerShdw sx="100000" sy="100000" kx="0" ky="0" algn="bl" rotWithShape="0" blurRad="127000" dist="19050" dir="5400000">
              <a:srgbClr val="2B2F77">
                <a:alpha val="12000"/>
              </a:srgbClr>
            </a:outerShdw>
          </a:effectLst>
        </p:spPr>
      </p:sp>
      <p:sp>
        <p:nvSpPr>
          <p:cNvPr id="31" name="Shape 29"/>
          <p:cNvSpPr/>
          <p:nvPr/>
        </p:nvSpPr>
        <p:spPr>
          <a:xfrm>
            <a:off x="6774332" y="1911096"/>
            <a:ext cx="52669" cy="52669"/>
          </a:xfrm>
          <a:prstGeom prst="ellipse">
            <a:avLst/>
          </a:prstGeom>
          <a:solidFill>
            <a:srgbClr val="FFFFFF"/>
          </a:solidFill>
          <a:ln/>
        </p:spPr>
      </p:sp>
      <p:sp>
        <p:nvSpPr>
          <p:cNvPr id="32" name="Shape 30"/>
          <p:cNvSpPr/>
          <p:nvPr/>
        </p:nvSpPr>
        <p:spPr>
          <a:xfrm>
            <a:off x="6793352" y="1954987"/>
            <a:ext cx="14630" cy="58522"/>
          </a:xfrm>
          <a:prstGeom prst="rect">
            <a:avLst/>
          </a:prstGeom>
          <a:solidFill>
            <a:srgbClr val="C0402A"/>
          </a:solidFill>
          <a:ln/>
        </p:spPr>
      </p:sp>
      <p:sp>
        <p:nvSpPr>
          <p:cNvPr id="33" name="Shape 31"/>
          <p:cNvSpPr/>
          <p:nvPr/>
        </p:nvSpPr>
        <p:spPr>
          <a:xfrm>
            <a:off x="6604620" y="2080809"/>
            <a:ext cx="32187" cy="76078"/>
          </a:xfrm>
          <a:prstGeom prst="roundRect">
            <a:avLst>
              <a:gd name="adj" fmla="val 85227"/>
            </a:avLst>
          </a:prstGeom>
          <a:solidFill>
            <a:srgbClr val="E08A76"/>
          </a:solidFill>
          <a:ln/>
        </p:spPr>
      </p:sp>
      <p:sp>
        <p:nvSpPr>
          <p:cNvPr id="34" name="Shape 32"/>
          <p:cNvSpPr/>
          <p:nvPr/>
        </p:nvSpPr>
        <p:spPr>
          <a:xfrm>
            <a:off x="6961602" y="2080809"/>
            <a:ext cx="32187" cy="76078"/>
          </a:xfrm>
          <a:prstGeom prst="roundRect">
            <a:avLst>
              <a:gd name="adj" fmla="val 85227"/>
            </a:avLst>
          </a:prstGeom>
          <a:solidFill>
            <a:srgbClr val="E08A76"/>
          </a:solidFill>
          <a:ln/>
        </p:spPr>
      </p:sp>
      <p:sp>
        <p:nvSpPr>
          <p:cNvPr id="35" name="Shape 33"/>
          <p:cNvSpPr/>
          <p:nvPr/>
        </p:nvSpPr>
        <p:spPr>
          <a:xfrm>
            <a:off x="6633881" y="2007657"/>
            <a:ext cx="327721" cy="257495"/>
          </a:xfrm>
          <a:prstGeom prst="roundRect">
            <a:avLst>
              <a:gd name="adj" fmla="val 15909"/>
            </a:avLst>
          </a:prstGeom>
          <a:solidFill>
            <a:srgbClr val="C0402A"/>
          </a:solidFill>
          <a:ln/>
        </p:spPr>
      </p:sp>
      <p:sp>
        <p:nvSpPr>
          <p:cNvPr id="36" name="Shape 34"/>
          <p:cNvSpPr/>
          <p:nvPr/>
        </p:nvSpPr>
        <p:spPr>
          <a:xfrm>
            <a:off x="6709959" y="2077883"/>
            <a:ext cx="49743" cy="49743"/>
          </a:xfrm>
          <a:prstGeom prst="ellipse">
            <a:avLst/>
          </a:prstGeom>
          <a:solidFill>
            <a:srgbClr val="FFFFFF"/>
          </a:solidFill>
          <a:ln/>
        </p:spPr>
      </p:sp>
      <p:sp>
        <p:nvSpPr>
          <p:cNvPr id="37" name="Shape 35"/>
          <p:cNvSpPr/>
          <p:nvPr/>
        </p:nvSpPr>
        <p:spPr>
          <a:xfrm>
            <a:off x="6835780" y="2077883"/>
            <a:ext cx="49743" cy="49743"/>
          </a:xfrm>
          <a:prstGeom prst="ellipse">
            <a:avLst/>
          </a:prstGeom>
          <a:solidFill>
            <a:srgbClr val="FFFFFF"/>
          </a:solidFill>
          <a:ln/>
        </p:spPr>
      </p:sp>
      <p:sp>
        <p:nvSpPr>
          <p:cNvPr id="38" name="Shape 36"/>
          <p:cNvSpPr/>
          <p:nvPr/>
        </p:nvSpPr>
        <p:spPr>
          <a:xfrm>
            <a:off x="6745072" y="2180295"/>
            <a:ext cx="105339" cy="29261"/>
          </a:xfrm>
          <a:prstGeom prst="roundRect">
            <a:avLst>
              <a:gd name="adj" fmla="val 30000"/>
            </a:avLst>
          </a:prstGeom>
          <a:solidFill>
            <a:srgbClr val="FBEAE6"/>
          </a:solidFill>
          <a:ln/>
        </p:spPr>
      </p:sp>
      <p:sp>
        <p:nvSpPr>
          <p:cNvPr id="39" name="Shape 37"/>
          <p:cNvSpPr/>
          <p:nvPr/>
        </p:nvSpPr>
        <p:spPr>
          <a:xfrm>
            <a:off x="6780185" y="2265152"/>
            <a:ext cx="35113" cy="29261"/>
          </a:xfrm>
          <a:prstGeom prst="rect">
            <a:avLst/>
          </a:prstGeom>
          <a:solidFill>
            <a:srgbClr val="E08A76"/>
          </a:solidFill>
          <a:ln/>
        </p:spPr>
      </p:sp>
      <p:sp>
        <p:nvSpPr>
          <p:cNvPr id="40" name="Shape 38"/>
          <p:cNvSpPr/>
          <p:nvPr/>
        </p:nvSpPr>
        <p:spPr>
          <a:xfrm>
            <a:off x="6686550" y="2291486"/>
            <a:ext cx="222382" cy="111191"/>
          </a:xfrm>
          <a:prstGeom prst="roundRect">
            <a:avLst>
              <a:gd name="adj" fmla="val 26316"/>
            </a:avLst>
          </a:prstGeom>
          <a:solidFill>
            <a:srgbClr val="E08A76"/>
          </a:solidFill>
          <a:ln/>
        </p:spPr>
      </p:sp>
      <p:sp>
        <p:nvSpPr>
          <p:cNvPr id="41" name="Shape 39"/>
          <p:cNvSpPr/>
          <p:nvPr/>
        </p:nvSpPr>
        <p:spPr>
          <a:xfrm>
            <a:off x="7101688" y="1984248"/>
            <a:ext cx="1600200" cy="384048"/>
          </a:xfrm>
          <a:prstGeom prst="roundRect">
            <a:avLst>
              <a:gd name="adj" fmla="val 14286"/>
            </a:avLst>
          </a:prstGeom>
          <a:solidFill>
            <a:srgbClr val="C0402A"/>
          </a:solidFill>
          <a:ln/>
        </p:spPr>
      </p:sp>
      <p:sp>
        <p:nvSpPr>
          <p:cNvPr id="42" name="Text 40"/>
          <p:cNvSpPr txBox="1"/>
          <p:nvPr/>
        </p:nvSpPr>
        <p:spPr>
          <a:xfrm>
            <a:off x="7101688"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今日の Agent</a:t>
            </a:r>
            <a:endParaRPr lang="en-US" sz="1250" dirty="0"/>
          </a:p>
        </p:txBody>
      </p:sp>
      <p:sp>
        <p:nvSpPr>
          <p:cNvPr id="43" name="Text 41"/>
          <p:cNvSpPr txBox="1"/>
          <p:nvPr/>
        </p:nvSpPr>
        <p:spPr>
          <a:xfrm>
            <a:off x="8811616"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44" name="Shape 42"/>
          <p:cNvSpPr/>
          <p:nvPr/>
        </p:nvSpPr>
        <p:spPr>
          <a:xfrm>
            <a:off x="6598768" y="2624328"/>
            <a:ext cx="4678528" cy="438912"/>
          </a:xfrm>
          <a:prstGeom prst="roundRect">
            <a:avLst>
              <a:gd name="adj" fmla="val 10417"/>
            </a:avLst>
          </a:prstGeom>
          <a:solidFill>
            <a:srgbClr val="FBEAE6"/>
          </a:solidFill>
          <a:ln/>
        </p:spPr>
      </p:sp>
      <p:sp>
        <p:nvSpPr>
          <p:cNvPr id="45" name="Text 43"/>
          <p:cNvSpPr txBox="1"/>
          <p:nvPr/>
        </p:nvSpPr>
        <p:spPr>
          <a:xfrm>
            <a:off x="6745072" y="2624328"/>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modelId</a:t>
            </a:r>
            <a:endParaRPr lang="en-US" sz="950" dirty="0"/>
          </a:p>
        </p:txBody>
      </p:sp>
      <p:sp>
        <p:nvSpPr>
          <p:cNvPr id="46" name="Text 44"/>
          <p:cNvSpPr txBox="1"/>
          <p:nvPr/>
        </p:nvSpPr>
        <p:spPr>
          <a:xfrm>
            <a:off x="8610448" y="2624328"/>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gpt-demo-v2</a:t>
            </a:r>
            <a:endParaRPr lang="en-US" sz="1100" dirty="0"/>
          </a:p>
        </p:txBody>
      </p:sp>
      <p:sp>
        <p:nvSpPr>
          <p:cNvPr id="47" name="Shape 45"/>
          <p:cNvSpPr/>
          <p:nvPr/>
        </p:nvSpPr>
        <p:spPr>
          <a:xfrm>
            <a:off x="6598768" y="3136392"/>
            <a:ext cx="4678528" cy="438912"/>
          </a:xfrm>
          <a:prstGeom prst="roundRect">
            <a:avLst>
              <a:gd name="adj" fmla="val 10417"/>
            </a:avLst>
          </a:prstGeom>
          <a:solidFill>
            <a:srgbClr val="FBEAE6"/>
          </a:solidFill>
          <a:ln/>
        </p:spPr>
      </p:sp>
      <p:sp>
        <p:nvSpPr>
          <p:cNvPr id="48" name="Text 46"/>
          <p:cNvSpPr txBox="1"/>
          <p:nvPr/>
        </p:nvSpPr>
        <p:spPr>
          <a:xfrm>
            <a:off x="6745072" y="3136392"/>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systemPromptHash</a:t>
            </a:r>
            <a:endParaRPr lang="en-US" sz="950" dirty="0"/>
          </a:p>
        </p:txBody>
      </p:sp>
      <p:sp>
        <p:nvSpPr>
          <p:cNvPr id="49" name="Text 47"/>
          <p:cNvSpPr txBox="1"/>
          <p:nvPr/>
        </p:nvSpPr>
        <p:spPr>
          <a:xfrm>
            <a:off x="8610448" y="3136392"/>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予約変更まで指示</a:t>
            </a:r>
            <a:endParaRPr lang="en-US" sz="1100" dirty="0"/>
          </a:p>
        </p:txBody>
      </p:sp>
      <p:sp>
        <p:nvSpPr>
          <p:cNvPr id="50" name="Shape 48"/>
          <p:cNvSpPr/>
          <p:nvPr/>
        </p:nvSpPr>
        <p:spPr>
          <a:xfrm>
            <a:off x="6598768" y="3648456"/>
            <a:ext cx="4678528" cy="438912"/>
          </a:xfrm>
          <a:prstGeom prst="roundRect">
            <a:avLst>
              <a:gd name="adj" fmla="val 10417"/>
            </a:avLst>
          </a:prstGeom>
          <a:solidFill>
            <a:srgbClr val="FBEAE6"/>
          </a:solidFill>
          <a:ln/>
        </p:spPr>
      </p:sp>
      <p:sp>
        <p:nvSpPr>
          <p:cNvPr id="51" name="Text 49"/>
          <p:cNvSpPr txBox="1"/>
          <p:nvPr/>
        </p:nvSpPr>
        <p:spPr>
          <a:xfrm>
            <a:off x="6745072" y="3648456"/>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toolPolicyHash</a:t>
            </a:r>
            <a:endParaRPr lang="en-US" sz="950" dirty="0"/>
          </a:p>
        </p:txBody>
      </p:sp>
      <p:sp>
        <p:nvSpPr>
          <p:cNvPr id="52" name="Text 50"/>
          <p:cNvSpPr txBox="1"/>
          <p:nvPr/>
        </p:nvSpPr>
        <p:spPr>
          <a:xfrm>
            <a:off x="8610448" y="3648456"/>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変更 API を追加</a:t>
            </a:r>
            <a:endParaRPr lang="en-US" sz="1100" dirty="0"/>
          </a:p>
        </p:txBody>
      </p:sp>
      <p:sp>
        <p:nvSpPr>
          <p:cNvPr id="53" name="Shape 51"/>
          <p:cNvSpPr/>
          <p:nvPr/>
        </p:nvSpPr>
        <p:spPr>
          <a:xfrm>
            <a:off x="6598768" y="4160520"/>
            <a:ext cx="4678528" cy="438912"/>
          </a:xfrm>
          <a:prstGeom prst="roundRect">
            <a:avLst>
              <a:gd name="adj" fmla="val 10417"/>
            </a:avLst>
          </a:prstGeom>
          <a:solidFill>
            <a:srgbClr val="FBEAE6"/>
          </a:solidFill>
          <a:ln/>
        </p:spPr>
      </p:sp>
      <p:sp>
        <p:nvSpPr>
          <p:cNvPr id="54" name="Text 52"/>
          <p:cNvSpPr txBox="1"/>
          <p:nvPr/>
        </p:nvSpPr>
        <p:spPr>
          <a:xfrm>
            <a:off x="6745072" y="4160520"/>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permissionScope</a:t>
            </a:r>
            <a:endParaRPr lang="en-US" sz="950" dirty="0"/>
          </a:p>
        </p:txBody>
      </p:sp>
      <p:sp>
        <p:nvSpPr>
          <p:cNvPr id="55" name="Text 53"/>
          <p:cNvSpPr txBox="1"/>
          <p:nvPr/>
        </p:nvSpPr>
        <p:spPr>
          <a:xfrm>
            <a:off x="8610448" y="4160520"/>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travel-booking-admin</a:t>
            </a:r>
            <a:endParaRPr lang="en-US" sz="1100" dirty="0"/>
          </a:p>
        </p:txBody>
      </p:sp>
      <p:sp>
        <p:nvSpPr>
          <p:cNvPr id="56" name="Shape 54"/>
          <p:cNvSpPr/>
          <p:nvPr/>
        </p:nvSpPr>
        <p:spPr>
          <a:xfrm>
            <a:off x="640080" y="5074920"/>
            <a:ext cx="10911535" cy="914400"/>
          </a:xfrm>
          <a:prstGeom prst="roundRect">
            <a:avLst>
              <a:gd name="adj" fmla="val 8000"/>
            </a:avLst>
          </a:prstGeom>
          <a:solidFill>
            <a:srgbClr val="C0402A"/>
          </a:solidFill>
          <a:ln/>
          <a:effectLst>
            <a:outerShdw sx="100000" sy="100000" kx="0" ky="0" algn="bl" rotWithShape="0" blurRad="127000" dist="19050" dir="5400000">
              <a:srgbClr val="2B2F77">
                <a:alpha val="12000"/>
              </a:srgbClr>
            </a:outerShdw>
          </a:effectLst>
        </p:spPr>
      </p:sp>
      <p:sp>
        <p:nvSpPr>
          <p:cNvPr id="57" name="Text 55"/>
          <p:cNvSpPr txBox="1"/>
          <p:nvPr/>
        </p:nvSpPr>
        <p:spPr>
          <a:xfrm>
            <a:off x="1005840" y="5074920"/>
            <a:ext cx="10180015" cy="914400"/>
          </a:xfrm>
          <a:prstGeom prst="rect">
            <a:avLst/>
          </a:prstGeom>
          <a:noFill/>
          <a:ln/>
        </p:spPr>
        <p:txBody>
          <a:bodyPr wrap="square" lIns="0" tIns="0" rIns="0" bIns="0" rtlCol="0" anchor="ctr"/>
          <a:lstStyle/>
          <a:p>
            <a:pPr indent="0" marL="0">
              <a:lnSpc>
                <a:spcPts val="2300"/>
              </a:lnSpc>
              <a:buNone/>
            </a:pPr>
            <a:r>
              <a:rPr lang="en-US" sz="1450" b="1" dirty="0">
                <a:solidFill>
                  <a:srgbClr val="FFFFFF"/>
                </a:solidFill>
              </a:rPr>
              <a:t>名前もアカウントも同じまま、できることが変わる。実績を名前に付けると、どの構成で得たものか分からなくなる。</a:t>
            </a:r>
            <a:endParaRPr lang="en-US" sz="1450" dirty="0"/>
          </a:p>
          <a:p>
            <a:pPr indent="0" marL="0">
              <a:lnSpc>
                <a:spcPts val="2300"/>
              </a:lnSpc>
              <a:buNone/>
            </a:pPr>
            <a:r>
              <a:rPr lang="en-US" sz="1150" dirty="0">
                <a:solidFill>
                  <a:srgbClr val="FBEAE6"/>
                </a:solidFill>
              </a:rPr>
              <a:t>かといって、更新のたびに実績を捨てるのも現実的ではない。</a:t>
            </a:r>
            <a:endParaRPr lang="en-US" sz="1450" dirty="0"/>
          </a:p>
        </p:txBody>
      </p:sp>
      <p:sp>
        <p:nvSpPr>
          <p:cNvPr id="58" name="Text 5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03 ─ 提案</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そこで作ったのが zkAgent Passport</a:t>
            </a:r>
            <a:endParaRPr lang="en-US" sz="2900" dirty="0"/>
          </a:p>
        </p:txBody>
      </p:sp>
      <p:sp>
        <p:nvSpPr>
          <p:cNvPr id="4" name="Shape 2"/>
          <p:cNvSpPr/>
          <p:nvPr/>
        </p:nvSpPr>
        <p:spPr>
          <a:xfrm>
            <a:off x="640080" y="1737360"/>
            <a:ext cx="10911535" cy="1005840"/>
          </a:xfrm>
          <a:prstGeom prst="roundRect">
            <a:avLst>
              <a:gd name="adj" fmla="val 7273"/>
            </a:avLst>
          </a:prstGeom>
          <a:solidFill>
            <a:srgbClr val="2B2F77"/>
          </a:solidFill>
          <a:ln/>
          <a:effectLst>
            <a:outerShdw sx="100000" sy="100000" kx="0" ky="0" algn="bl" rotWithShape="0" blurRad="127000" dist="19050" dir="5400000">
              <a:srgbClr val="2B2F77">
                <a:alpha val="12000"/>
              </a:srgbClr>
            </a:outerShdw>
          </a:effectLst>
        </p:spPr>
      </p:sp>
      <p:sp>
        <p:nvSpPr>
          <p:cNvPr id="5" name="Text 3"/>
          <p:cNvSpPr txBox="1"/>
          <p:nvPr/>
        </p:nvSpPr>
        <p:spPr>
          <a:xfrm>
            <a:off x="1097280" y="1737360"/>
            <a:ext cx="9997135" cy="1005840"/>
          </a:xfrm>
          <a:prstGeom prst="rect">
            <a:avLst/>
          </a:prstGeom>
          <a:noFill/>
          <a:ln/>
        </p:spPr>
        <p:txBody>
          <a:bodyPr wrap="square" lIns="0" tIns="0" rIns="0" bIns="0" rtlCol="0" anchor="ctr"/>
          <a:lstStyle/>
          <a:p>
            <a:pPr algn="ctr" indent="0" marL="0">
              <a:lnSpc>
                <a:spcPts val="2700"/>
              </a:lnSpc>
              <a:buNone/>
            </a:pPr>
            <a:r>
              <a:rPr lang="en-US" sz="1700" b="1" dirty="0">
                <a:solidFill>
                  <a:srgbClr val="FFFFFF"/>
                </a:solidFill>
                <a:latin typeface="Arial" pitchFamily="34" charset="0"/>
                <a:ea typeface="Arial" pitchFamily="34" charset="-122"/>
                <a:cs typeface="Arial" pitchFamily="34" charset="-120"/>
              </a:rPr>
              <a:t>評価の詳細を渡さずに、「この領域で、宣言した構成のまま、サービスの求める条件を満たしている」ことだけを証明する仕組み</a:t>
            </a:r>
            <a:endParaRPr lang="en-US" sz="1700" dirty="0"/>
          </a:p>
        </p:txBody>
      </p:sp>
      <p:sp>
        <p:nvSpPr>
          <p:cNvPr id="6" name="Shape 4"/>
          <p:cNvSpPr/>
          <p:nvPr/>
        </p:nvSpPr>
        <p:spPr>
          <a:xfrm>
            <a:off x="640080"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7" name="Shape 5"/>
          <p:cNvSpPr/>
          <p:nvPr/>
        </p:nvSpPr>
        <p:spPr>
          <a:xfrm>
            <a:off x="3383280" y="3236976"/>
            <a:ext cx="420624" cy="420624"/>
          </a:xfrm>
          <a:prstGeom prst="ellipse">
            <a:avLst/>
          </a:prstGeom>
          <a:solidFill>
            <a:srgbClr val="00875F"/>
          </a:solidFill>
          <a:ln/>
        </p:spPr>
      </p:sp>
      <p:sp>
        <p:nvSpPr>
          <p:cNvPr id="8" name="Shape 6"/>
          <p:cNvSpPr/>
          <p:nvPr/>
        </p:nvSpPr>
        <p:spPr>
          <a:xfrm>
            <a:off x="3442167" y="3295863"/>
            <a:ext cx="302849" cy="302849"/>
          </a:xfrm>
          <a:prstGeom prst="ellipse">
            <a:avLst/>
          </a:prstGeom>
          <a:solidFill>
            <a:srgbClr val="EDEEF7"/>
          </a:solidFill>
          <a:ln/>
        </p:spPr>
      </p:sp>
      <p:sp>
        <p:nvSpPr>
          <p:cNvPr id="9" name="Shape 7"/>
          <p:cNvSpPr/>
          <p:nvPr/>
        </p:nvSpPr>
        <p:spPr>
          <a:xfrm>
            <a:off x="3501055" y="3354751"/>
            <a:ext cx="185075" cy="185075"/>
          </a:xfrm>
          <a:prstGeom prst="ellipse">
            <a:avLst/>
          </a:prstGeom>
          <a:solidFill>
            <a:srgbClr val="00875F"/>
          </a:solidFill>
          <a:ln/>
        </p:spPr>
      </p:sp>
      <p:sp>
        <p:nvSpPr>
          <p:cNvPr id="10" name="Shape 8"/>
          <p:cNvSpPr/>
          <p:nvPr/>
        </p:nvSpPr>
        <p:spPr>
          <a:xfrm>
            <a:off x="3555736" y="3409432"/>
            <a:ext cx="75712" cy="75712"/>
          </a:xfrm>
          <a:prstGeom prst="ellipse">
            <a:avLst/>
          </a:prstGeom>
          <a:solidFill>
            <a:srgbClr val="EDEEF7"/>
          </a:solidFill>
          <a:ln/>
        </p:spPr>
      </p:sp>
      <p:sp>
        <p:nvSpPr>
          <p:cNvPr id="11" name="Shape 9"/>
          <p:cNvSpPr/>
          <p:nvPr/>
        </p:nvSpPr>
        <p:spPr>
          <a:xfrm>
            <a:off x="932688" y="3273552"/>
            <a:ext cx="2194560" cy="347472"/>
          </a:xfrm>
          <a:prstGeom prst="roundRect">
            <a:avLst>
              <a:gd name="adj" fmla="val 13158"/>
            </a:avLst>
          </a:prstGeom>
          <a:solidFill>
            <a:srgbClr val="E2F3EC"/>
          </a:solidFill>
          <a:ln/>
        </p:spPr>
      </p:sp>
      <p:sp>
        <p:nvSpPr>
          <p:cNvPr id="12" name="Text 10"/>
          <p:cNvSpPr txBox="1"/>
          <p:nvPr/>
        </p:nvSpPr>
        <p:spPr>
          <a:xfrm>
            <a:off x="932688"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「確かめられない」への答え</a:t>
            </a:r>
            <a:endParaRPr lang="en-US" sz="1000" dirty="0"/>
          </a:p>
        </p:txBody>
      </p:sp>
      <p:sp>
        <p:nvSpPr>
          <p:cNvPr id="13" name="Text 11"/>
          <p:cNvSpPr txBox="1"/>
          <p:nvPr/>
        </p:nvSpPr>
        <p:spPr>
          <a:xfrm>
            <a:off x="932688"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出どころを保証する</a:t>
            </a:r>
            <a:endParaRPr lang="en-US" sz="1700" dirty="0"/>
          </a:p>
        </p:txBody>
      </p:sp>
      <p:sp>
        <p:nvSpPr>
          <p:cNvPr id="14" name="Text 12"/>
          <p:cNvSpPr txBox="1"/>
          <p:nvPr/>
        </p:nvSpPr>
        <p:spPr>
          <a:xfrm>
            <a:off x="932688"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登録された取引先だけが、Ed25519 の署名付き Receipt を発行できる。</a:t>
            </a:r>
            <a:endParaRPr lang="en-US" sz="1300" dirty="0"/>
          </a:p>
        </p:txBody>
      </p:sp>
      <p:sp>
        <p:nvSpPr>
          <p:cNvPr id="15" name="Shape 13"/>
          <p:cNvSpPr/>
          <p:nvPr/>
        </p:nvSpPr>
        <p:spPr>
          <a:xfrm>
            <a:off x="4367632"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7110832" y="3329513"/>
            <a:ext cx="420624" cy="235549"/>
          </a:xfrm>
          <a:prstGeom prst="ellipse">
            <a:avLst/>
          </a:prstGeom>
          <a:solidFill>
            <a:srgbClr val="00875F"/>
          </a:solidFill>
          <a:ln/>
        </p:spPr>
      </p:sp>
      <p:sp>
        <p:nvSpPr>
          <p:cNvPr id="17" name="Shape 15"/>
          <p:cNvSpPr/>
          <p:nvPr/>
        </p:nvSpPr>
        <p:spPr>
          <a:xfrm>
            <a:off x="7253844" y="3379988"/>
            <a:ext cx="134600" cy="134600"/>
          </a:xfrm>
          <a:prstGeom prst="ellipse">
            <a:avLst/>
          </a:prstGeom>
          <a:solidFill>
            <a:srgbClr val="EDEEF7"/>
          </a:solidFill>
          <a:ln/>
        </p:spPr>
      </p:sp>
      <p:sp>
        <p:nvSpPr>
          <p:cNvPr id="18" name="Shape 16"/>
          <p:cNvSpPr/>
          <p:nvPr/>
        </p:nvSpPr>
        <p:spPr>
          <a:xfrm rot="-2100000">
            <a:off x="7102419" y="3422051"/>
            <a:ext cx="437449" cy="50475"/>
          </a:xfrm>
          <a:prstGeom prst="rect">
            <a:avLst/>
          </a:prstGeom>
          <a:solidFill>
            <a:srgbClr val="EDEEF7"/>
          </a:solidFill>
          <a:ln/>
        </p:spPr>
      </p:sp>
      <p:sp>
        <p:nvSpPr>
          <p:cNvPr id="19" name="Shape 17"/>
          <p:cNvSpPr/>
          <p:nvPr/>
        </p:nvSpPr>
        <p:spPr>
          <a:xfrm rot="-2100000">
            <a:off x="7119244" y="3430463"/>
            <a:ext cx="403799" cy="29444"/>
          </a:xfrm>
          <a:prstGeom prst="rect">
            <a:avLst/>
          </a:prstGeom>
          <a:solidFill>
            <a:srgbClr val="00875F"/>
          </a:solidFill>
          <a:ln/>
        </p:spPr>
      </p:sp>
      <p:sp>
        <p:nvSpPr>
          <p:cNvPr id="20" name="Shape 18"/>
          <p:cNvSpPr/>
          <p:nvPr/>
        </p:nvSpPr>
        <p:spPr>
          <a:xfrm>
            <a:off x="4660240" y="3273552"/>
            <a:ext cx="2194560" cy="347472"/>
          </a:xfrm>
          <a:prstGeom prst="roundRect">
            <a:avLst>
              <a:gd name="adj" fmla="val 13158"/>
            </a:avLst>
          </a:prstGeom>
          <a:solidFill>
            <a:srgbClr val="E2F3EC"/>
          </a:solidFill>
          <a:ln/>
        </p:spPr>
      </p:sp>
      <p:sp>
        <p:nvSpPr>
          <p:cNvPr id="21" name="Text 19"/>
          <p:cNvSpPr txBox="1"/>
          <p:nvPr/>
        </p:nvSpPr>
        <p:spPr>
          <a:xfrm>
            <a:off x="4660240"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「全部渡すことになる」への答え</a:t>
            </a:r>
            <a:endParaRPr lang="en-US" sz="1000" dirty="0"/>
          </a:p>
        </p:txBody>
      </p:sp>
      <p:sp>
        <p:nvSpPr>
          <p:cNvPr id="22" name="Text 20"/>
          <p:cNvSpPr txBox="1"/>
          <p:nvPr/>
        </p:nvSpPr>
        <p:spPr>
          <a:xfrm>
            <a:off x="4660240"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中身を見せずに証明する</a:t>
            </a:r>
            <a:endParaRPr lang="en-US" sz="1700" dirty="0"/>
          </a:p>
        </p:txBody>
      </p:sp>
      <p:sp>
        <p:nvSpPr>
          <p:cNvPr id="23" name="Text 21"/>
          <p:cNvSpPr txBox="1"/>
          <p:nvPr/>
        </p:nvSpPr>
        <p:spPr>
          <a:xfrm>
            <a:off x="4660240"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合計点も件数も取引先も渡さず、条件を満たすことだけを Groth16 で証明する。</a:t>
            </a:r>
            <a:endParaRPr lang="en-US" sz="1300" dirty="0"/>
          </a:p>
        </p:txBody>
      </p:sp>
      <p:sp>
        <p:nvSpPr>
          <p:cNvPr id="24" name="Shape 22"/>
          <p:cNvSpPr/>
          <p:nvPr/>
        </p:nvSpPr>
        <p:spPr>
          <a:xfrm>
            <a:off x="8095183" y="3017520"/>
            <a:ext cx="3456432" cy="2240280"/>
          </a:xfrm>
          <a:prstGeom prst="roundRect">
            <a:avLst>
              <a:gd name="adj" fmla="val 3265"/>
            </a:avLst>
          </a:prstGeom>
          <a:solidFill>
            <a:srgbClr val="2B2F77"/>
          </a:solidFill>
          <a:ln/>
          <a:effectLst>
            <a:outerShdw sx="100000" sy="100000" kx="0" ky="0" algn="bl" rotWithShape="0" blurRad="127000" dist="19050" dir="5400000">
              <a:srgbClr val="2B2F77">
                <a:alpha val="12000"/>
              </a:srgbClr>
            </a:outerShdw>
          </a:effectLst>
        </p:spPr>
      </p:sp>
      <p:sp>
        <p:nvSpPr>
          <p:cNvPr id="25" name="Shape 23"/>
          <p:cNvSpPr/>
          <p:nvPr/>
        </p:nvSpPr>
        <p:spPr>
          <a:xfrm>
            <a:off x="10950306" y="3227832"/>
            <a:ext cx="215067" cy="230429"/>
          </a:xfrm>
          <a:prstGeom prst="roundRect">
            <a:avLst>
              <a:gd name="adj" fmla="val 21429"/>
            </a:avLst>
          </a:prstGeom>
          <a:solidFill>
            <a:srgbClr val="FFFFFF"/>
          </a:solidFill>
          <a:ln/>
        </p:spPr>
      </p:sp>
      <p:sp>
        <p:nvSpPr>
          <p:cNvPr id="26" name="Shape 24"/>
          <p:cNvSpPr/>
          <p:nvPr/>
        </p:nvSpPr>
        <p:spPr>
          <a:xfrm>
            <a:off x="10992551" y="3312323"/>
            <a:ext cx="130576" cy="153619"/>
          </a:xfrm>
          <a:prstGeom prst="rect">
            <a:avLst/>
          </a:prstGeom>
          <a:solidFill>
            <a:srgbClr val="2B2F77"/>
          </a:solidFill>
          <a:ln/>
        </p:spPr>
      </p:sp>
      <p:sp>
        <p:nvSpPr>
          <p:cNvPr id="27" name="Shape 25"/>
          <p:cNvSpPr/>
          <p:nvPr/>
        </p:nvSpPr>
        <p:spPr>
          <a:xfrm>
            <a:off x="10865815" y="3389132"/>
            <a:ext cx="384048" cy="222748"/>
          </a:xfrm>
          <a:prstGeom prst="roundRect">
            <a:avLst>
              <a:gd name="adj" fmla="val 13793"/>
            </a:avLst>
          </a:prstGeom>
          <a:solidFill>
            <a:srgbClr val="FFFFFF"/>
          </a:solidFill>
          <a:ln/>
        </p:spPr>
      </p:sp>
      <p:sp>
        <p:nvSpPr>
          <p:cNvPr id="28" name="Shape 26"/>
          <p:cNvSpPr/>
          <p:nvPr/>
        </p:nvSpPr>
        <p:spPr>
          <a:xfrm>
            <a:off x="11027115" y="3465942"/>
            <a:ext cx="61448" cy="61448"/>
          </a:xfrm>
          <a:prstGeom prst="ellipse">
            <a:avLst/>
          </a:prstGeom>
          <a:solidFill>
            <a:srgbClr val="2B2F77"/>
          </a:solidFill>
          <a:ln/>
        </p:spPr>
      </p:sp>
      <p:sp>
        <p:nvSpPr>
          <p:cNvPr id="29" name="Shape 27"/>
          <p:cNvSpPr/>
          <p:nvPr/>
        </p:nvSpPr>
        <p:spPr>
          <a:xfrm>
            <a:off x="8387791" y="3273552"/>
            <a:ext cx="2194560" cy="347472"/>
          </a:xfrm>
          <a:prstGeom prst="roundRect">
            <a:avLst>
              <a:gd name="adj" fmla="val 13158"/>
            </a:avLst>
          </a:prstGeom>
          <a:solidFill>
            <a:srgbClr val="FFFFFF"/>
          </a:solidFill>
          <a:ln/>
        </p:spPr>
      </p:sp>
      <p:sp>
        <p:nvSpPr>
          <p:cNvPr id="30" name="Text 28"/>
          <p:cNvSpPr txBox="1"/>
          <p:nvPr/>
        </p:nvSpPr>
        <p:spPr>
          <a:xfrm>
            <a:off x="8387791" y="3273552"/>
            <a:ext cx="2194560" cy="347472"/>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「入れ替えられる」への答え</a:t>
            </a:r>
            <a:endParaRPr lang="en-US" sz="1000" dirty="0"/>
          </a:p>
        </p:txBody>
      </p:sp>
      <p:sp>
        <p:nvSpPr>
          <p:cNvPr id="31" name="Text 29"/>
          <p:cNvSpPr txBox="1"/>
          <p:nvPr/>
        </p:nvSpPr>
        <p:spPr>
          <a:xfrm>
            <a:off x="8387791" y="3767328"/>
            <a:ext cx="2871216"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構成に束縛する</a:t>
            </a:r>
            <a:endParaRPr lang="en-US" sz="1700" dirty="0"/>
          </a:p>
        </p:txBody>
      </p:sp>
      <p:sp>
        <p:nvSpPr>
          <p:cNvPr id="32" name="Text 30"/>
          <p:cNvSpPr txBox="1"/>
          <p:nvPr/>
        </p:nvSpPr>
        <p:spPr>
          <a:xfrm>
            <a:off x="8387791"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DFE1F1"/>
                </a:solidFill>
                <a:latin typeface="Arial" pitchFamily="34" charset="0"/>
                <a:ea typeface="Arial" pitchFamily="34" charset="-122"/>
                <a:cs typeface="Arial" pitchFamily="34" charset="-120"/>
              </a:rPr>
              <a:t>実績は名前ではなく、モデル・指示・ツール・権限のハッシュに結び付く。</a:t>
            </a:r>
            <a:endParaRPr lang="en-US" sz="1300" dirty="0"/>
          </a:p>
        </p:txBody>
      </p:sp>
      <p:sp>
        <p:nvSpPr>
          <p:cNvPr id="33" name="Text 31"/>
          <p:cNvSpPr txBox="1"/>
          <p:nvPr/>
        </p:nvSpPr>
        <p:spPr>
          <a:xfrm>
            <a:off x="640080" y="548640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独自点は 3 つ目です。閾値証明つきのクレデンシャル自体は定石で、構成への束縛がこのプロジェクトの中心にあります。</a:t>
            </a:r>
            <a:endParaRPr lang="en-US" sz="1300" dirty="0"/>
          </a:p>
        </p:txBody>
      </p:sp>
      <p:sp>
        <p:nvSpPr>
          <p:cNvPr id="34" name="Text 32"/>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04 ─ 開示</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サービスが受け取るもの、受け取らないもの</a:t>
            </a:r>
            <a:endParaRPr lang="en-US" sz="2900" dirty="0"/>
          </a:p>
        </p:txBody>
      </p:sp>
      <p:sp>
        <p:nvSpPr>
          <p:cNvPr id="4" name="Shape 2"/>
          <p:cNvSpPr/>
          <p:nvPr/>
        </p:nvSpPr>
        <p:spPr>
          <a:xfrm>
            <a:off x="640080" y="1737360"/>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5" name="Text 3"/>
          <p:cNvSpPr txBox="1"/>
          <p:nvPr/>
        </p:nvSpPr>
        <p:spPr>
          <a:xfrm>
            <a:off x="914400" y="1737360"/>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nullifier = Hash( agentSecret , verifierId )　←　サービスごとに別の値になる</a:t>
            </a:r>
            <a:endParaRPr lang="en-US" sz="1400" dirty="0"/>
          </a:p>
        </p:txBody>
      </p:sp>
      <p:sp>
        <p:nvSpPr>
          <p:cNvPr id="6" name="Shape 4"/>
          <p:cNvSpPr/>
          <p:nvPr/>
        </p:nvSpPr>
        <p:spPr>
          <a:xfrm>
            <a:off x="640080" y="2697480"/>
            <a:ext cx="5250028" cy="2697480"/>
          </a:xfrm>
          <a:prstGeom prst="roundRect">
            <a:avLst>
              <a:gd name="adj" fmla="val 2712"/>
            </a:avLst>
          </a:prstGeom>
          <a:solidFill>
            <a:srgbClr val="E2F3EC"/>
          </a:solidFill>
          <a:ln/>
          <a:effectLst>
            <a:outerShdw sx="100000" sy="100000" kx="0" ky="0" algn="bl" rotWithShape="0" blurRad="127000" dist="19050" dir="5400000">
              <a:srgbClr val="2B2F77">
                <a:alpha val="12000"/>
              </a:srgbClr>
            </a:outerShdw>
          </a:effectLst>
        </p:spPr>
      </p:sp>
      <p:sp>
        <p:nvSpPr>
          <p:cNvPr id="7" name="Shape 5"/>
          <p:cNvSpPr/>
          <p:nvPr/>
        </p:nvSpPr>
        <p:spPr>
          <a:xfrm>
            <a:off x="5125669" y="2957170"/>
            <a:ext cx="395021" cy="504749"/>
          </a:xfrm>
          <a:prstGeom prst="roundRect">
            <a:avLst>
              <a:gd name="adj" fmla="val 6944"/>
            </a:avLst>
          </a:prstGeom>
          <a:solidFill>
            <a:srgbClr val="00875F"/>
          </a:solidFill>
          <a:ln/>
        </p:spPr>
      </p:sp>
      <p:sp>
        <p:nvSpPr>
          <p:cNvPr id="8" name="Shape 6"/>
          <p:cNvSpPr/>
          <p:nvPr/>
        </p:nvSpPr>
        <p:spPr>
          <a:xfrm>
            <a:off x="5191506" y="3066898"/>
            <a:ext cx="263347" cy="38405"/>
          </a:xfrm>
          <a:prstGeom prst="rect">
            <a:avLst/>
          </a:prstGeom>
          <a:solidFill>
            <a:srgbClr val="E2F3EC"/>
          </a:solidFill>
          <a:ln/>
        </p:spPr>
      </p:sp>
      <p:sp>
        <p:nvSpPr>
          <p:cNvPr id="9" name="Shape 7"/>
          <p:cNvSpPr/>
          <p:nvPr/>
        </p:nvSpPr>
        <p:spPr>
          <a:xfrm>
            <a:off x="5191506" y="3154680"/>
            <a:ext cx="263347" cy="38405"/>
          </a:xfrm>
          <a:prstGeom prst="rect">
            <a:avLst/>
          </a:prstGeom>
          <a:solidFill>
            <a:srgbClr val="E2F3EC"/>
          </a:solidFill>
          <a:ln/>
        </p:spPr>
      </p:sp>
      <p:sp>
        <p:nvSpPr>
          <p:cNvPr id="10" name="Shape 8"/>
          <p:cNvSpPr/>
          <p:nvPr/>
        </p:nvSpPr>
        <p:spPr>
          <a:xfrm>
            <a:off x="5191506" y="3242462"/>
            <a:ext cx="263347" cy="38405"/>
          </a:xfrm>
          <a:prstGeom prst="rect">
            <a:avLst/>
          </a:prstGeom>
          <a:solidFill>
            <a:srgbClr val="E2F3EC"/>
          </a:solidFill>
          <a:ln/>
        </p:spPr>
      </p:sp>
      <p:sp>
        <p:nvSpPr>
          <p:cNvPr id="11" name="Shape 9"/>
          <p:cNvSpPr/>
          <p:nvPr/>
        </p:nvSpPr>
        <p:spPr>
          <a:xfrm>
            <a:off x="5246370" y="3319272"/>
            <a:ext cx="109728" cy="109728"/>
          </a:xfrm>
          <a:prstGeom prst="ellipse">
            <a:avLst/>
          </a:prstGeom>
          <a:solidFill>
            <a:srgbClr val="E2F3EC"/>
          </a:solidFill>
          <a:ln/>
        </p:spPr>
      </p:sp>
      <p:sp>
        <p:nvSpPr>
          <p:cNvPr id="12" name="Text 10"/>
          <p:cNvSpPr txBox="1"/>
          <p:nvPr/>
        </p:nvSpPr>
        <p:spPr>
          <a:xfrm>
            <a:off x="960120" y="2971800"/>
            <a:ext cx="4609948" cy="384048"/>
          </a:xfrm>
          <a:prstGeom prst="rect">
            <a:avLst/>
          </a:prstGeom>
          <a:noFill/>
          <a:ln/>
        </p:spPr>
        <p:txBody>
          <a:bodyPr wrap="square" lIns="0" tIns="0" rIns="0" bIns="0" rtlCol="0" anchor="ctr"/>
          <a:lstStyle/>
          <a:p>
            <a:pPr indent="0" marL="0">
              <a:buNone/>
            </a:pPr>
            <a:r>
              <a:rPr lang="en-US" sz="1700" b="1" dirty="0">
                <a:solidFill>
                  <a:srgbClr val="00875F"/>
                </a:solidFill>
                <a:latin typeface="Arial" pitchFamily="34" charset="0"/>
                <a:ea typeface="Arial" pitchFamily="34" charset="-122"/>
                <a:cs typeface="Arial" pitchFamily="34" charset="-120"/>
              </a:rPr>
              <a:t>受け取るもの</a:t>
            </a:r>
            <a:endParaRPr lang="en-US" sz="1700" dirty="0"/>
          </a:p>
        </p:txBody>
      </p:sp>
      <p:sp>
        <p:nvSpPr>
          <p:cNvPr id="13" name="Text 11"/>
          <p:cNvSpPr txBox="1"/>
          <p:nvPr/>
        </p:nvSpPr>
        <p:spPr>
          <a:xfrm>
            <a:off x="960120"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Groth16 の証明 1 つ（164 bytes）</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公開入力 20 個（Policy 9 + challenge 3 + 鍵セット + nullifier）</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そのサービス専用の nullifier</a:t>
            </a:r>
            <a:endParaRPr lang="en-US" sz="1350" dirty="0"/>
          </a:p>
        </p:txBody>
      </p:sp>
      <p:sp>
        <p:nvSpPr>
          <p:cNvPr id="14" name="Shape 12"/>
          <p:cNvSpPr/>
          <p:nvPr/>
        </p:nvSpPr>
        <p:spPr>
          <a:xfrm>
            <a:off x="6301588" y="2697480"/>
            <a:ext cx="5250028" cy="2697480"/>
          </a:xfrm>
          <a:prstGeom prst="roundRect">
            <a:avLst>
              <a:gd name="adj" fmla="val 2712"/>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10655503" y="3096524"/>
            <a:ext cx="566928" cy="317480"/>
          </a:xfrm>
          <a:prstGeom prst="ellipse">
            <a:avLst/>
          </a:prstGeom>
          <a:solidFill>
            <a:srgbClr val="2B2F77"/>
          </a:solidFill>
          <a:ln/>
        </p:spPr>
      </p:sp>
      <p:sp>
        <p:nvSpPr>
          <p:cNvPr id="16" name="Shape 14"/>
          <p:cNvSpPr/>
          <p:nvPr/>
        </p:nvSpPr>
        <p:spPr>
          <a:xfrm>
            <a:off x="10848259" y="3164556"/>
            <a:ext cx="181417" cy="181417"/>
          </a:xfrm>
          <a:prstGeom prst="ellipse">
            <a:avLst/>
          </a:prstGeom>
          <a:solidFill>
            <a:srgbClr val="EDEEF7"/>
          </a:solidFill>
          <a:ln/>
        </p:spPr>
      </p:sp>
      <p:sp>
        <p:nvSpPr>
          <p:cNvPr id="17" name="Shape 15"/>
          <p:cNvSpPr/>
          <p:nvPr/>
        </p:nvSpPr>
        <p:spPr>
          <a:xfrm rot="-2100000">
            <a:off x="10644165" y="3221248"/>
            <a:ext cx="589605" cy="68031"/>
          </a:xfrm>
          <a:prstGeom prst="rect">
            <a:avLst/>
          </a:prstGeom>
          <a:solidFill>
            <a:srgbClr val="EDEEF7"/>
          </a:solidFill>
          <a:ln/>
        </p:spPr>
      </p:sp>
      <p:sp>
        <p:nvSpPr>
          <p:cNvPr id="18" name="Shape 16"/>
          <p:cNvSpPr/>
          <p:nvPr/>
        </p:nvSpPr>
        <p:spPr>
          <a:xfrm rot="-2100000">
            <a:off x="10666842" y="3232587"/>
            <a:ext cx="544251" cy="39685"/>
          </a:xfrm>
          <a:prstGeom prst="rect">
            <a:avLst/>
          </a:prstGeom>
          <a:solidFill>
            <a:srgbClr val="2B2F77"/>
          </a:solidFill>
          <a:ln/>
        </p:spPr>
      </p:sp>
      <p:sp>
        <p:nvSpPr>
          <p:cNvPr id="19" name="Text 17"/>
          <p:cNvSpPr txBox="1"/>
          <p:nvPr/>
        </p:nvSpPr>
        <p:spPr>
          <a:xfrm>
            <a:off x="6621628" y="2971800"/>
            <a:ext cx="4609948" cy="384048"/>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受け取らないもの</a:t>
            </a:r>
            <a:endParaRPr lang="en-US" sz="1700" dirty="0"/>
          </a:p>
        </p:txBody>
      </p:sp>
      <p:sp>
        <p:nvSpPr>
          <p:cNvPr id="20" name="Text 18"/>
          <p:cNvSpPr txBox="1"/>
          <p:nvPr/>
        </p:nvSpPr>
        <p:spPr>
          <a:xfrm>
            <a:off x="6621628"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個別の評価・取引先の名前・合計点</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Receipt の件数</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証明書そのもの（ID・署名・期限・発行時の Manifest）</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passportCommitment・agentSecret</a:t>
            </a:r>
            <a:endParaRPr lang="en-US" sz="1350" dirty="0"/>
          </a:p>
        </p:txBody>
      </p:sp>
      <p:sp>
        <p:nvSpPr>
          <p:cNvPr id="21" name="Text 19"/>
          <p:cNvSpPr txBox="1"/>
          <p:nvPr/>
        </p:nvSpPr>
        <p:spPr>
          <a:xfrm>
            <a:off x="640080" y="562356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サービスは、取引先の名前も個別の評価も合計点も受け取らない。別のサービスが受け取る nullifier とも無関係。</a:t>
            </a:r>
            <a:endParaRPr lang="en-US" sz="1300" dirty="0"/>
          </a:p>
        </p:txBody>
      </p:sp>
      <p:sp>
        <p:nvSpPr>
          <p:cNvPr id="22" name="Text 2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05 ─ 構成</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5 ステップ、外部サービスなしでローカル完結</a:t>
            </a:r>
            <a:endParaRPr lang="en-US" sz="2900" dirty="0"/>
          </a:p>
        </p:txBody>
      </p:sp>
      <p:sp>
        <p:nvSpPr>
          <p:cNvPr id="4" name="Shape 2"/>
          <p:cNvSpPr/>
          <p:nvPr/>
        </p:nvSpPr>
        <p:spPr>
          <a:xfrm>
            <a:off x="640080"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2026310"/>
            <a:ext cx="353324" cy="344912"/>
          </a:xfrm>
          <a:prstGeom prst="roundRect">
            <a:avLst>
              <a:gd name="adj" fmla="val 6098"/>
            </a:avLst>
          </a:prstGeom>
          <a:solidFill>
            <a:srgbClr val="2B2F77"/>
          </a:solidFill>
          <a:ln/>
        </p:spPr>
      </p:sp>
      <p:sp>
        <p:nvSpPr>
          <p:cNvPr id="6" name="Shape 4"/>
          <p:cNvSpPr/>
          <p:nvPr/>
        </p:nvSpPr>
        <p:spPr>
          <a:xfrm>
            <a:off x="1189817" y="2093610"/>
            <a:ext cx="75712" cy="58887"/>
          </a:xfrm>
          <a:prstGeom prst="rect">
            <a:avLst/>
          </a:prstGeom>
          <a:solidFill>
            <a:srgbClr val="EDEEF7"/>
          </a:solidFill>
          <a:ln/>
        </p:spPr>
      </p:sp>
      <p:sp>
        <p:nvSpPr>
          <p:cNvPr id="7" name="Shape 5"/>
          <p:cNvSpPr/>
          <p:nvPr/>
        </p:nvSpPr>
        <p:spPr>
          <a:xfrm>
            <a:off x="1332829" y="2093610"/>
            <a:ext cx="75712" cy="58887"/>
          </a:xfrm>
          <a:prstGeom prst="rect">
            <a:avLst/>
          </a:prstGeom>
          <a:solidFill>
            <a:srgbClr val="EDEEF7"/>
          </a:solidFill>
          <a:ln/>
        </p:spPr>
      </p:sp>
      <p:sp>
        <p:nvSpPr>
          <p:cNvPr id="8" name="Shape 6"/>
          <p:cNvSpPr/>
          <p:nvPr/>
        </p:nvSpPr>
        <p:spPr>
          <a:xfrm>
            <a:off x="1189817" y="2186148"/>
            <a:ext cx="75712" cy="58887"/>
          </a:xfrm>
          <a:prstGeom prst="rect">
            <a:avLst/>
          </a:prstGeom>
          <a:solidFill>
            <a:srgbClr val="EDEEF7"/>
          </a:solidFill>
          <a:ln/>
        </p:spPr>
      </p:sp>
      <p:sp>
        <p:nvSpPr>
          <p:cNvPr id="9" name="Shape 7"/>
          <p:cNvSpPr/>
          <p:nvPr/>
        </p:nvSpPr>
        <p:spPr>
          <a:xfrm>
            <a:off x="1332829" y="2186148"/>
            <a:ext cx="75712" cy="58887"/>
          </a:xfrm>
          <a:prstGeom prst="rect">
            <a:avLst/>
          </a:prstGeom>
          <a:solidFill>
            <a:srgbClr val="EDEEF7"/>
          </a:solidFill>
          <a:ln/>
        </p:spPr>
      </p:sp>
      <p:sp>
        <p:nvSpPr>
          <p:cNvPr id="10" name="Shape 8"/>
          <p:cNvSpPr/>
          <p:nvPr/>
        </p:nvSpPr>
        <p:spPr>
          <a:xfrm>
            <a:off x="1261323" y="2287097"/>
            <a:ext cx="75712" cy="84125"/>
          </a:xfrm>
          <a:prstGeom prst="rect">
            <a:avLst/>
          </a:prstGeom>
          <a:solidFill>
            <a:srgbClr val="EDEEF7"/>
          </a:solidFill>
          <a:ln/>
        </p:spPr>
      </p:sp>
      <p:sp>
        <p:nvSpPr>
          <p:cNvPr id="11" name="Shape 9"/>
          <p:cNvSpPr/>
          <p:nvPr/>
        </p:nvSpPr>
        <p:spPr>
          <a:xfrm>
            <a:off x="1627632" y="2002536"/>
            <a:ext cx="384048" cy="384048"/>
          </a:xfrm>
          <a:prstGeom prst="ellipse">
            <a:avLst/>
          </a:prstGeom>
          <a:solidFill>
            <a:srgbClr val="2B2F77"/>
          </a:solidFill>
          <a:ln/>
        </p:spPr>
      </p:sp>
      <p:sp>
        <p:nvSpPr>
          <p:cNvPr id="12" name="Text 10"/>
          <p:cNvSpPr txBox="1"/>
          <p:nvPr/>
        </p:nvSpPr>
        <p:spPr>
          <a:xfrm>
            <a:off x="1627632"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68096"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Task Provider</a:t>
            </a:r>
            <a:endParaRPr lang="en-US" sz="1300" dirty="0"/>
          </a:p>
        </p:txBody>
      </p:sp>
      <p:sp>
        <p:nvSpPr>
          <p:cNvPr id="14" name="Text 12"/>
          <p:cNvSpPr txBox="1"/>
          <p:nvPr/>
        </p:nvSpPr>
        <p:spPr>
          <a:xfrm>
            <a:off x="768096"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署名付き Receipt を発行（このデモでは 3 社）</a:t>
            </a:r>
            <a:endParaRPr lang="en-US" sz="1000" dirty="0"/>
          </a:p>
        </p:txBody>
      </p:sp>
      <p:sp>
        <p:nvSpPr>
          <p:cNvPr id="15" name="Shape 13"/>
          <p:cNvSpPr/>
          <p:nvPr/>
        </p:nvSpPr>
        <p:spPr>
          <a:xfrm>
            <a:off x="2506942" y="2697480"/>
            <a:ext cx="365760" cy="310896"/>
          </a:xfrm>
          <a:prstGeom prst="rightArrow">
            <a:avLst/>
          </a:prstGeom>
          <a:solidFill>
            <a:srgbClr val="5257AE"/>
          </a:solidFill>
          <a:ln/>
        </p:spPr>
      </p:sp>
      <p:sp>
        <p:nvSpPr>
          <p:cNvPr id="16" name="Shape 14"/>
          <p:cNvSpPr/>
          <p:nvPr/>
        </p:nvSpPr>
        <p:spPr>
          <a:xfrm>
            <a:off x="2910764"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rot="10800000">
            <a:off x="3384789" y="2026310"/>
            <a:ext cx="386974" cy="218724"/>
          </a:xfrm>
          <a:prstGeom prst="triangle">
            <a:avLst/>
          </a:prstGeom>
          <a:solidFill>
            <a:srgbClr val="2B2F77"/>
          </a:solidFill>
          <a:ln/>
        </p:spPr>
      </p:sp>
      <p:sp>
        <p:nvSpPr>
          <p:cNvPr id="18" name="Shape 16"/>
          <p:cNvSpPr/>
          <p:nvPr/>
        </p:nvSpPr>
        <p:spPr>
          <a:xfrm>
            <a:off x="3548832" y="2228210"/>
            <a:ext cx="58887" cy="134600"/>
          </a:xfrm>
          <a:prstGeom prst="rect">
            <a:avLst/>
          </a:prstGeom>
          <a:solidFill>
            <a:srgbClr val="2B2F77"/>
          </a:solidFill>
          <a:ln/>
        </p:spPr>
      </p:sp>
      <p:sp>
        <p:nvSpPr>
          <p:cNvPr id="19" name="Shape 17"/>
          <p:cNvSpPr/>
          <p:nvPr/>
        </p:nvSpPr>
        <p:spPr>
          <a:xfrm>
            <a:off x="3898316" y="2002536"/>
            <a:ext cx="384048" cy="384048"/>
          </a:xfrm>
          <a:prstGeom prst="ellipse">
            <a:avLst/>
          </a:prstGeom>
          <a:solidFill>
            <a:srgbClr val="2B2F77"/>
          </a:solidFill>
          <a:ln/>
        </p:spPr>
      </p:sp>
      <p:sp>
        <p:nvSpPr>
          <p:cNvPr id="20" name="Text 18"/>
          <p:cNvSpPr txBox="1"/>
          <p:nvPr/>
        </p:nvSpPr>
        <p:spPr>
          <a:xfrm>
            <a:off x="3898316"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1" name="Text 19"/>
          <p:cNvSpPr txBox="1"/>
          <p:nvPr/>
        </p:nvSpPr>
        <p:spPr>
          <a:xfrm>
            <a:off x="3038780"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Input Gateway</a:t>
            </a:r>
            <a:endParaRPr lang="en-US" sz="1300" dirty="0"/>
          </a:p>
        </p:txBody>
      </p:sp>
      <p:sp>
        <p:nvSpPr>
          <p:cNvPr id="22" name="Text 20"/>
          <p:cNvSpPr txBox="1"/>
          <p:nvPr/>
        </p:nvSpPr>
        <p:spPr>
          <a:xfrm>
            <a:off x="3038780"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6 つの検査を通し、Committee へ分割</a:t>
            </a:r>
            <a:endParaRPr lang="en-US" sz="1000" dirty="0"/>
          </a:p>
        </p:txBody>
      </p:sp>
      <p:sp>
        <p:nvSpPr>
          <p:cNvPr id="23" name="Shape 21"/>
          <p:cNvSpPr/>
          <p:nvPr/>
        </p:nvSpPr>
        <p:spPr>
          <a:xfrm>
            <a:off x="4777626" y="2697480"/>
            <a:ext cx="365760" cy="310896"/>
          </a:xfrm>
          <a:prstGeom prst="rightArrow">
            <a:avLst/>
          </a:prstGeom>
          <a:solidFill>
            <a:srgbClr val="5257AE"/>
          </a:solidFill>
          <a:ln/>
        </p:spPr>
      </p:sp>
      <p:sp>
        <p:nvSpPr>
          <p:cNvPr id="24" name="Shape 22"/>
          <p:cNvSpPr/>
          <p:nvPr/>
        </p:nvSpPr>
        <p:spPr>
          <a:xfrm>
            <a:off x="5181448"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5722772" y="2102023"/>
            <a:ext cx="252374" cy="25237"/>
          </a:xfrm>
          <a:prstGeom prst="rect">
            <a:avLst/>
          </a:prstGeom>
          <a:solidFill>
            <a:srgbClr val="2B2F77"/>
          </a:solidFill>
          <a:ln/>
        </p:spPr>
      </p:sp>
      <p:sp>
        <p:nvSpPr>
          <p:cNvPr id="26" name="Shape 24"/>
          <p:cNvSpPr/>
          <p:nvPr/>
        </p:nvSpPr>
        <p:spPr>
          <a:xfrm>
            <a:off x="5836341" y="2110435"/>
            <a:ext cx="25237" cy="151425"/>
          </a:xfrm>
          <a:prstGeom prst="rect">
            <a:avLst/>
          </a:prstGeom>
          <a:solidFill>
            <a:srgbClr val="2B2F77"/>
          </a:solidFill>
          <a:ln/>
        </p:spPr>
      </p:sp>
      <p:sp>
        <p:nvSpPr>
          <p:cNvPr id="27" name="Shape 25"/>
          <p:cNvSpPr/>
          <p:nvPr/>
        </p:nvSpPr>
        <p:spPr>
          <a:xfrm>
            <a:off x="5655473" y="2043135"/>
            <a:ext cx="126187" cy="126187"/>
          </a:xfrm>
          <a:prstGeom prst="ellipse">
            <a:avLst/>
          </a:prstGeom>
          <a:solidFill>
            <a:srgbClr val="2B2F77"/>
          </a:solidFill>
          <a:ln/>
        </p:spPr>
      </p:sp>
      <p:sp>
        <p:nvSpPr>
          <p:cNvPr id="28" name="Shape 26"/>
          <p:cNvSpPr/>
          <p:nvPr/>
        </p:nvSpPr>
        <p:spPr>
          <a:xfrm>
            <a:off x="5916259" y="2043135"/>
            <a:ext cx="126187" cy="126187"/>
          </a:xfrm>
          <a:prstGeom prst="ellipse">
            <a:avLst/>
          </a:prstGeom>
          <a:solidFill>
            <a:srgbClr val="2B2F77"/>
          </a:solidFill>
          <a:ln/>
        </p:spPr>
      </p:sp>
      <p:sp>
        <p:nvSpPr>
          <p:cNvPr id="29" name="Shape 27"/>
          <p:cNvSpPr/>
          <p:nvPr/>
        </p:nvSpPr>
        <p:spPr>
          <a:xfrm>
            <a:off x="5785866" y="2245035"/>
            <a:ext cx="126187" cy="126187"/>
          </a:xfrm>
          <a:prstGeom prst="ellipse">
            <a:avLst/>
          </a:prstGeom>
          <a:solidFill>
            <a:srgbClr val="00875F"/>
          </a:solidFill>
          <a:ln/>
        </p:spPr>
      </p:sp>
      <p:sp>
        <p:nvSpPr>
          <p:cNvPr id="30" name="Shape 28"/>
          <p:cNvSpPr/>
          <p:nvPr/>
        </p:nvSpPr>
        <p:spPr>
          <a:xfrm>
            <a:off x="6169000" y="2002536"/>
            <a:ext cx="384048" cy="384048"/>
          </a:xfrm>
          <a:prstGeom prst="ellipse">
            <a:avLst/>
          </a:prstGeom>
          <a:solidFill>
            <a:srgbClr val="2B2F77"/>
          </a:solidFill>
          <a:ln/>
        </p:spPr>
      </p:sp>
      <p:sp>
        <p:nvSpPr>
          <p:cNvPr id="31" name="Text 29"/>
          <p:cNvSpPr txBox="1"/>
          <p:nvPr/>
        </p:nvSpPr>
        <p:spPr>
          <a:xfrm>
            <a:off x="6169000"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2" name="Text 30"/>
          <p:cNvSpPr txBox="1"/>
          <p:nvPr/>
        </p:nvSpPr>
        <p:spPr>
          <a:xfrm>
            <a:off x="5309464"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Reputation Committee</a:t>
            </a:r>
            <a:endParaRPr lang="en-US" sz="1300" dirty="0"/>
          </a:p>
        </p:txBody>
      </p:sp>
      <p:sp>
        <p:nvSpPr>
          <p:cNvPr id="33" name="Text 31"/>
          <p:cNvSpPr txBox="1"/>
          <p:nvPr/>
        </p:nvSpPr>
        <p:spPr>
          <a:xfrm>
            <a:off x="5309464"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3 ノード固定。部分和を出し 2-of-3 の EdDSA で署名</a:t>
            </a:r>
            <a:endParaRPr lang="en-US" sz="1000" dirty="0"/>
          </a:p>
        </p:txBody>
      </p:sp>
      <p:sp>
        <p:nvSpPr>
          <p:cNvPr id="34" name="Shape 32"/>
          <p:cNvSpPr/>
          <p:nvPr/>
        </p:nvSpPr>
        <p:spPr>
          <a:xfrm>
            <a:off x="7048310" y="2697480"/>
            <a:ext cx="365760" cy="310896"/>
          </a:xfrm>
          <a:prstGeom prst="rightArrow">
            <a:avLst/>
          </a:prstGeom>
          <a:solidFill>
            <a:srgbClr val="5257AE"/>
          </a:solidFill>
          <a:ln/>
        </p:spPr>
      </p:sp>
      <p:sp>
        <p:nvSpPr>
          <p:cNvPr id="35" name="Shape 33"/>
          <p:cNvSpPr/>
          <p:nvPr/>
        </p:nvSpPr>
        <p:spPr>
          <a:xfrm>
            <a:off x="7452131" y="1783080"/>
            <a:ext cx="1828800" cy="2240280"/>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6" name="Shape 34"/>
          <p:cNvSpPr/>
          <p:nvPr/>
        </p:nvSpPr>
        <p:spPr>
          <a:xfrm>
            <a:off x="8086725" y="2002536"/>
            <a:ext cx="47732" cy="47732"/>
          </a:xfrm>
          <a:prstGeom prst="ellipse">
            <a:avLst/>
          </a:prstGeom>
          <a:solidFill>
            <a:srgbClr val="00875F"/>
          </a:solidFill>
          <a:ln/>
        </p:spPr>
      </p:sp>
      <p:sp>
        <p:nvSpPr>
          <p:cNvPr id="37" name="Shape 35"/>
          <p:cNvSpPr/>
          <p:nvPr/>
        </p:nvSpPr>
        <p:spPr>
          <a:xfrm>
            <a:off x="8103961" y="2042312"/>
            <a:ext cx="13259" cy="53035"/>
          </a:xfrm>
          <a:prstGeom prst="rect">
            <a:avLst/>
          </a:prstGeom>
          <a:solidFill>
            <a:srgbClr val="FFFFFF"/>
          </a:solidFill>
          <a:ln/>
        </p:spPr>
      </p:sp>
      <p:sp>
        <p:nvSpPr>
          <p:cNvPr id="38" name="Shape 36"/>
          <p:cNvSpPr/>
          <p:nvPr/>
        </p:nvSpPr>
        <p:spPr>
          <a:xfrm>
            <a:off x="7932923" y="2156338"/>
            <a:ext cx="29169" cy="68946"/>
          </a:xfrm>
          <a:prstGeom prst="roundRect">
            <a:avLst>
              <a:gd name="adj" fmla="val 94045"/>
            </a:avLst>
          </a:prstGeom>
          <a:solidFill>
            <a:srgbClr val="DFE1F1"/>
          </a:solidFill>
          <a:ln/>
        </p:spPr>
      </p:sp>
      <p:sp>
        <p:nvSpPr>
          <p:cNvPr id="39" name="Shape 37"/>
          <p:cNvSpPr/>
          <p:nvPr/>
        </p:nvSpPr>
        <p:spPr>
          <a:xfrm>
            <a:off x="8256438" y="2156338"/>
            <a:ext cx="29169" cy="68946"/>
          </a:xfrm>
          <a:prstGeom prst="roundRect">
            <a:avLst>
              <a:gd name="adj" fmla="val 94045"/>
            </a:avLst>
          </a:prstGeom>
          <a:solidFill>
            <a:srgbClr val="DFE1F1"/>
          </a:solidFill>
          <a:ln/>
        </p:spPr>
      </p:sp>
      <p:sp>
        <p:nvSpPr>
          <p:cNvPr id="40" name="Shape 38"/>
          <p:cNvSpPr/>
          <p:nvPr/>
        </p:nvSpPr>
        <p:spPr>
          <a:xfrm>
            <a:off x="7959441" y="2090044"/>
            <a:ext cx="296997" cy="233355"/>
          </a:xfrm>
          <a:prstGeom prst="roundRect">
            <a:avLst>
              <a:gd name="adj" fmla="val 15909"/>
            </a:avLst>
          </a:prstGeom>
          <a:solidFill>
            <a:srgbClr val="FFFFFF"/>
          </a:solidFill>
          <a:ln/>
        </p:spPr>
      </p:sp>
      <p:sp>
        <p:nvSpPr>
          <p:cNvPr id="41" name="Shape 39"/>
          <p:cNvSpPr/>
          <p:nvPr/>
        </p:nvSpPr>
        <p:spPr>
          <a:xfrm>
            <a:off x="8028386" y="2153686"/>
            <a:ext cx="45080" cy="45080"/>
          </a:xfrm>
          <a:prstGeom prst="ellipse">
            <a:avLst/>
          </a:prstGeom>
          <a:solidFill>
            <a:srgbClr val="00875F"/>
          </a:solidFill>
          <a:ln/>
        </p:spPr>
      </p:sp>
      <p:sp>
        <p:nvSpPr>
          <p:cNvPr id="42" name="Shape 40"/>
          <p:cNvSpPr/>
          <p:nvPr/>
        </p:nvSpPr>
        <p:spPr>
          <a:xfrm>
            <a:off x="8142412" y="2153686"/>
            <a:ext cx="45080" cy="45080"/>
          </a:xfrm>
          <a:prstGeom prst="ellipse">
            <a:avLst/>
          </a:prstGeom>
          <a:solidFill>
            <a:srgbClr val="00875F"/>
          </a:solidFill>
          <a:ln/>
        </p:spPr>
      </p:sp>
      <p:sp>
        <p:nvSpPr>
          <p:cNvPr id="43" name="Shape 41"/>
          <p:cNvSpPr/>
          <p:nvPr/>
        </p:nvSpPr>
        <p:spPr>
          <a:xfrm>
            <a:off x="8060207" y="2246498"/>
            <a:ext cx="95463" cy="26518"/>
          </a:xfrm>
          <a:prstGeom prst="roundRect">
            <a:avLst>
              <a:gd name="adj" fmla="val 30000"/>
            </a:avLst>
          </a:prstGeom>
          <a:solidFill>
            <a:srgbClr val="2B2F77"/>
          </a:solidFill>
          <a:ln/>
        </p:spPr>
      </p:sp>
      <p:sp>
        <p:nvSpPr>
          <p:cNvPr id="44" name="Shape 42"/>
          <p:cNvSpPr/>
          <p:nvPr/>
        </p:nvSpPr>
        <p:spPr>
          <a:xfrm>
            <a:off x="8092029" y="2323399"/>
            <a:ext cx="31821" cy="26518"/>
          </a:xfrm>
          <a:prstGeom prst="rect">
            <a:avLst/>
          </a:prstGeom>
          <a:solidFill>
            <a:srgbClr val="DFE1F1"/>
          </a:solidFill>
          <a:ln/>
        </p:spPr>
      </p:sp>
      <p:sp>
        <p:nvSpPr>
          <p:cNvPr id="45" name="Shape 43"/>
          <p:cNvSpPr/>
          <p:nvPr/>
        </p:nvSpPr>
        <p:spPr>
          <a:xfrm>
            <a:off x="8007172" y="2347265"/>
            <a:ext cx="201534" cy="100767"/>
          </a:xfrm>
          <a:prstGeom prst="roundRect">
            <a:avLst>
              <a:gd name="adj" fmla="val 26316"/>
            </a:avLst>
          </a:prstGeom>
          <a:solidFill>
            <a:srgbClr val="DFE1F1"/>
          </a:solidFill>
          <a:ln/>
        </p:spPr>
      </p:sp>
      <p:sp>
        <p:nvSpPr>
          <p:cNvPr id="46" name="Shape 44"/>
          <p:cNvSpPr/>
          <p:nvPr/>
        </p:nvSpPr>
        <p:spPr>
          <a:xfrm>
            <a:off x="8439683" y="2002536"/>
            <a:ext cx="384048" cy="384048"/>
          </a:xfrm>
          <a:prstGeom prst="ellipse">
            <a:avLst/>
          </a:prstGeom>
          <a:solidFill>
            <a:srgbClr val="FFFFFF"/>
          </a:solidFill>
          <a:ln/>
        </p:spPr>
      </p:sp>
      <p:sp>
        <p:nvSpPr>
          <p:cNvPr id="47" name="Text 45"/>
          <p:cNvSpPr txBox="1"/>
          <p:nvPr/>
        </p:nvSpPr>
        <p:spPr>
          <a:xfrm>
            <a:off x="8439683" y="200253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48" name="Text 46"/>
          <p:cNvSpPr txBox="1"/>
          <p:nvPr/>
        </p:nvSpPr>
        <p:spPr>
          <a:xfrm>
            <a:off x="7580147" y="2569464"/>
            <a:ext cx="157276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Agent</a:t>
            </a:r>
            <a:endParaRPr lang="en-US" sz="1300" dirty="0"/>
          </a:p>
        </p:txBody>
      </p:sp>
      <p:sp>
        <p:nvSpPr>
          <p:cNvPr id="49" name="Text 47"/>
          <p:cNvSpPr txBox="1"/>
          <p:nvPr/>
        </p:nvSpPr>
        <p:spPr>
          <a:xfrm>
            <a:off x="7580147"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DFE1F1"/>
                </a:solidFill>
                <a:latin typeface="Arial" pitchFamily="34" charset="0"/>
                <a:ea typeface="Arial" pitchFamily="34" charset="-122"/>
                <a:cs typeface="Arial" pitchFamily="34" charset="-120"/>
              </a:rPr>
              <a:t>agentSecret と Manifest を持ち、Groth16 の証明を作る</a:t>
            </a:r>
            <a:endParaRPr lang="en-US" sz="1000" dirty="0"/>
          </a:p>
        </p:txBody>
      </p:sp>
      <p:sp>
        <p:nvSpPr>
          <p:cNvPr id="50" name="Shape 48"/>
          <p:cNvSpPr/>
          <p:nvPr/>
        </p:nvSpPr>
        <p:spPr>
          <a:xfrm>
            <a:off x="9318993" y="2697480"/>
            <a:ext cx="365760" cy="310896"/>
          </a:xfrm>
          <a:prstGeom prst="rightArrow">
            <a:avLst/>
          </a:prstGeom>
          <a:solidFill>
            <a:srgbClr val="00875F"/>
          </a:solidFill>
          <a:ln/>
        </p:spPr>
      </p:sp>
      <p:sp>
        <p:nvSpPr>
          <p:cNvPr id="51" name="Shape 49"/>
          <p:cNvSpPr/>
          <p:nvPr/>
        </p:nvSpPr>
        <p:spPr>
          <a:xfrm>
            <a:off x="9722815"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2" name="Shape 50"/>
          <p:cNvSpPr/>
          <p:nvPr/>
        </p:nvSpPr>
        <p:spPr>
          <a:xfrm>
            <a:off x="10213665" y="2026310"/>
            <a:ext cx="353324" cy="344912"/>
          </a:xfrm>
          <a:prstGeom prst="roundRect">
            <a:avLst>
              <a:gd name="adj" fmla="val 6098"/>
            </a:avLst>
          </a:prstGeom>
          <a:solidFill>
            <a:srgbClr val="2B2F77"/>
          </a:solidFill>
          <a:ln/>
        </p:spPr>
      </p:sp>
      <p:sp>
        <p:nvSpPr>
          <p:cNvPr id="53" name="Shape 51"/>
          <p:cNvSpPr/>
          <p:nvPr/>
        </p:nvSpPr>
        <p:spPr>
          <a:xfrm>
            <a:off x="10272552" y="2093610"/>
            <a:ext cx="75712" cy="58887"/>
          </a:xfrm>
          <a:prstGeom prst="rect">
            <a:avLst/>
          </a:prstGeom>
          <a:solidFill>
            <a:srgbClr val="EDEEF7"/>
          </a:solidFill>
          <a:ln/>
        </p:spPr>
      </p:sp>
      <p:sp>
        <p:nvSpPr>
          <p:cNvPr id="54" name="Shape 52"/>
          <p:cNvSpPr/>
          <p:nvPr/>
        </p:nvSpPr>
        <p:spPr>
          <a:xfrm>
            <a:off x="10415565" y="2093610"/>
            <a:ext cx="75712" cy="58887"/>
          </a:xfrm>
          <a:prstGeom prst="rect">
            <a:avLst/>
          </a:prstGeom>
          <a:solidFill>
            <a:srgbClr val="EDEEF7"/>
          </a:solidFill>
          <a:ln/>
        </p:spPr>
      </p:sp>
      <p:sp>
        <p:nvSpPr>
          <p:cNvPr id="55" name="Shape 53"/>
          <p:cNvSpPr/>
          <p:nvPr/>
        </p:nvSpPr>
        <p:spPr>
          <a:xfrm>
            <a:off x="10272552" y="2186148"/>
            <a:ext cx="75712" cy="58887"/>
          </a:xfrm>
          <a:prstGeom prst="rect">
            <a:avLst/>
          </a:prstGeom>
          <a:solidFill>
            <a:srgbClr val="EDEEF7"/>
          </a:solidFill>
          <a:ln/>
        </p:spPr>
      </p:sp>
      <p:sp>
        <p:nvSpPr>
          <p:cNvPr id="56" name="Shape 54"/>
          <p:cNvSpPr/>
          <p:nvPr/>
        </p:nvSpPr>
        <p:spPr>
          <a:xfrm>
            <a:off x="10415565" y="2186148"/>
            <a:ext cx="75712" cy="58887"/>
          </a:xfrm>
          <a:prstGeom prst="rect">
            <a:avLst/>
          </a:prstGeom>
          <a:solidFill>
            <a:srgbClr val="EDEEF7"/>
          </a:solidFill>
          <a:ln/>
        </p:spPr>
      </p:sp>
      <p:sp>
        <p:nvSpPr>
          <p:cNvPr id="57" name="Shape 55"/>
          <p:cNvSpPr/>
          <p:nvPr/>
        </p:nvSpPr>
        <p:spPr>
          <a:xfrm>
            <a:off x="10344059" y="2287097"/>
            <a:ext cx="75712" cy="84125"/>
          </a:xfrm>
          <a:prstGeom prst="rect">
            <a:avLst/>
          </a:prstGeom>
          <a:solidFill>
            <a:srgbClr val="EDEEF7"/>
          </a:solidFill>
          <a:ln/>
        </p:spPr>
      </p:sp>
      <p:sp>
        <p:nvSpPr>
          <p:cNvPr id="58" name="Shape 56"/>
          <p:cNvSpPr/>
          <p:nvPr/>
        </p:nvSpPr>
        <p:spPr>
          <a:xfrm>
            <a:off x="10710367" y="2002536"/>
            <a:ext cx="384048" cy="384048"/>
          </a:xfrm>
          <a:prstGeom prst="ellipse">
            <a:avLst/>
          </a:prstGeom>
          <a:solidFill>
            <a:srgbClr val="2B2F77"/>
          </a:solidFill>
          <a:ln/>
        </p:spPr>
      </p:sp>
      <p:sp>
        <p:nvSpPr>
          <p:cNvPr id="59" name="Text 57"/>
          <p:cNvSpPr txBox="1"/>
          <p:nvPr/>
        </p:nvSpPr>
        <p:spPr>
          <a:xfrm>
            <a:off x="10710367"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0" name="Text 58"/>
          <p:cNvSpPr txBox="1"/>
          <p:nvPr/>
        </p:nvSpPr>
        <p:spPr>
          <a:xfrm>
            <a:off x="9850831"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Service（検証者）</a:t>
            </a:r>
            <a:endParaRPr lang="en-US" sz="1300" dirty="0"/>
          </a:p>
        </p:txBody>
      </p:sp>
      <p:sp>
        <p:nvSpPr>
          <p:cNvPr id="61" name="Text 59"/>
          <p:cNvSpPr txBox="1"/>
          <p:nvPr/>
        </p:nvSpPr>
        <p:spPr>
          <a:xfrm>
            <a:off x="9850831"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Policy と nonce を出し、5 つの検査で受理する</a:t>
            </a:r>
            <a:endParaRPr lang="en-US" sz="1000" dirty="0"/>
          </a:p>
        </p:txBody>
      </p:sp>
      <p:sp>
        <p:nvSpPr>
          <p:cNvPr id="62" name="Text 60"/>
          <p:cNvSpPr txBox="1"/>
          <p:nvPr/>
        </p:nvSpPr>
        <p:spPr>
          <a:xfrm>
            <a:off x="640080" y="4078224"/>
            <a:ext cx="10911535"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Task Provider の 3 はこのデモの社数（何社でもよい）。Committee の 3 は回路が決めた固定値。</a:t>
            </a:r>
            <a:endParaRPr lang="en-US" sz="1050" dirty="0"/>
          </a:p>
        </p:txBody>
      </p:sp>
      <p:sp>
        <p:nvSpPr>
          <p:cNvPr id="63" name="Shape 61"/>
          <p:cNvSpPr/>
          <p:nvPr/>
        </p:nvSpPr>
        <p:spPr>
          <a:xfrm>
            <a:off x="640080" y="4443984"/>
            <a:ext cx="10911535" cy="713232"/>
          </a:xfrm>
          <a:prstGeom prst="roundRect">
            <a:avLst>
              <a:gd name="adj" fmla="val 10256"/>
            </a:avLst>
          </a:prstGeom>
          <a:solidFill>
            <a:srgbClr val="E2F3EC"/>
          </a:solidFill>
          <a:ln/>
        </p:spPr>
      </p:sp>
      <p:sp>
        <p:nvSpPr>
          <p:cNvPr id="64" name="Text 62"/>
          <p:cNvSpPr txBox="1"/>
          <p:nvPr/>
        </p:nvSpPr>
        <p:spPr>
          <a:xfrm>
            <a:off x="960120" y="4443984"/>
            <a:ext cx="10271455" cy="713232"/>
          </a:xfrm>
          <a:prstGeom prst="rect">
            <a:avLst/>
          </a:prstGeom>
          <a:noFill/>
          <a:ln/>
        </p:spPr>
        <p:txBody>
          <a:bodyPr wrap="square" lIns="0" tIns="0" rIns="0" bIns="0" rtlCol="0" anchor="ctr"/>
          <a:lstStyle/>
          <a:p>
            <a:pPr indent="0" marL="0">
              <a:buNone/>
            </a:pPr>
            <a:r>
              <a:rPr lang="en-US" sz="1500" b="1" dirty="0">
                <a:solidFill>
                  <a:srgbClr val="00875F"/>
                </a:solidFill>
                <a:latin typeface="Arial" pitchFamily="34" charset="0"/>
                <a:ea typeface="Arial" pitchFamily="34" charset="-122"/>
                <a:cs typeface="Arial" pitchFamily="34" charset="-120"/>
              </a:rPr>
              <a:t>証明書は Agent で止まる。4 → 5 の矢印が運ぶのは、Groth16 の証明とその公開入力 20 個だけ。</a:t>
            </a:r>
            <a:endParaRPr lang="en-US" sz="1500" dirty="0"/>
          </a:p>
        </p:txBody>
      </p:sp>
      <p:sp>
        <p:nvSpPr>
          <p:cNvPr id="65" name="Shape 63"/>
          <p:cNvSpPr/>
          <p:nvPr/>
        </p:nvSpPr>
        <p:spPr>
          <a:xfrm>
            <a:off x="640080" y="5303520"/>
            <a:ext cx="10911535" cy="731520"/>
          </a:xfrm>
          <a:prstGeom prst="roundRect">
            <a:avLst>
              <a:gd name="adj" fmla="val 10000"/>
            </a:avLst>
          </a:prstGeom>
          <a:solidFill>
            <a:srgbClr val="EDEEF7"/>
          </a:solidFill>
          <a:ln/>
        </p:spPr>
      </p:sp>
      <p:sp>
        <p:nvSpPr>
          <p:cNvPr id="66" name="Text 64"/>
          <p:cNvSpPr txBox="1"/>
          <p:nvPr/>
        </p:nvSpPr>
        <p:spPr>
          <a:xfrm>
            <a:off x="960120" y="5303520"/>
            <a:ext cx="10271455" cy="731520"/>
          </a:xfrm>
          <a:prstGeom prst="rect">
            <a:avLst/>
          </a:prstGeom>
          <a:noFill/>
          <a:ln/>
        </p:spPr>
        <p:txBody>
          <a:bodyPr wrap="square" lIns="0" tIns="0" rIns="0" bIns="0" rtlCol="0" anchor="ctr"/>
          <a:lstStyle/>
          <a:p>
            <a:pPr indent="0" marL="0">
              <a:buNone/>
            </a:pPr>
            <a:r>
              <a:rPr lang="en-US" sz="1150" dirty="0">
                <a:solidFill>
                  <a:srgbClr val="3A3F63"/>
                </a:solidFill>
                <a:latin typeface="Arial" pitchFamily="34" charset="0"/>
                <a:ea typeface="Arial" pitchFamily="34" charset="-122"/>
                <a:cs typeface="Arial" pitchFamily="34" charset="-120"/>
              </a:rPr>
              <a:t>Go 1.25　·　gnark / Groth16（BN254）　·　回路内のハッシュは Poseidon2　·　Committee 署名は BabyJubJub 上の EdDSA を回路内で検証　·　評価の集計は 3 者の加算的秘密分散</a:t>
            </a:r>
            <a:endParaRPr lang="en-US" sz="1150" dirty="0"/>
          </a:p>
        </p:txBody>
      </p:sp>
      <p:sp>
        <p:nvSpPr>
          <p:cNvPr id="67" name="Text 6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06 ─ 独自点</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実績は名前ではなく、この箱の中身に付く</a:t>
            </a:r>
            <a:endParaRPr lang="en-US" sz="2900" dirty="0"/>
          </a:p>
        </p:txBody>
      </p:sp>
      <p:sp>
        <p:nvSpPr>
          <p:cNvPr id="4" name="Shape 2"/>
          <p:cNvSpPr/>
          <p:nvPr/>
        </p:nvSpPr>
        <p:spPr>
          <a:xfrm>
            <a:off x="640080" y="1783080"/>
            <a:ext cx="5669280" cy="3200400"/>
          </a:xfrm>
          <a:prstGeom prst="roundRect">
            <a:avLst>
              <a:gd name="adj" fmla="val 1714"/>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417320" cy="384048"/>
          </a:xfrm>
          <a:prstGeom prst="roundRect">
            <a:avLst>
              <a:gd name="adj" fmla="val 14286"/>
            </a:avLst>
          </a:prstGeom>
          <a:solidFill>
            <a:srgbClr val="2B2F77"/>
          </a:solidFill>
          <a:ln/>
        </p:spPr>
      </p:sp>
      <p:sp>
        <p:nvSpPr>
          <p:cNvPr id="16" name="Text 14"/>
          <p:cNvSpPr txBox="1"/>
          <p:nvPr/>
        </p:nvSpPr>
        <p:spPr>
          <a:xfrm>
            <a:off x="1417320" y="1984248"/>
            <a:ext cx="14173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AI Agent</a:t>
            </a:r>
            <a:endParaRPr lang="en-US" sz="1300" dirty="0"/>
          </a:p>
        </p:txBody>
      </p:sp>
      <p:sp>
        <p:nvSpPr>
          <p:cNvPr id="17" name="Text 15"/>
          <p:cNvSpPr txBox="1"/>
          <p:nvPr/>
        </p:nvSpPr>
        <p:spPr>
          <a:xfrm>
            <a:off x="2971800" y="1984248"/>
            <a:ext cx="3063240" cy="384048"/>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実績が結び付くのは、この 4 項目だけ</a:t>
            </a:r>
            <a:endParaRPr lang="en-US" sz="1150" dirty="0"/>
          </a:p>
        </p:txBody>
      </p:sp>
      <p:sp>
        <p:nvSpPr>
          <p:cNvPr id="18" name="Shape 16"/>
          <p:cNvSpPr/>
          <p:nvPr/>
        </p:nvSpPr>
        <p:spPr>
          <a:xfrm>
            <a:off x="914400" y="2679192"/>
            <a:ext cx="5120640" cy="493776"/>
          </a:xfrm>
          <a:prstGeom prst="roundRect">
            <a:avLst>
              <a:gd name="adj" fmla="val 11111"/>
            </a:avLst>
          </a:prstGeom>
          <a:solidFill>
            <a:srgbClr val="E2F3EC"/>
          </a:solidFill>
          <a:ln/>
        </p:spPr>
      </p:sp>
      <p:sp>
        <p:nvSpPr>
          <p:cNvPr id="19" name="Text 17"/>
          <p:cNvSpPr txBox="1"/>
          <p:nvPr/>
        </p:nvSpPr>
        <p:spPr>
          <a:xfrm>
            <a:off x="1060704" y="2679192"/>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modelId</a:t>
            </a:r>
            <a:endParaRPr lang="en-US" sz="1050" dirty="0"/>
          </a:p>
        </p:txBody>
      </p:sp>
      <p:sp>
        <p:nvSpPr>
          <p:cNvPr id="20" name="Text 18"/>
          <p:cNvSpPr txBox="1"/>
          <p:nvPr/>
        </p:nvSpPr>
        <p:spPr>
          <a:xfrm>
            <a:off x="2880360" y="2679192"/>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どのモデルで動くか</a:t>
            </a:r>
            <a:endParaRPr lang="en-US" sz="1100" dirty="0"/>
          </a:p>
        </p:txBody>
      </p:sp>
      <p:sp>
        <p:nvSpPr>
          <p:cNvPr id="21" name="Text 19"/>
          <p:cNvSpPr txBox="1"/>
          <p:nvPr/>
        </p:nvSpPr>
        <p:spPr>
          <a:xfrm>
            <a:off x="4617720" y="2679192"/>
            <a:ext cx="1271016" cy="493776"/>
          </a:xfrm>
          <a:prstGeom prst="rect">
            <a:avLst/>
          </a:prstGeom>
          <a:noFill/>
          <a:ln/>
        </p:spPr>
        <p:txBody>
          <a:bodyPr wrap="square" lIns="0" tIns="0" rIns="0" bIns="0" rtlCol="0" anchor="ctr"/>
          <a:lstStyle/>
          <a:p>
            <a:pPr algn="r" indent="0" marL="0">
              <a:buNone/>
            </a:pPr>
            <a:r>
              <a:rPr lang="en-US" sz="1000" b="1" dirty="0">
                <a:solidFill>
                  <a:srgbClr val="00875F"/>
                </a:solidFill>
                <a:latin typeface="Courier New" pitchFamily="34" charset="0"/>
                <a:ea typeface="Courier New" pitchFamily="34" charset="-122"/>
                <a:cs typeface="Courier New" pitchFamily="34" charset="-120"/>
              </a:rPr>
              <a:t>gpt-demo-v1 → v2</a:t>
            </a:r>
            <a:endParaRPr lang="en-US" sz="1000" dirty="0"/>
          </a:p>
        </p:txBody>
      </p:sp>
      <p:sp>
        <p:nvSpPr>
          <p:cNvPr id="22" name="Shape 20"/>
          <p:cNvSpPr/>
          <p:nvPr/>
        </p:nvSpPr>
        <p:spPr>
          <a:xfrm>
            <a:off x="914400" y="3246120"/>
            <a:ext cx="5120640" cy="493776"/>
          </a:xfrm>
          <a:prstGeom prst="roundRect">
            <a:avLst>
              <a:gd name="adj" fmla="val 11111"/>
            </a:avLst>
          </a:prstGeom>
          <a:solidFill>
            <a:srgbClr val="EDEEF7"/>
          </a:solidFill>
          <a:ln/>
        </p:spPr>
      </p:sp>
      <p:sp>
        <p:nvSpPr>
          <p:cNvPr id="23" name="Text 21"/>
          <p:cNvSpPr txBox="1"/>
          <p:nvPr/>
        </p:nvSpPr>
        <p:spPr>
          <a:xfrm>
            <a:off x="1060704" y="3246120"/>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systemPromptHash</a:t>
            </a:r>
            <a:endParaRPr lang="en-US" sz="1050" dirty="0"/>
          </a:p>
        </p:txBody>
      </p:sp>
      <p:sp>
        <p:nvSpPr>
          <p:cNvPr id="24" name="Text 22"/>
          <p:cNvSpPr txBox="1"/>
          <p:nvPr/>
        </p:nvSpPr>
        <p:spPr>
          <a:xfrm>
            <a:off x="2880360" y="3246120"/>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どんな指示で動くか</a:t>
            </a:r>
            <a:endParaRPr lang="en-US" sz="1100" dirty="0"/>
          </a:p>
        </p:txBody>
      </p:sp>
      <p:sp>
        <p:nvSpPr>
          <p:cNvPr id="25" name="Text 23"/>
          <p:cNvSpPr txBox="1"/>
          <p:nvPr/>
        </p:nvSpPr>
        <p:spPr>
          <a:xfrm>
            <a:off x="4617720" y="3246120"/>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26" name="Shape 24"/>
          <p:cNvSpPr/>
          <p:nvPr/>
        </p:nvSpPr>
        <p:spPr>
          <a:xfrm>
            <a:off x="914400" y="3813048"/>
            <a:ext cx="5120640" cy="493776"/>
          </a:xfrm>
          <a:prstGeom prst="roundRect">
            <a:avLst>
              <a:gd name="adj" fmla="val 11111"/>
            </a:avLst>
          </a:prstGeom>
          <a:solidFill>
            <a:srgbClr val="EDEEF7"/>
          </a:solidFill>
          <a:ln/>
        </p:spPr>
      </p:sp>
      <p:sp>
        <p:nvSpPr>
          <p:cNvPr id="27" name="Text 25"/>
          <p:cNvSpPr txBox="1"/>
          <p:nvPr/>
        </p:nvSpPr>
        <p:spPr>
          <a:xfrm>
            <a:off x="1060704" y="3813048"/>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toolPolicyHash</a:t>
            </a:r>
            <a:endParaRPr lang="en-US" sz="1050" dirty="0"/>
          </a:p>
        </p:txBody>
      </p:sp>
      <p:sp>
        <p:nvSpPr>
          <p:cNvPr id="28" name="Text 26"/>
          <p:cNvSpPr txBox="1"/>
          <p:nvPr/>
        </p:nvSpPr>
        <p:spPr>
          <a:xfrm>
            <a:off x="2880360" y="3813048"/>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どのツールを使えるか</a:t>
            </a:r>
            <a:endParaRPr lang="en-US" sz="1100" dirty="0"/>
          </a:p>
        </p:txBody>
      </p:sp>
      <p:sp>
        <p:nvSpPr>
          <p:cNvPr id="29" name="Text 27"/>
          <p:cNvSpPr txBox="1"/>
          <p:nvPr/>
        </p:nvSpPr>
        <p:spPr>
          <a:xfrm>
            <a:off x="4617720" y="3813048"/>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30" name="Shape 28"/>
          <p:cNvSpPr/>
          <p:nvPr/>
        </p:nvSpPr>
        <p:spPr>
          <a:xfrm>
            <a:off x="914400" y="4379976"/>
            <a:ext cx="5120640" cy="493776"/>
          </a:xfrm>
          <a:prstGeom prst="roundRect">
            <a:avLst>
              <a:gd name="adj" fmla="val 11111"/>
            </a:avLst>
          </a:prstGeom>
          <a:solidFill>
            <a:srgbClr val="FBEAE6"/>
          </a:solidFill>
          <a:ln/>
        </p:spPr>
      </p:sp>
      <p:sp>
        <p:nvSpPr>
          <p:cNvPr id="31" name="Text 29"/>
          <p:cNvSpPr txBox="1"/>
          <p:nvPr/>
        </p:nvSpPr>
        <p:spPr>
          <a:xfrm>
            <a:off x="1060704" y="4379976"/>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permissionScope</a:t>
            </a:r>
            <a:endParaRPr lang="en-US" sz="1050" dirty="0"/>
          </a:p>
        </p:txBody>
      </p:sp>
      <p:sp>
        <p:nvSpPr>
          <p:cNvPr id="32" name="Text 30"/>
          <p:cNvSpPr txBox="1"/>
          <p:nvPr/>
        </p:nvSpPr>
        <p:spPr>
          <a:xfrm>
            <a:off x="2880360" y="4379976"/>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どこまで操作してよいか</a:t>
            </a:r>
            <a:endParaRPr lang="en-US" sz="1100" dirty="0"/>
          </a:p>
        </p:txBody>
      </p:sp>
      <p:sp>
        <p:nvSpPr>
          <p:cNvPr id="33" name="Text 31"/>
          <p:cNvSpPr txBox="1"/>
          <p:nvPr/>
        </p:nvSpPr>
        <p:spPr>
          <a:xfrm>
            <a:off x="4617720" y="4379976"/>
            <a:ext cx="1271016" cy="493776"/>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拡大は許可外</a:t>
            </a:r>
            <a:endParaRPr lang="en-US" sz="1100" dirty="0"/>
          </a:p>
        </p:txBody>
      </p:sp>
      <p:sp>
        <p:nvSpPr>
          <p:cNvPr id="34" name="Shape 32"/>
          <p:cNvSpPr/>
          <p:nvPr/>
        </p:nvSpPr>
        <p:spPr>
          <a:xfrm>
            <a:off x="6629400" y="1783080"/>
            <a:ext cx="4922215" cy="1417320"/>
          </a:xfrm>
          <a:prstGeom prst="roundRect">
            <a:avLst>
              <a:gd name="adj" fmla="val 5161"/>
            </a:avLst>
          </a:prstGeom>
          <a:solidFill>
            <a:srgbClr val="EDEEF7"/>
          </a:solidFill>
          <a:ln/>
          <a:effectLst>
            <a:outerShdw sx="100000" sy="100000" kx="0" ky="0" algn="bl" rotWithShape="0" blurRad="127000" dist="19050" dir="5400000">
              <a:srgbClr val="2B2F77">
                <a:alpha val="12000"/>
              </a:srgbClr>
            </a:outerShdw>
          </a:effectLst>
        </p:spPr>
      </p:sp>
      <p:sp>
        <p:nvSpPr>
          <p:cNvPr id="35" name="Text 33"/>
          <p:cNvSpPr txBox="1"/>
          <p:nvPr/>
        </p:nvSpPr>
        <p:spPr>
          <a:xfrm>
            <a:off x="6903720" y="2002536"/>
            <a:ext cx="437357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Manifest Version Policy</a:t>
            </a:r>
            <a:endParaRPr lang="en-US" sz="1500" dirty="0"/>
          </a:p>
        </p:txBody>
      </p:sp>
      <p:sp>
        <p:nvSpPr>
          <p:cNvPr id="36" name="Text 34"/>
          <p:cNvSpPr txBox="1"/>
          <p:nvPr/>
        </p:nvSpPr>
        <p:spPr>
          <a:xfrm>
            <a:off x="6903720" y="2404872"/>
            <a:ext cx="4373575" cy="731520"/>
          </a:xfrm>
          <a:prstGeom prst="rect">
            <a:avLst/>
          </a:prstGeom>
          <a:noFill/>
          <a:ln/>
        </p:spPr>
        <p:txBody>
          <a:bodyPr wrap="square" lIns="0" tIns="0" rIns="0" bIns="0" rtlCol="0" anchor="ctr"/>
          <a:lstStyle/>
          <a:p>
            <a:pPr indent="0" marL="0">
              <a:lnSpc>
                <a:spcPts val="1900"/>
              </a:lnSpc>
              <a:buNone/>
            </a:pPr>
            <a:r>
              <a:rPr lang="en-US" sz="1200" dirty="0">
                <a:solidFill>
                  <a:srgbClr val="3A3F63"/>
                </a:solidFill>
                <a:latin typeface="Arial" pitchFamily="34" charset="0"/>
                <a:ea typeface="Arial" pitchFamily="34" charset="-122"/>
                <a:cs typeface="Arial" pitchFamily="34" charset="-120"/>
              </a:rPr>
              <a:t>変更してよい項目のビットマスクと、（項目, 値）の許可リストの Merkle root。どちらもサービスの policyHash に束縛される。</a:t>
            </a:r>
            <a:endParaRPr lang="en-US" sz="1200" dirty="0"/>
          </a:p>
        </p:txBody>
      </p:sp>
      <p:sp>
        <p:nvSpPr>
          <p:cNvPr id="37" name="Shape 35"/>
          <p:cNvSpPr/>
          <p:nvPr/>
        </p:nvSpPr>
        <p:spPr>
          <a:xfrm>
            <a:off x="6629400" y="3383280"/>
            <a:ext cx="4922215" cy="749808"/>
          </a:xfrm>
          <a:prstGeom prst="roundRect">
            <a:avLst>
              <a:gd name="adj" fmla="val 9756"/>
            </a:avLst>
          </a:prstGeom>
          <a:solidFill>
            <a:srgbClr val="00875F"/>
          </a:solidFill>
          <a:ln/>
        </p:spPr>
      </p:sp>
      <p:sp>
        <p:nvSpPr>
          <p:cNvPr id="38" name="Text 36"/>
          <p:cNvSpPr txBox="1"/>
          <p:nvPr/>
        </p:nvSpPr>
        <p:spPr>
          <a:xfrm>
            <a:off x="6903720" y="3383280"/>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モデルを差し替えても、許可された範囲なら実績は残る</a:t>
            </a:r>
            <a:endParaRPr lang="en-US" sz="1300" dirty="0"/>
          </a:p>
        </p:txBody>
      </p:sp>
      <p:sp>
        <p:nvSpPr>
          <p:cNvPr id="39" name="Shape 37"/>
          <p:cNvSpPr/>
          <p:nvPr/>
        </p:nvSpPr>
        <p:spPr>
          <a:xfrm>
            <a:off x="6629400" y="4233672"/>
            <a:ext cx="4922215" cy="749808"/>
          </a:xfrm>
          <a:prstGeom prst="roundRect">
            <a:avLst>
              <a:gd name="adj" fmla="val 9756"/>
            </a:avLst>
          </a:prstGeom>
          <a:solidFill>
            <a:srgbClr val="C0402A"/>
          </a:solidFill>
          <a:ln/>
        </p:spPr>
      </p:sp>
      <p:sp>
        <p:nvSpPr>
          <p:cNvPr id="40" name="Text 38"/>
          <p:cNvSpPr txBox="1"/>
          <p:nvPr/>
        </p:nvSpPr>
        <p:spPr>
          <a:xfrm>
            <a:off x="6903720" y="4233672"/>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許可外の変更は、Agent がそもそも証明を作れない</a:t>
            </a:r>
            <a:endParaRPr lang="en-US" sz="1300" dirty="0"/>
          </a:p>
        </p:txBody>
      </p:sp>
      <p:sp>
        <p:nvSpPr>
          <p:cNvPr id="41" name="Shape 39"/>
          <p:cNvSpPr/>
          <p:nvPr/>
        </p:nvSpPr>
        <p:spPr>
          <a:xfrm>
            <a:off x="640080" y="5230368"/>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42" name="Text 40"/>
          <p:cNvSpPr txBox="1"/>
          <p:nvPr/>
        </p:nvSpPr>
        <p:spPr>
          <a:xfrm>
            <a:off x="914400" y="5230368"/>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manifestCommitment = Hash( modelId , systemPromptHash , toolPolicyHash , permissionScope )</a:t>
            </a:r>
            <a:endParaRPr lang="en-US" sz="1400" dirty="0"/>
          </a:p>
        </p:txBody>
      </p:sp>
      <p:sp>
        <p:nvSpPr>
          <p:cNvPr id="43" name="Text 4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07 ─ デモ</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A・B・C 社が評価した Agent を、D 社が検証する</a:t>
            </a:r>
            <a:endParaRPr lang="en-US" sz="2900" dirty="0"/>
          </a:p>
        </p:txBody>
      </p:sp>
      <p:sp>
        <p:nvSpPr>
          <p:cNvPr id="4" name="Shape 2"/>
          <p:cNvSpPr/>
          <p:nvPr/>
        </p:nvSpPr>
        <p:spPr>
          <a:xfrm>
            <a:off x="640080" y="1664208"/>
            <a:ext cx="10911535" cy="914400"/>
          </a:xfrm>
          <a:prstGeom prst="roundRect">
            <a:avLst>
              <a:gd name="adj" fmla="val 8000"/>
            </a:avLst>
          </a:prstGeom>
          <a:solidFill>
            <a:srgbClr val="2B2F77"/>
          </a:solidFill>
          <a:ln/>
          <a:effectLst>
            <a:outerShdw sx="100000" sy="100000" kx="0" ky="0" algn="bl" rotWithShape="0" blurRad="127000" dist="19050" dir="5400000">
              <a:srgbClr val="2B2F77">
                <a:alpha val="12000"/>
              </a:srgbClr>
            </a:outerShdw>
          </a:effectLst>
        </p:spPr>
      </p:sp>
      <p:sp>
        <p:nvSpPr>
          <p:cNvPr id="5" name="Shape 3"/>
          <p:cNvSpPr/>
          <p:nvPr/>
        </p:nvSpPr>
        <p:spPr>
          <a:xfrm>
            <a:off x="1199693" y="1792224"/>
            <a:ext cx="69129" cy="69129"/>
          </a:xfrm>
          <a:prstGeom prst="ellipse">
            <a:avLst/>
          </a:prstGeom>
          <a:solidFill>
            <a:srgbClr val="00875F"/>
          </a:solidFill>
          <a:ln/>
        </p:spPr>
      </p:sp>
      <p:sp>
        <p:nvSpPr>
          <p:cNvPr id="6" name="Shape 4"/>
          <p:cNvSpPr/>
          <p:nvPr/>
        </p:nvSpPr>
        <p:spPr>
          <a:xfrm>
            <a:off x="1224656" y="1849831"/>
            <a:ext cx="19202" cy="76810"/>
          </a:xfrm>
          <a:prstGeom prst="rect">
            <a:avLst/>
          </a:prstGeom>
          <a:solidFill>
            <a:srgbClr val="FFFFFF"/>
          </a:solidFill>
          <a:ln/>
        </p:spPr>
      </p:sp>
      <p:sp>
        <p:nvSpPr>
          <p:cNvPr id="7" name="Shape 5"/>
          <p:cNvSpPr/>
          <p:nvPr/>
        </p:nvSpPr>
        <p:spPr>
          <a:xfrm>
            <a:off x="976945" y="2014972"/>
            <a:ext cx="42245" cy="99852"/>
          </a:xfrm>
          <a:prstGeom prst="roundRect">
            <a:avLst>
              <a:gd name="adj" fmla="val 64935"/>
            </a:avLst>
          </a:prstGeom>
          <a:solidFill>
            <a:srgbClr val="DFE1F1"/>
          </a:solidFill>
          <a:ln/>
        </p:spPr>
      </p:sp>
      <p:sp>
        <p:nvSpPr>
          <p:cNvPr id="8" name="Shape 6"/>
          <p:cNvSpPr/>
          <p:nvPr/>
        </p:nvSpPr>
        <p:spPr>
          <a:xfrm>
            <a:off x="1445484" y="2014972"/>
            <a:ext cx="42245" cy="99852"/>
          </a:xfrm>
          <a:prstGeom prst="roundRect">
            <a:avLst>
              <a:gd name="adj" fmla="val 64935"/>
            </a:avLst>
          </a:prstGeom>
          <a:solidFill>
            <a:srgbClr val="DFE1F1"/>
          </a:solidFill>
          <a:ln/>
        </p:spPr>
      </p:sp>
      <p:sp>
        <p:nvSpPr>
          <p:cNvPr id="9" name="Shape 7"/>
          <p:cNvSpPr/>
          <p:nvPr/>
        </p:nvSpPr>
        <p:spPr>
          <a:xfrm>
            <a:off x="1015350" y="1918960"/>
            <a:ext cx="430134" cy="337962"/>
          </a:xfrm>
          <a:prstGeom prst="roundRect">
            <a:avLst>
              <a:gd name="adj" fmla="val 15909"/>
            </a:avLst>
          </a:prstGeom>
          <a:solidFill>
            <a:srgbClr val="FFFFFF"/>
          </a:solidFill>
          <a:ln/>
        </p:spPr>
      </p:sp>
      <p:sp>
        <p:nvSpPr>
          <p:cNvPr id="10" name="Shape 8"/>
          <p:cNvSpPr/>
          <p:nvPr/>
        </p:nvSpPr>
        <p:spPr>
          <a:xfrm>
            <a:off x="1115202" y="2011131"/>
            <a:ext cx="65288" cy="65288"/>
          </a:xfrm>
          <a:prstGeom prst="ellipse">
            <a:avLst/>
          </a:prstGeom>
          <a:solidFill>
            <a:srgbClr val="00875F"/>
          </a:solidFill>
          <a:ln/>
        </p:spPr>
      </p:sp>
      <p:sp>
        <p:nvSpPr>
          <p:cNvPr id="11" name="Shape 9"/>
          <p:cNvSpPr/>
          <p:nvPr/>
        </p:nvSpPr>
        <p:spPr>
          <a:xfrm>
            <a:off x="1280343" y="2011131"/>
            <a:ext cx="65288" cy="65288"/>
          </a:xfrm>
          <a:prstGeom prst="ellipse">
            <a:avLst/>
          </a:prstGeom>
          <a:solidFill>
            <a:srgbClr val="00875F"/>
          </a:solidFill>
          <a:ln/>
        </p:spPr>
      </p:sp>
      <p:sp>
        <p:nvSpPr>
          <p:cNvPr id="12" name="Shape 10"/>
          <p:cNvSpPr/>
          <p:nvPr/>
        </p:nvSpPr>
        <p:spPr>
          <a:xfrm>
            <a:off x="1161288" y="2145548"/>
            <a:ext cx="138257" cy="38405"/>
          </a:xfrm>
          <a:prstGeom prst="roundRect">
            <a:avLst>
              <a:gd name="adj" fmla="val 30000"/>
            </a:avLst>
          </a:prstGeom>
          <a:solidFill>
            <a:srgbClr val="2B2F77"/>
          </a:solidFill>
          <a:ln/>
        </p:spPr>
      </p:sp>
      <p:sp>
        <p:nvSpPr>
          <p:cNvPr id="13" name="Shape 11"/>
          <p:cNvSpPr/>
          <p:nvPr/>
        </p:nvSpPr>
        <p:spPr>
          <a:xfrm>
            <a:off x="1207374" y="2256922"/>
            <a:ext cx="46086" cy="38405"/>
          </a:xfrm>
          <a:prstGeom prst="rect">
            <a:avLst/>
          </a:prstGeom>
          <a:solidFill>
            <a:srgbClr val="DFE1F1"/>
          </a:solidFill>
          <a:ln/>
        </p:spPr>
      </p:sp>
      <p:sp>
        <p:nvSpPr>
          <p:cNvPr id="14" name="Shape 12"/>
          <p:cNvSpPr/>
          <p:nvPr/>
        </p:nvSpPr>
        <p:spPr>
          <a:xfrm>
            <a:off x="1084478" y="2291486"/>
            <a:ext cx="291876" cy="145938"/>
          </a:xfrm>
          <a:prstGeom prst="roundRect">
            <a:avLst>
              <a:gd name="adj" fmla="val 26316"/>
            </a:avLst>
          </a:prstGeom>
          <a:solidFill>
            <a:srgbClr val="DFE1F1"/>
          </a:solidFill>
          <a:ln/>
        </p:spPr>
      </p:sp>
      <p:sp>
        <p:nvSpPr>
          <p:cNvPr id="15" name="Text 13"/>
          <p:cNvSpPr txBox="1"/>
          <p:nvPr/>
        </p:nvSpPr>
        <p:spPr>
          <a:xfrm>
            <a:off x="1737360" y="1664208"/>
            <a:ext cx="9448495" cy="914400"/>
          </a:xfrm>
          <a:prstGeom prst="rect">
            <a:avLst/>
          </a:prstGeom>
          <a:noFill/>
          <a:ln/>
        </p:spPr>
        <p:txBody>
          <a:bodyPr wrap="square" lIns="0" tIns="0" rIns="0" bIns="0" rtlCol="0" anchor="ctr"/>
          <a:lstStyle/>
          <a:p>
            <a:pPr indent="0" marL="0">
              <a:lnSpc>
                <a:spcPts val="2400"/>
              </a:lnSpc>
              <a:buNone/>
            </a:pPr>
            <a:r>
              <a:rPr lang="en-US" sz="1400" b="1" dirty="0">
                <a:solidFill>
                  <a:srgbClr val="FFFFFF"/>
                </a:solidFill>
              </a:rPr>
              <a:t>A 社 5 点・B 社 4 点・C 社 5 点 の評価がある travel-agent-01 を、D 社が検証する</a:t>
            </a:r>
            <a:endParaRPr lang="en-US" sz="1400" dirty="0"/>
          </a:p>
          <a:p>
            <a:pPr indent="0" marL="0">
              <a:lnSpc>
                <a:spcPts val="2400"/>
              </a:lnSpc>
              <a:buNone/>
            </a:pPr>
            <a:r>
              <a:rPr lang="en-US" sz="1150" dirty="0">
                <a:solidFill>
                  <a:srgbClr val="DFE1F1"/>
                </a:solidFill>
              </a:rPr>
              <a:t>D 社の Policy は「この領域で 12 点以上・3 件以上・指定した構成のまま」。合計の 14 点は D 社に渡らない。</a:t>
            </a:r>
            <a:endParaRPr lang="en-US" sz="1400" dirty="0"/>
          </a:p>
        </p:txBody>
      </p:sp>
      <p:sp>
        <p:nvSpPr>
          <p:cNvPr id="16" name="Shape 14"/>
          <p:cNvSpPr/>
          <p:nvPr/>
        </p:nvSpPr>
        <p:spPr>
          <a:xfrm>
            <a:off x="640080"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a:off x="896112" y="3026664"/>
            <a:ext cx="384048" cy="384048"/>
          </a:xfrm>
          <a:prstGeom prst="ellipse">
            <a:avLst/>
          </a:prstGeom>
          <a:solidFill>
            <a:srgbClr val="00875F"/>
          </a:solidFill>
          <a:ln/>
        </p:spPr>
      </p:sp>
      <p:sp>
        <p:nvSpPr>
          <p:cNvPr id="18" name="Text 16"/>
          <p:cNvSpPr txBox="1"/>
          <p:nvPr/>
        </p:nvSpPr>
        <p:spPr>
          <a:xfrm>
            <a:off x="896112"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9" name="Text 17"/>
          <p:cNvSpPr txBox="1"/>
          <p:nvPr/>
        </p:nvSpPr>
        <p:spPr>
          <a:xfrm>
            <a:off x="1444752"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中身を見せずに合格する</a:t>
            </a:r>
            <a:endParaRPr lang="en-US" sz="1350" dirty="0"/>
          </a:p>
        </p:txBody>
      </p:sp>
      <p:sp>
        <p:nvSpPr>
          <p:cNvPr id="20" name="Text 18"/>
          <p:cNvSpPr txBox="1"/>
          <p:nvPr/>
        </p:nvSpPr>
        <p:spPr>
          <a:xfrm>
            <a:off x="1444752"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合計点も取引先も渡さずに条件を満たせるか　→　できる</a:t>
            </a:r>
            <a:endParaRPr lang="en-US" sz="1100" dirty="0"/>
          </a:p>
        </p:txBody>
      </p:sp>
      <p:sp>
        <p:nvSpPr>
          <p:cNvPr id="21" name="Shape 19"/>
          <p:cNvSpPr/>
          <p:nvPr/>
        </p:nvSpPr>
        <p:spPr>
          <a:xfrm>
            <a:off x="6278728"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6534760" y="3026664"/>
            <a:ext cx="384048" cy="384048"/>
          </a:xfrm>
          <a:prstGeom prst="ellipse">
            <a:avLst/>
          </a:prstGeom>
          <a:solidFill>
            <a:srgbClr val="C0402A"/>
          </a:solidFill>
          <a:ln/>
        </p:spPr>
      </p:sp>
      <p:sp>
        <p:nvSpPr>
          <p:cNvPr id="23" name="Text 21"/>
          <p:cNvSpPr txBox="1"/>
          <p:nvPr/>
        </p:nvSpPr>
        <p:spPr>
          <a:xfrm>
            <a:off x="6534760"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4" name="Text 22"/>
          <p:cNvSpPr txBox="1"/>
          <p:nvPr/>
        </p:nvSpPr>
        <p:spPr>
          <a:xfrm>
            <a:off x="7083400"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自作自演の高評価を防ぐ</a:t>
            </a:r>
            <a:endParaRPr lang="en-US" sz="1350" dirty="0"/>
          </a:p>
        </p:txBody>
      </p:sp>
      <p:sp>
        <p:nvSpPr>
          <p:cNvPr id="25" name="Text 23"/>
          <p:cNvSpPr txBox="1"/>
          <p:nvPr/>
        </p:nvSpPr>
        <p:spPr>
          <a:xfrm>
            <a:off x="7083400"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同じ取引先の重ね付けで水増しできるか　→　Gateway が弾く</a:t>
            </a:r>
            <a:endParaRPr lang="en-US" sz="1100" dirty="0"/>
          </a:p>
        </p:txBody>
      </p:sp>
      <p:sp>
        <p:nvSpPr>
          <p:cNvPr id="26" name="Shape 24"/>
          <p:cNvSpPr/>
          <p:nvPr/>
        </p:nvSpPr>
        <p:spPr>
          <a:xfrm>
            <a:off x="640080"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896112" y="4114800"/>
            <a:ext cx="384048" cy="384048"/>
          </a:xfrm>
          <a:prstGeom prst="ellipse">
            <a:avLst/>
          </a:prstGeom>
          <a:solidFill>
            <a:srgbClr val="00875F"/>
          </a:solidFill>
          <a:ln/>
        </p:spPr>
      </p:sp>
      <p:sp>
        <p:nvSpPr>
          <p:cNvPr id="28" name="Text 26"/>
          <p:cNvSpPr txBox="1"/>
          <p:nvPr/>
        </p:nvSpPr>
        <p:spPr>
          <a:xfrm>
            <a:off x="896112"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1444752"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モデルを更新しても実績は残る</a:t>
            </a:r>
            <a:endParaRPr lang="en-US" sz="1350" dirty="0"/>
          </a:p>
        </p:txBody>
      </p:sp>
      <p:sp>
        <p:nvSpPr>
          <p:cNvPr id="30" name="Text 28"/>
          <p:cNvSpPr txBox="1"/>
          <p:nvPr/>
        </p:nvSpPr>
        <p:spPr>
          <a:xfrm>
            <a:off x="1444752"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載せ替えた Agent は前の実績を使えるか　→　使える</a:t>
            </a:r>
            <a:endParaRPr lang="en-US" sz="1100" dirty="0"/>
          </a:p>
        </p:txBody>
      </p:sp>
      <p:sp>
        <p:nvSpPr>
          <p:cNvPr id="31" name="Shape 29"/>
          <p:cNvSpPr/>
          <p:nvPr/>
        </p:nvSpPr>
        <p:spPr>
          <a:xfrm>
            <a:off x="6278728"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2" name="Shape 30"/>
          <p:cNvSpPr/>
          <p:nvPr/>
        </p:nvSpPr>
        <p:spPr>
          <a:xfrm>
            <a:off x="6534760" y="4114800"/>
            <a:ext cx="384048" cy="384048"/>
          </a:xfrm>
          <a:prstGeom prst="ellipse">
            <a:avLst/>
          </a:prstGeom>
          <a:solidFill>
            <a:srgbClr val="C0402A"/>
          </a:solidFill>
          <a:ln/>
        </p:spPr>
      </p:sp>
      <p:sp>
        <p:nvSpPr>
          <p:cNvPr id="33" name="Text 31"/>
          <p:cNvSpPr txBox="1"/>
          <p:nvPr/>
        </p:nvSpPr>
        <p:spPr>
          <a:xfrm>
            <a:off x="653476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4" name="Text 32"/>
          <p:cNvSpPr txBox="1"/>
          <p:nvPr/>
        </p:nvSpPr>
        <p:spPr>
          <a:xfrm>
            <a:off x="7083400"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権限をこっそり広げると失格</a:t>
            </a:r>
            <a:endParaRPr lang="en-US" sz="1350" dirty="0"/>
          </a:p>
        </p:txBody>
      </p:sp>
      <p:sp>
        <p:nvSpPr>
          <p:cNvPr id="35" name="Text 33"/>
          <p:cNvSpPr txBox="1"/>
          <p:nvPr/>
        </p:nvSpPr>
        <p:spPr>
          <a:xfrm>
            <a:off x="7083400"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宣言した範囲を勝手に広げたら通るか　→　Agent 側で止まる</a:t>
            </a:r>
            <a:endParaRPr lang="en-US" sz="1100" dirty="0"/>
          </a:p>
        </p:txBody>
      </p:sp>
      <p:sp>
        <p:nvSpPr>
          <p:cNvPr id="36" name="Shape 34"/>
          <p:cNvSpPr/>
          <p:nvPr/>
        </p:nvSpPr>
        <p:spPr>
          <a:xfrm>
            <a:off x="640080"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7" name="Shape 35"/>
          <p:cNvSpPr/>
          <p:nvPr/>
        </p:nvSpPr>
        <p:spPr>
          <a:xfrm>
            <a:off x="896112" y="5202936"/>
            <a:ext cx="384048" cy="384048"/>
          </a:xfrm>
          <a:prstGeom prst="ellipse">
            <a:avLst/>
          </a:prstGeom>
          <a:solidFill>
            <a:srgbClr val="C0402A"/>
          </a:solidFill>
          <a:ln/>
        </p:spPr>
      </p:sp>
      <p:sp>
        <p:nvSpPr>
          <p:cNvPr id="38" name="Text 36"/>
          <p:cNvSpPr txBox="1"/>
          <p:nvPr/>
        </p:nvSpPr>
        <p:spPr>
          <a:xfrm>
            <a:off x="896112"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9" name="Text 37"/>
          <p:cNvSpPr txBox="1"/>
          <p:nvPr/>
        </p:nvSpPr>
        <p:spPr>
          <a:xfrm>
            <a:off x="1444752"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証明のコピーは使えない</a:t>
            </a:r>
            <a:endParaRPr lang="en-US" sz="1350" dirty="0"/>
          </a:p>
        </p:txBody>
      </p:sp>
      <p:sp>
        <p:nvSpPr>
          <p:cNvPr id="40" name="Text 38"/>
          <p:cNvSpPr txBox="1"/>
          <p:nvPr/>
        </p:nvSpPr>
        <p:spPr>
          <a:xfrm>
            <a:off x="1444752"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一度通った証明をもう一度使えるか　→　使えない（nonce）</a:t>
            </a:r>
            <a:endParaRPr lang="en-US" sz="1100" dirty="0"/>
          </a:p>
        </p:txBody>
      </p:sp>
      <p:sp>
        <p:nvSpPr>
          <p:cNvPr id="41" name="Shape 39"/>
          <p:cNvSpPr/>
          <p:nvPr/>
        </p:nvSpPr>
        <p:spPr>
          <a:xfrm>
            <a:off x="6278728"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42" name="Shape 40"/>
          <p:cNvSpPr/>
          <p:nvPr/>
        </p:nvSpPr>
        <p:spPr>
          <a:xfrm>
            <a:off x="6534760" y="5202936"/>
            <a:ext cx="384048" cy="384048"/>
          </a:xfrm>
          <a:prstGeom prst="ellipse">
            <a:avLst/>
          </a:prstGeom>
          <a:solidFill>
            <a:srgbClr val="00875F"/>
          </a:solidFill>
          <a:ln/>
        </p:spPr>
      </p:sp>
      <p:sp>
        <p:nvSpPr>
          <p:cNvPr id="43" name="Text 41"/>
          <p:cNvSpPr txBox="1"/>
          <p:nvPr/>
        </p:nvSpPr>
        <p:spPr>
          <a:xfrm>
            <a:off x="6534760"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44" name="Text 42"/>
          <p:cNvSpPr txBox="1"/>
          <p:nvPr/>
        </p:nvSpPr>
        <p:spPr>
          <a:xfrm>
            <a:off x="7083400"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2 つのサービスが突き合わせても追えない</a:t>
            </a:r>
            <a:endParaRPr lang="en-US" sz="1350" dirty="0"/>
          </a:p>
        </p:txBody>
      </p:sp>
      <p:sp>
        <p:nvSpPr>
          <p:cNvPr id="45" name="Text 43"/>
          <p:cNvSpPr txBox="1"/>
          <p:nvPr/>
        </p:nvSpPr>
        <p:spPr>
          <a:xfrm>
            <a:off x="7083400"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記録を持ち寄れば同じ Agent と分かるか　→　分からない</a:t>
            </a:r>
            <a:endParaRPr lang="en-US" sz="1100" dirty="0"/>
          </a:p>
        </p:txBody>
      </p:sp>
      <p:sp>
        <p:nvSpPr>
          <p:cNvPr id="46" name="Text 4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08 ─ 数字</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Apple Silicon Mac での実測（go run ./cmd/bench -n 20）</a:t>
            </a:r>
            <a:endParaRPr lang="en-US" sz="2900" dirty="0"/>
          </a:p>
        </p:txBody>
      </p:sp>
      <p:sp>
        <p:nvSpPr>
          <p:cNvPr id="4" name="Shape 2"/>
          <p:cNvSpPr/>
          <p:nvPr/>
        </p:nvSpPr>
        <p:spPr>
          <a:xfrm>
            <a:off x="640080" y="1737360"/>
            <a:ext cx="2480996" cy="1143000"/>
          </a:xfrm>
          <a:prstGeom prst="roundRect">
            <a:avLst>
              <a:gd name="adj" fmla="val 6400"/>
            </a:avLst>
          </a:prstGeom>
          <a:solidFill>
            <a:srgbClr val="2B2F77"/>
          </a:solidFill>
          <a:ln/>
          <a:effectLst>
            <a:outerShdw sx="100000" sy="100000" kx="0" ky="0" algn="bl" rotWithShape="0" blurRad="127000" dist="19050" dir="5400000">
              <a:srgbClr val="2B2F77">
                <a:alpha val="12000"/>
              </a:srgbClr>
            </a:outerShdw>
          </a:effectLst>
        </p:spPr>
      </p:sp>
      <p:sp>
        <p:nvSpPr>
          <p:cNvPr id="5" name="Text 3"/>
          <p:cNvSpPr txBox="1"/>
          <p:nvPr/>
        </p:nvSpPr>
        <p:spPr>
          <a:xfrm>
            <a:off x="777240" y="1810512"/>
            <a:ext cx="2206676" cy="621792"/>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28,596</a:t>
            </a:r>
            <a:endParaRPr lang="en-US" sz="3200" dirty="0"/>
          </a:p>
        </p:txBody>
      </p:sp>
      <p:sp>
        <p:nvSpPr>
          <p:cNvPr id="6" name="Text 4"/>
          <p:cNvSpPr txBox="1"/>
          <p:nvPr/>
        </p:nvSpPr>
        <p:spPr>
          <a:xfrm>
            <a:off x="777240" y="2414016"/>
            <a:ext cx="2206676" cy="365760"/>
          </a:xfrm>
          <a:prstGeom prst="rect">
            <a:avLst/>
          </a:prstGeom>
          <a:noFill/>
          <a:ln/>
        </p:spPr>
        <p:txBody>
          <a:bodyPr wrap="square" lIns="0" tIns="0" rIns="0" bIns="0" rtlCol="0" anchor="ctr"/>
          <a:lstStyle/>
          <a:p>
            <a:pPr algn="ctr" indent="0" marL="0">
              <a:buNone/>
            </a:pPr>
            <a:r>
              <a:rPr lang="en-US" sz="1100" dirty="0">
                <a:solidFill>
                  <a:srgbClr val="DFE1F1"/>
                </a:solidFill>
                <a:latin typeface="Arial" pitchFamily="34" charset="0"/>
                <a:ea typeface="Arial" pitchFamily="34" charset="-122"/>
                <a:cs typeface="Arial" pitchFamily="34" charset="-120"/>
              </a:rPr>
              <a:t>制約数（Groth16 / BN254）</a:t>
            </a:r>
            <a:endParaRPr lang="en-US" sz="1100" dirty="0"/>
          </a:p>
        </p:txBody>
      </p:sp>
      <p:sp>
        <p:nvSpPr>
          <p:cNvPr id="7" name="Shape 5"/>
          <p:cNvSpPr/>
          <p:nvPr/>
        </p:nvSpPr>
        <p:spPr>
          <a:xfrm>
            <a:off x="345026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8" name="Text 6"/>
          <p:cNvSpPr txBox="1"/>
          <p:nvPr/>
        </p:nvSpPr>
        <p:spPr>
          <a:xfrm>
            <a:off x="358742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55 ms</a:t>
            </a:r>
            <a:endParaRPr lang="en-US" sz="3200" dirty="0"/>
          </a:p>
        </p:txBody>
      </p:sp>
      <p:sp>
        <p:nvSpPr>
          <p:cNvPr id="9" name="Text 7"/>
          <p:cNvSpPr txBox="1"/>
          <p:nvPr/>
        </p:nvSpPr>
        <p:spPr>
          <a:xfrm>
            <a:off x="358742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証明の生成（中央値）</a:t>
            </a:r>
            <a:endParaRPr lang="en-US" sz="1100" dirty="0"/>
          </a:p>
        </p:txBody>
      </p:sp>
      <p:sp>
        <p:nvSpPr>
          <p:cNvPr id="10" name="Shape 8"/>
          <p:cNvSpPr/>
          <p:nvPr/>
        </p:nvSpPr>
        <p:spPr>
          <a:xfrm>
            <a:off x="626044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1" name="Text 9"/>
          <p:cNvSpPr txBox="1"/>
          <p:nvPr/>
        </p:nvSpPr>
        <p:spPr>
          <a:xfrm>
            <a:off x="639760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&lt; 1 ms</a:t>
            </a:r>
            <a:endParaRPr lang="en-US" sz="3200" dirty="0"/>
          </a:p>
        </p:txBody>
      </p:sp>
      <p:sp>
        <p:nvSpPr>
          <p:cNvPr id="12" name="Text 10"/>
          <p:cNvSpPr txBox="1"/>
          <p:nvPr/>
        </p:nvSpPr>
        <p:spPr>
          <a:xfrm>
            <a:off x="639760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証明の検証</a:t>
            </a:r>
            <a:endParaRPr lang="en-US" sz="1100" dirty="0"/>
          </a:p>
        </p:txBody>
      </p:sp>
      <p:sp>
        <p:nvSpPr>
          <p:cNvPr id="13" name="Shape 11"/>
          <p:cNvSpPr/>
          <p:nvPr/>
        </p:nvSpPr>
        <p:spPr>
          <a:xfrm>
            <a:off x="9070619"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4" name="Text 12"/>
          <p:cNvSpPr txBox="1"/>
          <p:nvPr/>
        </p:nvSpPr>
        <p:spPr>
          <a:xfrm>
            <a:off x="9207779"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164 bytes</a:t>
            </a:r>
            <a:endParaRPr lang="en-US" sz="3200" dirty="0"/>
          </a:p>
        </p:txBody>
      </p:sp>
      <p:sp>
        <p:nvSpPr>
          <p:cNvPr id="15" name="Text 13"/>
          <p:cNvSpPr txBox="1"/>
          <p:nvPr/>
        </p:nvSpPr>
        <p:spPr>
          <a:xfrm>
            <a:off x="9207779"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証明のサイズ</a:t>
            </a:r>
            <a:endParaRPr lang="en-US" sz="1100" dirty="0"/>
          </a:p>
        </p:txBody>
      </p:sp>
      <p:graphicFrame>
        <p:nvGraphicFramePr>
          <p:cNvPr id="16" name="Chart 0" descr=""/>
          <p:cNvGraphicFramePr/>
          <p:nvPr/>
        </p:nvGraphicFramePr>
        <p:xfrm>
          <a:off x="640080" y="310896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6903720" y="3108960"/>
            <a:ext cx="4647895" cy="2743200"/>
          </a:xfrm>
          <a:prstGeom prst="roundRect">
            <a:avLst>
              <a:gd name="adj" fmla="val 2667"/>
            </a:avLst>
          </a:prstGeom>
          <a:solidFill>
            <a:srgbClr val="EDEEF7"/>
          </a:solidFill>
          <a:ln/>
          <a:effectLst>
            <a:outerShdw sx="100000" sy="100000" kx="0" ky="0" algn="bl" rotWithShape="0" blurRad="127000" dist="19050" dir="5400000">
              <a:srgbClr val="2B2F77">
                <a:alpha val="12000"/>
              </a:srgbClr>
            </a:outerShdw>
          </a:effectLst>
        </p:spPr>
      </p:sp>
      <p:sp>
        <p:nvSpPr>
          <p:cNvPr id="18" name="Text 15"/>
          <p:cNvSpPr txBox="1"/>
          <p:nvPr/>
        </p:nvSpPr>
        <p:spPr>
          <a:xfrm>
            <a:off x="7196328" y="3364992"/>
            <a:ext cx="4062679" cy="36576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プライバシーの値段</a:t>
            </a:r>
            <a:endParaRPr lang="en-US" sz="1700" dirty="0"/>
          </a:p>
        </p:txBody>
      </p:sp>
      <p:sp>
        <p:nvSpPr>
          <p:cNvPr id="19" name="Text 16"/>
          <p:cNvSpPr txBox="1"/>
          <p:nvPr/>
        </p:nvSpPr>
        <p:spPr>
          <a:xfrm>
            <a:off x="7196328" y="3840480"/>
            <a:ext cx="4062679" cy="1371600"/>
          </a:xfrm>
          <a:prstGeom prst="rect">
            <a:avLst/>
          </a:prstGeom>
          <a:noFill/>
          <a:ln/>
        </p:spPr>
        <p:txBody>
          <a:bodyPr wrap="square" lIns="0" tIns="0" rIns="0" bIns="0" rtlCol="0" anchor="ctr"/>
          <a:lstStyle/>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3,829 制約 / 17 ms — 公開された証明書に対する閾値証明</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12,570 / 34 ms — Manifest Version Policy を足す</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28,596 / 55 ms — 証明書ごと隠す（Committee 署名を回路内で検証）</a:t>
            </a:r>
            <a:endParaRPr lang="en-US" sz="1250" dirty="0"/>
          </a:p>
        </p:txBody>
      </p:sp>
      <p:sp>
        <p:nvSpPr>
          <p:cNvPr id="20" name="Text 17"/>
          <p:cNvSpPr txBox="1"/>
          <p:nvPr/>
        </p:nvSpPr>
        <p:spPr>
          <a:xfrm>
            <a:off x="7196328" y="5257800"/>
            <a:ext cx="4062679" cy="457200"/>
          </a:xfrm>
          <a:prstGeom prst="rect">
            <a:avLst/>
          </a:prstGeom>
          <a:noFill/>
          <a:ln/>
        </p:spPr>
        <p:txBody>
          <a:bodyPr wrap="square" lIns="0" tIns="0" rIns="0" bIns="0" rtlCol="0" anchor="ctr"/>
          <a:lstStyle/>
          <a:p>
            <a:pPr indent="0" marL="0">
              <a:lnSpc>
                <a:spcPts val="1700"/>
              </a:lnSpc>
              <a:buNone/>
            </a:pPr>
            <a:r>
              <a:rPr lang="en-US" sz="1150" i="1" dirty="0">
                <a:solidFill>
                  <a:srgbClr val="6A6F93"/>
                </a:solidFill>
                <a:latin typeface="Arial" pitchFamily="34" charset="0"/>
                <a:ea typeface="Arial" pitchFamily="34" charset="-122"/>
                <a:cs typeface="Arial" pitchFamily="34" charset="-120"/>
              </a:rPr>
              <a:t>内訳は Committee 署名 2 本が 54%、Version Policy が 24%。MPC は足し算なのでコストはほぼゼロ。</a:t>
            </a:r>
            <a:endParaRPr lang="en-US" sz="1150" dirty="0"/>
          </a:p>
        </p:txBody>
      </p:sp>
      <p:sp>
        <p:nvSpPr>
          <p:cNvPr id="21" name="Text 1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09 ─ 限界</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弱点ではなく、設計判断として言う</a:t>
            </a:r>
            <a:endParaRPr lang="en-US" sz="2900" dirty="0"/>
          </a:p>
        </p:txBody>
      </p:sp>
      <p:sp>
        <p:nvSpPr>
          <p:cNvPr id="4" name="Shape 2"/>
          <p:cNvSpPr/>
          <p:nvPr/>
        </p:nvSpPr>
        <p:spPr>
          <a:xfrm>
            <a:off x="640080" y="1737360"/>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932688" y="2071116"/>
            <a:ext cx="384048" cy="384048"/>
          </a:xfrm>
          <a:prstGeom prst="ellipse">
            <a:avLst/>
          </a:prstGeom>
          <a:solidFill>
            <a:srgbClr val="2B2F77"/>
          </a:solidFill>
          <a:ln/>
        </p:spPr>
      </p:sp>
      <p:sp>
        <p:nvSpPr>
          <p:cNvPr id="6" name="Text 4"/>
          <p:cNvSpPr txBox="1"/>
          <p:nvPr/>
        </p:nvSpPr>
        <p:spPr>
          <a:xfrm>
            <a:off x="932688" y="20711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508760" y="1883664"/>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暗号が守るのはプライバシーであって、信頼ではない</a:t>
            </a:r>
            <a:endParaRPr lang="en-US" sz="1500" dirty="0"/>
          </a:p>
        </p:txBody>
      </p:sp>
      <p:sp>
        <p:nvSpPr>
          <p:cNvPr id="8" name="Text 6"/>
          <p:cNvSpPr txBox="1"/>
          <p:nvPr/>
        </p:nvSpPr>
        <p:spPr>
          <a:xfrm>
            <a:off x="1508760" y="2249424"/>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登録済み Provider が正しい評価を出すことは前提。偽レビュー・Sybil・Issuer との共謀は Gateway の検査でコストを上げるだけで、なくせはしない。</a:t>
            </a:r>
            <a:endParaRPr lang="en-US" sz="1250" dirty="0"/>
          </a:p>
        </p:txBody>
      </p:sp>
      <p:sp>
        <p:nvSpPr>
          <p:cNvPr id="9" name="Shape 7"/>
          <p:cNvSpPr/>
          <p:nvPr/>
        </p:nvSpPr>
        <p:spPr>
          <a:xfrm>
            <a:off x="640080" y="2944368"/>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932688" y="3278124"/>
            <a:ext cx="384048" cy="384048"/>
          </a:xfrm>
          <a:prstGeom prst="ellipse">
            <a:avLst/>
          </a:prstGeom>
          <a:solidFill>
            <a:srgbClr val="2B2F77"/>
          </a:solidFill>
          <a:ln/>
        </p:spPr>
      </p:sp>
      <p:sp>
        <p:nvSpPr>
          <p:cNvPr id="11" name="Text 9"/>
          <p:cNvSpPr txBox="1"/>
          <p:nvPr/>
        </p:nvSpPr>
        <p:spPr>
          <a:xfrm>
            <a:off x="932688" y="32781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1508760" y="3090672"/>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MPC は現構成では限定的</a:t>
            </a:r>
            <a:endParaRPr lang="en-US" sz="1500" dirty="0"/>
          </a:p>
        </p:txBody>
      </p:sp>
      <p:sp>
        <p:nvSpPr>
          <p:cNvPr id="13" name="Text 11"/>
          <p:cNvSpPr txBox="1"/>
          <p:nvPr/>
        </p:nvSpPr>
        <p:spPr>
          <a:xfrm>
            <a:off x="1508760" y="3456432"/>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秘密分散が評価を隠すのは Committee のノードからであって、Gateway からではない。3 ノードは 1 プロセス内の忠実なシミュレーション。</a:t>
            </a:r>
            <a:endParaRPr lang="en-US" sz="1250" dirty="0"/>
          </a:p>
        </p:txBody>
      </p:sp>
      <p:sp>
        <p:nvSpPr>
          <p:cNvPr id="14" name="Shape 12"/>
          <p:cNvSpPr/>
          <p:nvPr/>
        </p:nvSpPr>
        <p:spPr>
          <a:xfrm>
            <a:off x="640080" y="4151376"/>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932688" y="4485132"/>
            <a:ext cx="384048" cy="384048"/>
          </a:xfrm>
          <a:prstGeom prst="ellipse">
            <a:avLst/>
          </a:prstGeom>
          <a:solidFill>
            <a:srgbClr val="2B2F77"/>
          </a:solidFill>
          <a:ln/>
        </p:spPr>
      </p:sp>
      <p:sp>
        <p:nvSpPr>
          <p:cNvPr id="16" name="Text 14"/>
          <p:cNvSpPr txBox="1"/>
          <p:nvPr/>
        </p:nvSpPr>
        <p:spPr>
          <a:xfrm>
            <a:off x="932688" y="44851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508760" y="4297680"/>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残る経路は 1 つ — 現在の manifestCommitment は公開</a:t>
            </a:r>
            <a:endParaRPr lang="en-US" sz="1500" dirty="0"/>
          </a:p>
        </p:txBody>
      </p:sp>
      <p:sp>
        <p:nvSpPr>
          <p:cNvPr id="18" name="Text 16"/>
          <p:cNvSpPr txBox="1"/>
          <p:nvPr/>
        </p:nvSpPr>
        <p:spPr>
          <a:xfrm>
            <a:off x="1508760" y="4663440"/>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Policy が構成を指定する以上、構成のハッシュは出る。同じ製品の Agent 群は同じ値を共有するので、今あるのは「同じ構成のグループ内での匿名性」。</a:t>
            </a:r>
            <a:endParaRPr lang="en-US" sz="1250" dirty="0"/>
          </a:p>
        </p:txBody>
      </p:sp>
      <p:sp>
        <p:nvSpPr>
          <p:cNvPr id="19" name="Shape 17"/>
          <p:cNvSpPr/>
          <p:nvPr/>
        </p:nvSpPr>
        <p:spPr>
          <a:xfrm>
            <a:off x="640080" y="5504688"/>
            <a:ext cx="10911535" cy="713232"/>
          </a:xfrm>
          <a:prstGeom prst="roundRect">
            <a:avLst>
              <a:gd name="adj" fmla="val 10256"/>
            </a:avLst>
          </a:prstGeom>
          <a:solidFill>
            <a:srgbClr val="E2F3EC"/>
          </a:solidFill>
          <a:ln/>
        </p:spPr>
      </p:sp>
      <p:sp>
        <p:nvSpPr>
          <p:cNvPr id="20" name="Text 18"/>
          <p:cNvSpPr txBox="1"/>
          <p:nvPr/>
        </p:nvSpPr>
        <p:spPr>
          <a:xfrm>
            <a:off x="960120" y="5504688"/>
            <a:ext cx="10271455" cy="713232"/>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次は Policy を「許可された Manifest 集合への包含」に変えて最後の経路を閉じる。その先は、Provider が Gateway を経由せず Committee へ直接秘密分散する構成。</a:t>
            </a:r>
            <a:endParaRPr lang="en-US" sz="1300" dirty="0"/>
          </a:p>
        </p:txBody>
      </p:sp>
      <p:sp>
        <p:nvSpPr>
          <p:cNvPr id="21"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603504"/>
            <a:ext cx="10911535" cy="548640"/>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まとめ</a:t>
            </a:r>
            <a:endParaRPr lang="en-US" sz="2900" dirty="0"/>
          </a:p>
        </p:txBody>
      </p:sp>
      <p:sp>
        <p:nvSpPr>
          <p:cNvPr id="3" name="Shape 1"/>
          <p:cNvSpPr/>
          <p:nvPr/>
        </p:nvSpPr>
        <p:spPr>
          <a:xfrm>
            <a:off x="640080" y="1600200"/>
            <a:ext cx="10911535" cy="603504"/>
          </a:xfrm>
          <a:prstGeom prst="roundRect">
            <a:avLst>
              <a:gd name="adj" fmla="val 12121"/>
            </a:avLst>
          </a:prstGeom>
          <a:solidFill>
            <a:srgbClr val="1B1E3D"/>
          </a:solidFill>
          <a:ln/>
        </p:spPr>
      </p:sp>
      <p:sp>
        <p:nvSpPr>
          <p:cNvPr id="4" name="Shape 2"/>
          <p:cNvSpPr/>
          <p:nvPr/>
        </p:nvSpPr>
        <p:spPr>
          <a:xfrm>
            <a:off x="932688" y="1810512"/>
            <a:ext cx="182880" cy="182880"/>
          </a:xfrm>
          <a:prstGeom prst="ellipse">
            <a:avLst/>
          </a:prstGeom>
          <a:solidFill>
            <a:srgbClr val="00875F"/>
          </a:solidFill>
          <a:ln/>
        </p:spPr>
      </p:sp>
      <p:sp>
        <p:nvSpPr>
          <p:cNvPr id="5" name="Text 3"/>
          <p:cNvSpPr txBox="1"/>
          <p:nvPr/>
        </p:nvSpPr>
        <p:spPr>
          <a:xfrm>
            <a:off x="1298448" y="1600200"/>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証明書はサービスに渡らない。渡るのは 164 バイトの証明と公開入力 20 個だけ。</a:t>
            </a:r>
            <a:endParaRPr lang="en-US" sz="1500" dirty="0"/>
          </a:p>
        </p:txBody>
      </p:sp>
      <p:sp>
        <p:nvSpPr>
          <p:cNvPr id="6" name="Shape 4"/>
          <p:cNvSpPr/>
          <p:nvPr/>
        </p:nvSpPr>
        <p:spPr>
          <a:xfrm>
            <a:off x="640080" y="2350008"/>
            <a:ext cx="10911535" cy="603504"/>
          </a:xfrm>
          <a:prstGeom prst="roundRect">
            <a:avLst>
              <a:gd name="adj" fmla="val 12121"/>
            </a:avLst>
          </a:prstGeom>
          <a:solidFill>
            <a:srgbClr val="1B1E3D"/>
          </a:solidFill>
          <a:ln/>
        </p:spPr>
      </p:sp>
      <p:sp>
        <p:nvSpPr>
          <p:cNvPr id="7" name="Shape 5"/>
          <p:cNvSpPr/>
          <p:nvPr/>
        </p:nvSpPr>
        <p:spPr>
          <a:xfrm>
            <a:off x="932688" y="2560320"/>
            <a:ext cx="182880" cy="182880"/>
          </a:xfrm>
          <a:prstGeom prst="ellipse">
            <a:avLst/>
          </a:prstGeom>
          <a:solidFill>
            <a:srgbClr val="00875F"/>
          </a:solidFill>
          <a:ln/>
        </p:spPr>
      </p:sp>
      <p:sp>
        <p:nvSpPr>
          <p:cNvPr id="8" name="Text 6"/>
          <p:cNvSpPr txBox="1"/>
          <p:nvPr/>
        </p:nvSpPr>
        <p:spPr>
          <a:xfrm>
            <a:off x="1298448" y="235000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サービスが得る Agent 固有の値は、そのサービス専用の nullifier ひとつ。</a:t>
            </a:r>
            <a:endParaRPr lang="en-US" sz="1500" dirty="0"/>
          </a:p>
        </p:txBody>
      </p:sp>
      <p:sp>
        <p:nvSpPr>
          <p:cNvPr id="9" name="Shape 7"/>
          <p:cNvSpPr/>
          <p:nvPr/>
        </p:nvSpPr>
        <p:spPr>
          <a:xfrm>
            <a:off x="640080" y="3099816"/>
            <a:ext cx="10911535" cy="603504"/>
          </a:xfrm>
          <a:prstGeom prst="roundRect">
            <a:avLst>
              <a:gd name="adj" fmla="val 12121"/>
            </a:avLst>
          </a:prstGeom>
          <a:solidFill>
            <a:srgbClr val="1B1E3D"/>
          </a:solidFill>
          <a:ln/>
        </p:spPr>
      </p:sp>
      <p:sp>
        <p:nvSpPr>
          <p:cNvPr id="10" name="Shape 8"/>
          <p:cNvSpPr/>
          <p:nvPr/>
        </p:nvSpPr>
        <p:spPr>
          <a:xfrm>
            <a:off x="932688" y="3310128"/>
            <a:ext cx="182880" cy="182880"/>
          </a:xfrm>
          <a:prstGeom prst="ellipse">
            <a:avLst/>
          </a:prstGeom>
          <a:solidFill>
            <a:srgbClr val="00875F"/>
          </a:solidFill>
          <a:ln/>
        </p:spPr>
      </p:sp>
      <p:sp>
        <p:nvSpPr>
          <p:cNvPr id="11" name="Text 9"/>
          <p:cNvSpPr txBox="1"/>
          <p:nvPr/>
        </p:nvSpPr>
        <p:spPr>
          <a:xfrm>
            <a:off x="1298448" y="3099816"/>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モデルやプロンプトを差し替えれば、実績は自動的に引き継がれない。</a:t>
            </a:r>
            <a:endParaRPr lang="en-US" sz="1500" dirty="0"/>
          </a:p>
        </p:txBody>
      </p:sp>
      <p:sp>
        <p:nvSpPr>
          <p:cNvPr id="12" name="Text 10"/>
          <p:cNvSpPr txBox="1"/>
          <p:nvPr/>
        </p:nvSpPr>
        <p:spPr>
          <a:xfrm>
            <a:off x="640080" y="4114800"/>
            <a:ext cx="10911535" cy="731520"/>
          </a:xfrm>
          <a:prstGeom prst="rect">
            <a:avLst/>
          </a:prstGeom>
          <a:noFill/>
          <a:ln/>
        </p:spPr>
        <p:txBody>
          <a:bodyPr wrap="square" lIns="0" tIns="0" rIns="0" bIns="0" rtlCol="0" anchor="ctr"/>
          <a:lstStyle/>
          <a:p>
            <a:pPr algn="ctr" indent="0" marL="0">
              <a:buNone/>
            </a:pPr>
            <a:r>
              <a:rPr lang="en-US" sz="27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2700" dirty="0"/>
          </a:p>
        </p:txBody>
      </p:sp>
      <p:sp>
        <p:nvSpPr>
          <p:cNvPr id="13" name="Text 11"/>
          <p:cNvSpPr txBox="1"/>
          <p:nvPr/>
        </p:nvSpPr>
        <p:spPr>
          <a:xfrm>
            <a:off x="640080" y="5074920"/>
            <a:ext cx="10911535" cy="365760"/>
          </a:xfrm>
          <a:prstGeom prst="rect">
            <a:avLst/>
          </a:prstGeom>
          <a:noFill/>
          <a:ln/>
        </p:spPr>
        <p:txBody>
          <a:bodyPr wrap="square" lIns="0" tIns="0" rIns="0" bIns="0"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github.com/da1suk8/zk-agent-passport</a:t>
            </a:r>
            <a:endParaRPr lang="en-US" sz="1500" dirty="0"/>
          </a:p>
        </p:txBody>
      </p:sp>
      <p:sp>
        <p:nvSpPr>
          <p:cNvPr id="14" name="Text 12"/>
          <p:cNvSpPr txBox="1"/>
          <p:nvPr/>
        </p:nvSpPr>
        <p:spPr>
          <a:xfrm>
            <a:off x="640080" y="5468112"/>
            <a:ext cx="10911535" cy="365760"/>
          </a:xfrm>
          <a:prstGeom prst="rect">
            <a:avLst/>
          </a:prstGeom>
          <a:noFill/>
          <a:ln/>
        </p:spPr>
        <p:txBody>
          <a:bodyPr wrap="square" lIns="0" tIns="0" rIns="0" bIns="0" rtlCol="0" anchor="ctr"/>
          <a:lstStyle/>
          <a:p>
            <a:pPr algn="ctr" indent="0" marL="0">
              <a:buNone/>
            </a:pPr>
            <a:r>
              <a:rPr lang="en-US" sz="1200" dirty="0">
                <a:solidFill>
                  <a:srgbClr val="6A6F93"/>
                </a:solidFill>
                <a:latin typeface="Arial" pitchFamily="34" charset="0"/>
                <a:ea typeface="Arial" pitchFamily="34" charset="-122"/>
                <a:cs typeface="Arial" pitchFamily="34" charset="-120"/>
              </a:rPr>
              <a:t>go run ./cmd/web　でブラウザデモ　·　go test ./...　で 27 ケース　·　go run ./cmd/bench　で計測</a:t>
            </a:r>
            <a:endParaRPr lang="en-US" sz="1200" dirty="0"/>
          </a:p>
        </p:txBody>
      </p:sp>
      <p:sp>
        <p:nvSpPr>
          <p:cNvPr id="15" name="Text 1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2788920"/>
            <a:ext cx="10911535" cy="365760"/>
          </a:xfrm>
          <a:prstGeom prst="rect">
            <a:avLst/>
          </a:prstGeom>
          <a:noFill/>
          <a:ln/>
        </p:spPr>
        <p:txBody>
          <a:bodyPr wrap="square" lIns="0" tIns="0" rIns="0" bIns="0" rtlCol="0" anchor="ctr"/>
          <a:lstStyle/>
          <a:p>
            <a:pPr algn="ctr" indent="0" marL="0">
              <a:buNone/>
            </a:pPr>
            <a:r>
              <a:rPr lang="en-US" sz="1500" b="1" spc="400" kern="0" dirty="0">
                <a:solidFill>
                  <a:srgbClr val="5257AE"/>
                </a:solidFill>
                <a:latin typeface="Arial" pitchFamily="34" charset="0"/>
                <a:ea typeface="Arial" pitchFamily="34" charset="-122"/>
                <a:cs typeface="Arial" pitchFamily="34" charset="-120"/>
              </a:rPr>
              <a:t>BACKUP</a:t>
            </a:r>
            <a:endParaRPr lang="en-US" sz="1500" dirty="0"/>
          </a:p>
        </p:txBody>
      </p:sp>
      <p:sp>
        <p:nvSpPr>
          <p:cNvPr id="3" name="Text 1"/>
          <p:cNvSpPr txBox="1"/>
          <p:nvPr/>
        </p:nvSpPr>
        <p:spPr>
          <a:xfrm>
            <a:off x="640080" y="3246120"/>
            <a:ext cx="1091153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質疑用のスライド</a:t>
            </a:r>
            <a:endParaRPr lang="en-US" sz="3400" dirty="0"/>
          </a:p>
        </p:txBody>
      </p:sp>
      <p:sp>
        <p:nvSpPr>
          <p:cNvPr id="4" name="Text 2"/>
          <p:cNvSpPr txBox="1"/>
          <p:nvPr/>
        </p:nvSpPr>
        <p:spPr>
          <a:xfrm>
            <a:off x="640080" y="4069080"/>
            <a:ext cx="10911535" cy="365760"/>
          </a:xfrm>
          <a:prstGeom prst="rect">
            <a:avLst/>
          </a:prstGeom>
          <a:noFill/>
          <a:ln/>
        </p:spPr>
        <p:txBody>
          <a:bodyPr wrap="square" lIns="0" tIns="0" rIns="0" bIns="0" rtlCol="0" anchor="ctr"/>
          <a:lstStyle/>
          <a:p>
            <a:pPr algn="ctr" indent="0" marL="0">
              <a:buNone/>
            </a:pPr>
            <a:r>
              <a:rPr lang="en-US" sz="1400" dirty="0">
                <a:solidFill>
                  <a:srgbClr val="6A6F93"/>
                </a:solidFill>
                <a:latin typeface="Arial" pitchFamily="34" charset="0"/>
                <a:ea typeface="Arial" pitchFamily="34" charset="-122"/>
                <a:cs typeface="Arial" pitchFamily="34" charset="-120"/>
              </a:rPr>
              <a:t>構成の詳細　·　比較表　·　なぜ ZK か　·　制約の内訳　·　信頼の前提　·　メンターの指摘　·　想定問答</a:t>
            </a:r>
            <a:endParaRPr lang="en-US" sz="1400" dirty="0"/>
          </a:p>
        </p:txBody>
      </p:sp>
      <p:sp>
        <p:nvSpPr>
          <p:cNvPr id="5"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構成の詳細 — ステークホルダーと技術スタック</a:t>
            </a:r>
            <a:endParaRPr lang="en-US" sz="2900" dirty="0"/>
          </a:p>
        </p:txBody>
      </p:sp>
      <p:sp>
        <p:nvSpPr>
          <p:cNvPr id="4" name="Shape 2"/>
          <p:cNvSpPr/>
          <p:nvPr/>
        </p:nvSpPr>
        <p:spPr>
          <a:xfrm>
            <a:off x="640080"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1889150"/>
            <a:ext cx="353324" cy="344912"/>
          </a:xfrm>
          <a:prstGeom prst="roundRect">
            <a:avLst>
              <a:gd name="adj" fmla="val 6098"/>
            </a:avLst>
          </a:prstGeom>
          <a:solidFill>
            <a:srgbClr val="2B2F77"/>
          </a:solidFill>
          <a:ln/>
        </p:spPr>
      </p:sp>
      <p:sp>
        <p:nvSpPr>
          <p:cNvPr id="6" name="Shape 4"/>
          <p:cNvSpPr/>
          <p:nvPr/>
        </p:nvSpPr>
        <p:spPr>
          <a:xfrm>
            <a:off x="1189817" y="1956450"/>
            <a:ext cx="75712" cy="58887"/>
          </a:xfrm>
          <a:prstGeom prst="rect">
            <a:avLst/>
          </a:prstGeom>
          <a:solidFill>
            <a:srgbClr val="EDEEF7"/>
          </a:solidFill>
          <a:ln/>
        </p:spPr>
      </p:sp>
      <p:sp>
        <p:nvSpPr>
          <p:cNvPr id="7" name="Shape 5"/>
          <p:cNvSpPr/>
          <p:nvPr/>
        </p:nvSpPr>
        <p:spPr>
          <a:xfrm>
            <a:off x="1332829" y="1956450"/>
            <a:ext cx="75712" cy="58887"/>
          </a:xfrm>
          <a:prstGeom prst="rect">
            <a:avLst/>
          </a:prstGeom>
          <a:solidFill>
            <a:srgbClr val="EDEEF7"/>
          </a:solidFill>
          <a:ln/>
        </p:spPr>
      </p:sp>
      <p:sp>
        <p:nvSpPr>
          <p:cNvPr id="8" name="Shape 6"/>
          <p:cNvSpPr/>
          <p:nvPr/>
        </p:nvSpPr>
        <p:spPr>
          <a:xfrm>
            <a:off x="1189817" y="2048988"/>
            <a:ext cx="75712" cy="58887"/>
          </a:xfrm>
          <a:prstGeom prst="rect">
            <a:avLst/>
          </a:prstGeom>
          <a:solidFill>
            <a:srgbClr val="EDEEF7"/>
          </a:solidFill>
          <a:ln/>
        </p:spPr>
      </p:sp>
      <p:sp>
        <p:nvSpPr>
          <p:cNvPr id="9" name="Shape 7"/>
          <p:cNvSpPr/>
          <p:nvPr/>
        </p:nvSpPr>
        <p:spPr>
          <a:xfrm>
            <a:off x="1332829" y="2048988"/>
            <a:ext cx="75712" cy="58887"/>
          </a:xfrm>
          <a:prstGeom prst="rect">
            <a:avLst/>
          </a:prstGeom>
          <a:solidFill>
            <a:srgbClr val="EDEEF7"/>
          </a:solidFill>
          <a:ln/>
        </p:spPr>
      </p:sp>
      <p:sp>
        <p:nvSpPr>
          <p:cNvPr id="10" name="Shape 8"/>
          <p:cNvSpPr/>
          <p:nvPr/>
        </p:nvSpPr>
        <p:spPr>
          <a:xfrm>
            <a:off x="1261323" y="2149937"/>
            <a:ext cx="75712" cy="84125"/>
          </a:xfrm>
          <a:prstGeom prst="rect">
            <a:avLst/>
          </a:prstGeom>
          <a:solidFill>
            <a:srgbClr val="EDEEF7"/>
          </a:solidFill>
          <a:ln/>
        </p:spPr>
      </p:sp>
      <p:sp>
        <p:nvSpPr>
          <p:cNvPr id="11" name="Shape 9"/>
          <p:cNvSpPr/>
          <p:nvPr/>
        </p:nvSpPr>
        <p:spPr>
          <a:xfrm>
            <a:off x="1627632" y="1865376"/>
            <a:ext cx="384048" cy="384048"/>
          </a:xfrm>
          <a:prstGeom prst="ellipse">
            <a:avLst/>
          </a:prstGeom>
          <a:solidFill>
            <a:srgbClr val="2B2F77"/>
          </a:solidFill>
          <a:ln/>
        </p:spPr>
      </p:sp>
      <p:sp>
        <p:nvSpPr>
          <p:cNvPr id="12" name="Text 10"/>
          <p:cNvSpPr txBox="1"/>
          <p:nvPr/>
        </p:nvSpPr>
        <p:spPr>
          <a:xfrm>
            <a:off x="1627632"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49808"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Task Provider</a:t>
            </a:r>
            <a:endParaRPr lang="en-US" sz="1200" dirty="0"/>
          </a:p>
        </p:txBody>
      </p:sp>
      <p:sp>
        <p:nvSpPr>
          <p:cNvPr id="14" name="Text 12"/>
          <p:cNvSpPr txBox="1"/>
          <p:nvPr/>
        </p:nvSpPr>
        <p:spPr>
          <a:xfrm>
            <a:off x="768096"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仕事の結果に評価を付けた Receipt を発行する。デモでは A・B・C 社の 3 社。</a:t>
            </a:r>
            <a:endParaRPr lang="en-US" sz="950" dirty="0"/>
          </a:p>
        </p:txBody>
      </p:sp>
      <p:sp>
        <p:nvSpPr>
          <p:cNvPr id="15" name="Text 13"/>
          <p:cNvSpPr txBox="1"/>
          <p:nvPr/>
        </p:nvSpPr>
        <p:spPr>
          <a:xfrm>
            <a:off x="768096"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Ed25519 署名</a:t>
            </a:r>
            <a:endParaRPr lang="en-US" sz="900" dirty="0"/>
          </a:p>
        </p:txBody>
      </p:sp>
      <p:sp>
        <p:nvSpPr>
          <p:cNvPr id="16" name="Shape 14"/>
          <p:cNvSpPr/>
          <p:nvPr/>
        </p:nvSpPr>
        <p:spPr>
          <a:xfrm>
            <a:off x="2506942" y="2596896"/>
            <a:ext cx="365760" cy="292608"/>
          </a:xfrm>
          <a:prstGeom prst="rightArrow">
            <a:avLst/>
          </a:prstGeom>
          <a:solidFill>
            <a:srgbClr val="5257AE"/>
          </a:solidFill>
          <a:ln/>
        </p:spPr>
      </p:sp>
      <p:sp>
        <p:nvSpPr>
          <p:cNvPr id="17" name="Shape 15"/>
          <p:cNvSpPr/>
          <p:nvPr/>
        </p:nvSpPr>
        <p:spPr>
          <a:xfrm>
            <a:off x="2910764"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8" name="Shape 16"/>
          <p:cNvSpPr/>
          <p:nvPr/>
        </p:nvSpPr>
        <p:spPr>
          <a:xfrm rot="10800000">
            <a:off x="3384789" y="1889150"/>
            <a:ext cx="386974" cy="218724"/>
          </a:xfrm>
          <a:prstGeom prst="triangle">
            <a:avLst/>
          </a:prstGeom>
          <a:solidFill>
            <a:srgbClr val="2B2F77"/>
          </a:solidFill>
          <a:ln/>
        </p:spPr>
      </p:sp>
      <p:sp>
        <p:nvSpPr>
          <p:cNvPr id="19" name="Shape 17"/>
          <p:cNvSpPr/>
          <p:nvPr/>
        </p:nvSpPr>
        <p:spPr>
          <a:xfrm>
            <a:off x="3548832" y="2091050"/>
            <a:ext cx="58887" cy="134600"/>
          </a:xfrm>
          <a:prstGeom prst="rect">
            <a:avLst/>
          </a:prstGeom>
          <a:solidFill>
            <a:srgbClr val="2B2F77"/>
          </a:solidFill>
          <a:ln/>
        </p:spPr>
      </p:sp>
      <p:sp>
        <p:nvSpPr>
          <p:cNvPr id="20" name="Shape 18"/>
          <p:cNvSpPr/>
          <p:nvPr/>
        </p:nvSpPr>
        <p:spPr>
          <a:xfrm>
            <a:off x="3898316" y="1865376"/>
            <a:ext cx="384048" cy="384048"/>
          </a:xfrm>
          <a:prstGeom prst="ellipse">
            <a:avLst/>
          </a:prstGeom>
          <a:solidFill>
            <a:srgbClr val="2B2F77"/>
          </a:solidFill>
          <a:ln/>
        </p:spPr>
      </p:sp>
      <p:sp>
        <p:nvSpPr>
          <p:cNvPr id="21" name="Text 19"/>
          <p:cNvSpPr txBox="1"/>
          <p:nvPr/>
        </p:nvSpPr>
        <p:spPr>
          <a:xfrm>
            <a:off x="3898316"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2" name="Text 20"/>
          <p:cNvSpPr txBox="1"/>
          <p:nvPr/>
        </p:nvSpPr>
        <p:spPr>
          <a:xfrm>
            <a:off x="3020492"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p>
        </p:txBody>
      </p:sp>
      <p:sp>
        <p:nvSpPr>
          <p:cNvPr id="23" name="Text 21"/>
          <p:cNvSpPr txBox="1"/>
          <p:nvPr/>
        </p:nvSpPr>
        <p:spPr>
          <a:xfrm>
            <a:off x="3038780"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署名・登録・重複・同一発行者・期限・範囲の 6 つを検査し、評価を分割する。</a:t>
            </a:r>
            <a:endParaRPr lang="en-US" sz="950" dirty="0"/>
          </a:p>
        </p:txBody>
      </p:sp>
      <p:sp>
        <p:nvSpPr>
          <p:cNvPr id="24" name="Text 22"/>
          <p:cNvSpPr txBox="1"/>
          <p:nvPr/>
        </p:nvSpPr>
        <p:spPr>
          <a:xfrm>
            <a:off x="3038780"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3 者の加算的秘密分散</a:t>
            </a:r>
            <a:endParaRPr lang="en-US" sz="900" dirty="0"/>
          </a:p>
        </p:txBody>
      </p:sp>
      <p:sp>
        <p:nvSpPr>
          <p:cNvPr id="25" name="Shape 23"/>
          <p:cNvSpPr/>
          <p:nvPr/>
        </p:nvSpPr>
        <p:spPr>
          <a:xfrm>
            <a:off x="4777626" y="2596896"/>
            <a:ext cx="365760" cy="292608"/>
          </a:xfrm>
          <a:prstGeom prst="rightArrow">
            <a:avLst/>
          </a:prstGeom>
          <a:solidFill>
            <a:srgbClr val="5257AE"/>
          </a:solidFill>
          <a:ln/>
        </p:spPr>
      </p:sp>
      <p:sp>
        <p:nvSpPr>
          <p:cNvPr id="26" name="Shape 24"/>
          <p:cNvSpPr/>
          <p:nvPr/>
        </p:nvSpPr>
        <p:spPr>
          <a:xfrm>
            <a:off x="5181448"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5722772" y="1964863"/>
            <a:ext cx="252374" cy="25237"/>
          </a:xfrm>
          <a:prstGeom prst="rect">
            <a:avLst/>
          </a:prstGeom>
          <a:solidFill>
            <a:srgbClr val="2B2F77"/>
          </a:solidFill>
          <a:ln/>
        </p:spPr>
      </p:sp>
      <p:sp>
        <p:nvSpPr>
          <p:cNvPr id="28" name="Shape 26"/>
          <p:cNvSpPr/>
          <p:nvPr/>
        </p:nvSpPr>
        <p:spPr>
          <a:xfrm>
            <a:off x="5836341" y="1973275"/>
            <a:ext cx="25237" cy="151425"/>
          </a:xfrm>
          <a:prstGeom prst="rect">
            <a:avLst/>
          </a:prstGeom>
          <a:solidFill>
            <a:srgbClr val="2B2F77"/>
          </a:solidFill>
          <a:ln/>
        </p:spPr>
      </p:sp>
      <p:sp>
        <p:nvSpPr>
          <p:cNvPr id="29" name="Shape 27"/>
          <p:cNvSpPr/>
          <p:nvPr/>
        </p:nvSpPr>
        <p:spPr>
          <a:xfrm>
            <a:off x="5655473" y="1905975"/>
            <a:ext cx="126187" cy="126187"/>
          </a:xfrm>
          <a:prstGeom prst="ellipse">
            <a:avLst/>
          </a:prstGeom>
          <a:solidFill>
            <a:srgbClr val="2B2F77"/>
          </a:solidFill>
          <a:ln/>
        </p:spPr>
      </p:sp>
      <p:sp>
        <p:nvSpPr>
          <p:cNvPr id="30" name="Shape 28"/>
          <p:cNvSpPr/>
          <p:nvPr/>
        </p:nvSpPr>
        <p:spPr>
          <a:xfrm>
            <a:off x="5916259" y="1905975"/>
            <a:ext cx="126187" cy="126187"/>
          </a:xfrm>
          <a:prstGeom prst="ellipse">
            <a:avLst/>
          </a:prstGeom>
          <a:solidFill>
            <a:srgbClr val="2B2F77"/>
          </a:solidFill>
          <a:ln/>
        </p:spPr>
      </p:sp>
      <p:sp>
        <p:nvSpPr>
          <p:cNvPr id="31" name="Shape 29"/>
          <p:cNvSpPr/>
          <p:nvPr/>
        </p:nvSpPr>
        <p:spPr>
          <a:xfrm>
            <a:off x="5785866" y="2107875"/>
            <a:ext cx="126187" cy="126187"/>
          </a:xfrm>
          <a:prstGeom prst="ellipse">
            <a:avLst/>
          </a:prstGeom>
          <a:solidFill>
            <a:srgbClr val="00875F"/>
          </a:solidFill>
          <a:ln/>
        </p:spPr>
      </p:sp>
      <p:sp>
        <p:nvSpPr>
          <p:cNvPr id="32" name="Shape 30"/>
          <p:cNvSpPr/>
          <p:nvPr/>
        </p:nvSpPr>
        <p:spPr>
          <a:xfrm>
            <a:off x="6169000" y="1865376"/>
            <a:ext cx="384048" cy="384048"/>
          </a:xfrm>
          <a:prstGeom prst="ellipse">
            <a:avLst/>
          </a:prstGeom>
          <a:solidFill>
            <a:srgbClr val="2B2F77"/>
          </a:solidFill>
          <a:ln/>
        </p:spPr>
      </p:sp>
      <p:sp>
        <p:nvSpPr>
          <p:cNvPr id="33" name="Text 31"/>
          <p:cNvSpPr txBox="1"/>
          <p:nvPr/>
        </p:nvSpPr>
        <p:spPr>
          <a:xfrm>
            <a:off x="6169000"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5291176"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Reputation Committee</a:t>
            </a:r>
            <a:endParaRPr lang="en-US" sz="1200" dirty="0"/>
          </a:p>
        </p:txBody>
      </p:sp>
      <p:sp>
        <p:nvSpPr>
          <p:cNvPr id="35" name="Text 33"/>
          <p:cNvSpPr txBox="1"/>
          <p:nvPr/>
        </p:nvSpPr>
        <p:spPr>
          <a:xfrm>
            <a:off x="5309464"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3 ノードが部分和を出し、2-of-3 で証明書に署名。ノード数は回路の固定値。</a:t>
            </a:r>
            <a:endParaRPr lang="en-US" sz="950" dirty="0"/>
          </a:p>
        </p:txBody>
      </p:sp>
      <p:sp>
        <p:nvSpPr>
          <p:cNvPr id="36" name="Text 34"/>
          <p:cNvSpPr txBox="1"/>
          <p:nvPr/>
        </p:nvSpPr>
        <p:spPr>
          <a:xfrm>
            <a:off x="5309464"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BabyJubJub 上の EdDSA</a:t>
            </a:r>
            <a:endParaRPr lang="en-US" sz="900" dirty="0"/>
          </a:p>
        </p:txBody>
      </p:sp>
      <p:sp>
        <p:nvSpPr>
          <p:cNvPr id="37" name="Shape 35"/>
          <p:cNvSpPr/>
          <p:nvPr/>
        </p:nvSpPr>
        <p:spPr>
          <a:xfrm>
            <a:off x="7048310" y="2596896"/>
            <a:ext cx="365760" cy="292608"/>
          </a:xfrm>
          <a:prstGeom prst="rightArrow">
            <a:avLst/>
          </a:prstGeom>
          <a:solidFill>
            <a:srgbClr val="5257AE"/>
          </a:solidFill>
          <a:ln/>
        </p:spPr>
      </p:sp>
      <p:sp>
        <p:nvSpPr>
          <p:cNvPr id="38" name="Shape 36"/>
          <p:cNvSpPr/>
          <p:nvPr/>
        </p:nvSpPr>
        <p:spPr>
          <a:xfrm>
            <a:off x="7452131" y="1664208"/>
            <a:ext cx="1828800" cy="2212848"/>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9" name="Shape 37"/>
          <p:cNvSpPr/>
          <p:nvPr/>
        </p:nvSpPr>
        <p:spPr>
          <a:xfrm>
            <a:off x="8086725" y="1865376"/>
            <a:ext cx="47732" cy="47732"/>
          </a:xfrm>
          <a:prstGeom prst="ellipse">
            <a:avLst/>
          </a:prstGeom>
          <a:solidFill>
            <a:srgbClr val="00875F"/>
          </a:solidFill>
          <a:ln/>
        </p:spPr>
      </p:sp>
      <p:sp>
        <p:nvSpPr>
          <p:cNvPr id="40" name="Shape 38"/>
          <p:cNvSpPr/>
          <p:nvPr/>
        </p:nvSpPr>
        <p:spPr>
          <a:xfrm>
            <a:off x="8103961" y="1905152"/>
            <a:ext cx="13259" cy="53035"/>
          </a:xfrm>
          <a:prstGeom prst="rect">
            <a:avLst/>
          </a:prstGeom>
          <a:solidFill>
            <a:srgbClr val="FFFFFF"/>
          </a:solidFill>
          <a:ln/>
        </p:spPr>
      </p:sp>
      <p:sp>
        <p:nvSpPr>
          <p:cNvPr id="41" name="Shape 39"/>
          <p:cNvSpPr/>
          <p:nvPr/>
        </p:nvSpPr>
        <p:spPr>
          <a:xfrm>
            <a:off x="7932923" y="2019178"/>
            <a:ext cx="29169" cy="68946"/>
          </a:xfrm>
          <a:prstGeom prst="roundRect">
            <a:avLst>
              <a:gd name="adj" fmla="val 94045"/>
            </a:avLst>
          </a:prstGeom>
          <a:solidFill>
            <a:srgbClr val="DFE1F1"/>
          </a:solidFill>
          <a:ln/>
        </p:spPr>
      </p:sp>
      <p:sp>
        <p:nvSpPr>
          <p:cNvPr id="42" name="Shape 40"/>
          <p:cNvSpPr/>
          <p:nvPr/>
        </p:nvSpPr>
        <p:spPr>
          <a:xfrm>
            <a:off x="8256438" y="2019178"/>
            <a:ext cx="29169" cy="68946"/>
          </a:xfrm>
          <a:prstGeom prst="roundRect">
            <a:avLst>
              <a:gd name="adj" fmla="val 94045"/>
            </a:avLst>
          </a:prstGeom>
          <a:solidFill>
            <a:srgbClr val="DFE1F1"/>
          </a:solidFill>
          <a:ln/>
        </p:spPr>
      </p:sp>
      <p:sp>
        <p:nvSpPr>
          <p:cNvPr id="43" name="Shape 41"/>
          <p:cNvSpPr/>
          <p:nvPr/>
        </p:nvSpPr>
        <p:spPr>
          <a:xfrm>
            <a:off x="7959441" y="1952884"/>
            <a:ext cx="296997" cy="233355"/>
          </a:xfrm>
          <a:prstGeom prst="roundRect">
            <a:avLst>
              <a:gd name="adj" fmla="val 15909"/>
            </a:avLst>
          </a:prstGeom>
          <a:solidFill>
            <a:srgbClr val="FFFFFF"/>
          </a:solidFill>
          <a:ln/>
        </p:spPr>
      </p:sp>
      <p:sp>
        <p:nvSpPr>
          <p:cNvPr id="44" name="Shape 42"/>
          <p:cNvSpPr/>
          <p:nvPr/>
        </p:nvSpPr>
        <p:spPr>
          <a:xfrm>
            <a:off x="8028386" y="2016526"/>
            <a:ext cx="45080" cy="45080"/>
          </a:xfrm>
          <a:prstGeom prst="ellipse">
            <a:avLst/>
          </a:prstGeom>
          <a:solidFill>
            <a:srgbClr val="00875F"/>
          </a:solidFill>
          <a:ln/>
        </p:spPr>
      </p:sp>
      <p:sp>
        <p:nvSpPr>
          <p:cNvPr id="45" name="Shape 43"/>
          <p:cNvSpPr/>
          <p:nvPr/>
        </p:nvSpPr>
        <p:spPr>
          <a:xfrm>
            <a:off x="8142412" y="2016526"/>
            <a:ext cx="45080" cy="45080"/>
          </a:xfrm>
          <a:prstGeom prst="ellipse">
            <a:avLst/>
          </a:prstGeom>
          <a:solidFill>
            <a:srgbClr val="00875F"/>
          </a:solidFill>
          <a:ln/>
        </p:spPr>
      </p:sp>
      <p:sp>
        <p:nvSpPr>
          <p:cNvPr id="46" name="Shape 44"/>
          <p:cNvSpPr/>
          <p:nvPr/>
        </p:nvSpPr>
        <p:spPr>
          <a:xfrm>
            <a:off x="8060207" y="2109338"/>
            <a:ext cx="95463" cy="26518"/>
          </a:xfrm>
          <a:prstGeom prst="roundRect">
            <a:avLst>
              <a:gd name="adj" fmla="val 30000"/>
            </a:avLst>
          </a:prstGeom>
          <a:solidFill>
            <a:srgbClr val="2B2F77"/>
          </a:solidFill>
          <a:ln/>
        </p:spPr>
      </p:sp>
      <p:sp>
        <p:nvSpPr>
          <p:cNvPr id="47" name="Shape 45"/>
          <p:cNvSpPr/>
          <p:nvPr/>
        </p:nvSpPr>
        <p:spPr>
          <a:xfrm>
            <a:off x="8092029" y="2186239"/>
            <a:ext cx="31821" cy="26518"/>
          </a:xfrm>
          <a:prstGeom prst="rect">
            <a:avLst/>
          </a:prstGeom>
          <a:solidFill>
            <a:srgbClr val="DFE1F1"/>
          </a:solidFill>
          <a:ln/>
        </p:spPr>
      </p:sp>
      <p:sp>
        <p:nvSpPr>
          <p:cNvPr id="48" name="Shape 46"/>
          <p:cNvSpPr/>
          <p:nvPr/>
        </p:nvSpPr>
        <p:spPr>
          <a:xfrm>
            <a:off x="8007172" y="2210105"/>
            <a:ext cx="201534" cy="100767"/>
          </a:xfrm>
          <a:prstGeom prst="roundRect">
            <a:avLst>
              <a:gd name="adj" fmla="val 26316"/>
            </a:avLst>
          </a:prstGeom>
          <a:solidFill>
            <a:srgbClr val="DFE1F1"/>
          </a:solidFill>
          <a:ln/>
        </p:spPr>
      </p:sp>
      <p:sp>
        <p:nvSpPr>
          <p:cNvPr id="49" name="Shape 47"/>
          <p:cNvSpPr/>
          <p:nvPr/>
        </p:nvSpPr>
        <p:spPr>
          <a:xfrm>
            <a:off x="8439683" y="1865376"/>
            <a:ext cx="384048" cy="384048"/>
          </a:xfrm>
          <a:prstGeom prst="ellipse">
            <a:avLst/>
          </a:prstGeom>
          <a:solidFill>
            <a:srgbClr val="FFFFFF"/>
          </a:solidFill>
          <a:ln/>
        </p:spPr>
      </p:sp>
      <p:sp>
        <p:nvSpPr>
          <p:cNvPr id="50" name="Text 48"/>
          <p:cNvSpPr txBox="1"/>
          <p:nvPr/>
        </p:nvSpPr>
        <p:spPr>
          <a:xfrm>
            <a:off x="8439683" y="186537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51" name="Text 49"/>
          <p:cNvSpPr txBox="1"/>
          <p:nvPr/>
        </p:nvSpPr>
        <p:spPr>
          <a:xfrm>
            <a:off x="7561859" y="2359152"/>
            <a:ext cx="160934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Agent</a:t>
            </a:r>
            <a:endParaRPr lang="en-US" sz="1200" dirty="0"/>
          </a:p>
        </p:txBody>
      </p:sp>
      <p:sp>
        <p:nvSpPr>
          <p:cNvPr id="52" name="Text 50"/>
          <p:cNvSpPr txBox="1"/>
          <p:nvPr/>
        </p:nvSpPr>
        <p:spPr>
          <a:xfrm>
            <a:off x="7580147"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DFE1F1"/>
                </a:solidFill>
                <a:latin typeface="Arial" pitchFamily="34" charset="0"/>
                <a:ea typeface="Arial" pitchFamily="34" charset="-122"/>
                <a:cs typeface="Arial" pitchFamily="34" charset="-120"/>
              </a:rPr>
              <a:t>agentSecret と Manifest を持ち、証明書を外に出さずに証明だけを作る。</a:t>
            </a:r>
            <a:endParaRPr lang="en-US" sz="950" dirty="0"/>
          </a:p>
        </p:txBody>
      </p:sp>
      <p:sp>
        <p:nvSpPr>
          <p:cNvPr id="53" name="Text 51"/>
          <p:cNvSpPr txBox="1"/>
          <p:nvPr/>
        </p:nvSpPr>
        <p:spPr>
          <a:xfrm>
            <a:off x="7580147" y="3493008"/>
            <a:ext cx="1572768" cy="292608"/>
          </a:xfrm>
          <a:prstGeom prst="rect">
            <a:avLst/>
          </a:prstGeom>
          <a:noFill/>
          <a:ln/>
        </p:spPr>
        <p:txBody>
          <a:bodyPr wrap="square" lIns="0" tIns="0" rIns="0" bIns="0" rtlCol="0" anchor="ctr"/>
          <a:lstStyle/>
          <a:p>
            <a:pPr algn="ctr" indent="0" marL="0">
              <a:buNone/>
            </a:pPr>
            <a:r>
              <a:rPr lang="en-US" sz="900" b="1" dirty="0">
                <a:solidFill>
                  <a:srgbClr val="00875F"/>
                </a:solidFill>
                <a:latin typeface="Arial" pitchFamily="34" charset="0"/>
                <a:ea typeface="Arial" pitchFamily="34" charset="-122"/>
                <a:cs typeface="Arial" pitchFamily="34" charset="-120"/>
              </a:rPr>
              <a:t>Groth16 / BN254（gnark）</a:t>
            </a:r>
            <a:endParaRPr lang="en-US" sz="900" dirty="0"/>
          </a:p>
        </p:txBody>
      </p:sp>
      <p:sp>
        <p:nvSpPr>
          <p:cNvPr id="54" name="Shape 52"/>
          <p:cNvSpPr/>
          <p:nvPr/>
        </p:nvSpPr>
        <p:spPr>
          <a:xfrm>
            <a:off x="9318993" y="2414016"/>
            <a:ext cx="365760" cy="256032"/>
          </a:xfrm>
          <a:prstGeom prst="leftArrow">
            <a:avLst/>
          </a:prstGeom>
          <a:solidFill>
            <a:srgbClr val="6A6F93"/>
          </a:solidFill>
          <a:ln/>
        </p:spPr>
      </p:sp>
      <p:sp>
        <p:nvSpPr>
          <p:cNvPr id="55" name="Shape 53"/>
          <p:cNvSpPr/>
          <p:nvPr/>
        </p:nvSpPr>
        <p:spPr>
          <a:xfrm>
            <a:off x="9318993" y="2779776"/>
            <a:ext cx="365760" cy="256032"/>
          </a:xfrm>
          <a:prstGeom prst="rightArrow">
            <a:avLst/>
          </a:prstGeom>
          <a:solidFill>
            <a:srgbClr val="00875F"/>
          </a:solidFill>
          <a:ln/>
        </p:spPr>
      </p:sp>
      <p:sp>
        <p:nvSpPr>
          <p:cNvPr id="56" name="Shape 54"/>
          <p:cNvSpPr/>
          <p:nvPr/>
        </p:nvSpPr>
        <p:spPr>
          <a:xfrm>
            <a:off x="9722815"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7" name="Shape 55"/>
          <p:cNvSpPr/>
          <p:nvPr/>
        </p:nvSpPr>
        <p:spPr>
          <a:xfrm>
            <a:off x="10213665" y="1889150"/>
            <a:ext cx="353324" cy="344912"/>
          </a:xfrm>
          <a:prstGeom prst="roundRect">
            <a:avLst>
              <a:gd name="adj" fmla="val 6098"/>
            </a:avLst>
          </a:prstGeom>
          <a:solidFill>
            <a:srgbClr val="2B2F77"/>
          </a:solidFill>
          <a:ln/>
        </p:spPr>
      </p:sp>
      <p:sp>
        <p:nvSpPr>
          <p:cNvPr id="58" name="Shape 56"/>
          <p:cNvSpPr/>
          <p:nvPr/>
        </p:nvSpPr>
        <p:spPr>
          <a:xfrm>
            <a:off x="10272552" y="1956450"/>
            <a:ext cx="75712" cy="58887"/>
          </a:xfrm>
          <a:prstGeom prst="rect">
            <a:avLst/>
          </a:prstGeom>
          <a:solidFill>
            <a:srgbClr val="EDEEF7"/>
          </a:solidFill>
          <a:ln/>
        </p:spPr>
      </p:sp>
      <p:sp>
        <p:nvSpPr>
          <p:cNvPr id="59" name="Shape 57"/>
          <p:cNvSpPr/>
          <p:nvPr/>
        </p:nvSpPr>
        <p:spPr>
          <a:xfrm>
            <a:off x="10415565" y="1956450"/>
            <a:ext cx="75712" cy="58887"/>
          </a:xfrm>
          <a:prstGeom prst="rect">
            <a:avLst/>
          </a:prstGeom>
          <a:solidFill>
            <a:srgbClr val="EDEEF7"/>
          </a:solidFill>
          <a:ln/>
        </p:spPr>
      </p:sp>
      <p:sp>
        <p:nvSpPr>
          <p:cNvPr id="60" name="Shape 58"/>
          <p:cNvSpPr/>
          <p:nvPr/>
        </p:nvSpPr>
        <p:spPr>
          <a:xfrm>
            <a:off x="10272552" y="2048988"/>
            <a:ext cx="75712" cy="58887"/>
          </a:xfrm>
          <a:prstGeom prst="rect">
            <a:avLst/>
          </a:prstGeom>
          <a:solidFill>
            <a:srgbClr val="EDEEF7"/>
          </a:solidFill>
          <a:ln/>
        </p:spPr>
      </p:sp>
      <p:sp>
        <p:nvSpPr>
          <p:cNvPr id="61" name="Shape 59"/>
          <p:cNvSpPr/>
          <p:nvPr/>
        </p:nvSpPr>
        <p:spPr>
          <a:xfrm>
            <a:off x="10415565" y="2048988"/>
            <a:ext cx="75712" cy="58887"/>
          </a:xfrm>
          <a:prstGeom prst="rect">
            <a:avLst/>
          </a:prstGeom>
          <a:solidFill>
            <a:srgbClr val="EDEEF7"/>
          </a:solidFill>
          <a:ln/>
        </p:spPr>
      </p:sp>
      <p:sp>
        <p:nvSpPr>
          <p:cNvPr id="62" name="Shape 60"/>
          <p:cNvSpPr/>
          <p:nvPr/>
        </p:nvSpPr>
        <p:spPr>
          <a:xfrm>
            <a:off x="10344059" y="2149937"/>
            <a:ext cx="75712" cy="84125"/>
          </a:xfrm>
          <a:prstGeom prst="rect">
            <a:avLst/>
          </a:prstGeom>
          <a:solidFill>
            <a:srgbClr val="EDEEF7"/>
          </a:solidFill>
          <a:ln/>
        </p:spPr>
      </p:sp>
      <p:sp>
        <p:nvSpPr>
          <p:cNvPr id="63" name="Shape 61"/>
          <p:cNvSpPr/>
          <p:nvPr/>
        </p:nvSpPr>
        <p:spPr>
          <a:xfrm>
            <a:off x="10710367" y="1865376"/>
            <a:ext cx="384048" cy="384048"/>
          </a:xfrm>
          <a:prstGeom prst="ellipse">
            <a:avLst/>
          </a:prstGeom>
          <a:solidFill>
            <a:srgbClr val="2B2F77"/>
          </a:solidFill>
          <a:ln/>
        </p:spPr>
      </p:sp>
      <p:sp>
        <p:nvSpPr>
          <p:cNvPr id="64" name="Text 62"/>
          <p:cNvSpPr txBox="1"/>
          <p:nvPr/>
        </p:nvSpPr>
        <p:spPr>
          <a:xfrm>
            <a:off x="10710367"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5" name="Text 63"/>
          <p:cNvSpPr txBox="1"/>
          <p:nvPr/>
        </p:nvSpPr>
        <p:spPr>
          <a:xfrm>
            <a:off x="9832543"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p>
        </p:txBody>
      </p:sp>
      <p:sp>
        <p:nvSpPr>
          <p:cNvPr id="66" name="Text 64"/>
          <p:cNvSpPr txBox="1"/>
          <p:nvPr/>
        </p:nvSpPr>
        <p:spPr>
          <a:xfrm>
            <a:off x="9850831"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Policy と nonce を発行し、5 つの検査で受理。公開入力は自分で組み立て直す。</a:t>
            </a:r>
            <a:endParaRPr lang="en-US" sz="950" dirty="0"/>
          </a:p>
        </p:txBody>
      </p:sp>
      <p:sp>
        <p:nvSpPr>
          <p:cNvPr id="67" name="Text 65"/>
          <p:cNvSpPr txBox="1"/>
          <p:nvPr/>
        </p:nvSpPr>
        <p:spPr>
          <a:xfrm>
            <a:off x="9850831"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Poseidon2 コミットメント</a:t>
            </a:r>
            <a:endParaRPr lang="en-US" sz="900" dirty="0"/>
          </a:p>
        </p:txBody>
      </p:sp>
      <p:sp>
        <p:nvSpPr>
          <p:cNvPr id="68" name="Shape 66"/>
          <p:cNvSpPr/>
          <p:nvPr/>
        </p:nvSpPr>
        <p:spPr>
          <a:xfrm>
            <a:off x="640080" y="4078224"/>
            <a:ext cx="10911535" cy="749808"/>
          </a:xfrm>
          <a:prstGeom prst="roundRect">
            <a:avLst>
              <a:gd name="adj" fmla="val 9756"/>
            </a:avLst>
          </a:prstGeom>
          <a:solidFill>
            <a:srgbClr val="2B2F77"/>
          </a:solidFill>
          <a:ln/>
          <a:effectLst>
            <a:outerShdw sx="100000" sy="100000" kx="0" ky="0" algn="bl" rotWithShape="0" blurRad="127000" dist="19050" dir="5400000">
              <a:srgbClr val="2B2F77">
                <a:alpha val="12000"/>
              </a:srgbClr>
            </a:outerShdw>
          </a:effectLst>
        </p:spPr>
      </p:sp>
      <p:sp>
        <p:nvSpPr>
          <p:cNvPr id="69" name="Text 67"/>
          <p:cNvSpPr txBox="1"/>
          <p:nvPr/>
        </p:nvSpPr>
        <p:spPr>
          <a:xfrm>
            <a:off x="1005840" y="4078224"/>
            <a:ext cx="10180015" cy="7498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① 署名付き Receipt　→　② 評価の share　→　③ 証明書と開示情報　→　④ Policy と nonce（Service → Agent）　→　⑤ 証明と公開入力 20 個</a:t>
            </a:r>
            <a:endParaRPr lang="en-US" sz="1150" dirty="0"/>
          </a:p>
        </p:txBody>
      </p:sp>
      <p:sp>
        <p:nvSpPr>
          <p:cNvPr id="70" name="Shape 68"/>
          <p:cNvSpPr/>
          <p:nvPr/>
        </p:nvSpPr>
        <p:spPr>
          <a:xfrm>
            <a:off x="640080" y="4983480"/>
            <a:ext cx="10911535" cy="1005840"/>
          </a:xfrm>
          <a:prstGeom prst="roundRect">
            <a:avLst>
              <a:gd name="adj" fmla="val 7273"/>
            </a:avLst>
          </a:prstGeom>
          <a:solidFill>
            <a:srgbClr val="EDEEF7"/>
          </a:solidFill>
          <a:ln/>
        </p:spPr>
      </p:sp>
      <p:sp>
        <p:nvSpPr>
          <p:cNvPr id="71" name="Text 69"/>
          <p:cNvSpPr txBox="1"/>
          <p:nvPr/>
        </p:nvSpPr>
        <p:spPr>
          <a:xfrm>
            <a:off x="1005840" y="4983480"/>
            <a:ext cx="10180015" cy="1005840"/>
          </a:xfrm>
          <a:prstGeom prst="rect">
            <a:avLst/>
          </a:prstGeom>
          <a:noFill/>
          <a:ln/>
        </p:spPr>
        <p:txBody>
          <a:bodyPr wrap="square" lIns="0" tIns="0" rIns="0" bIns="0" rtlCol="0" anchor="ctr"/>
          <a:lstStyle/>
          <a:p>
            <a:pPr indent="0" marL="0">
              <a:lnSpc>
                <a:spcPts val="2200"/>
              </a:lnSpc>
              <a:buNone/>
            </a:pPr>
            <a:r>
              <a:rPr lang="en-US" sz="1200" b="1" dirty="0">
                <a:solidFill>
                  <a:srgbClr val="2B2F77"/>
                </a:solidFill>
              </a:rPr>
              <a:t>証明書は Agent で止まる。⑤ が運ぶのは Groth16 の証明（164 bytes）と公開入力 20 個だけで、証明書・合計点・件数・取引先は含まれない。</a:t>
            </a:r>
            <a:endParaRPr lang="en-US" sz="1200" dirty="0"/>
          </a:p>
          <a:p>
            <a:pPr indent="0" marL="0">
              <a:lnSpc>
                <a:spcPts val="2200"/>
              </a:lnSpc>
              <a:buNone/>
            </a:pPr>
            <a:r>
              <a:rPr lang="en-US" sz="1100" dirty="0">
                <a:solidFill>
                  <a:srgbClr val="3A3F63"/>
                </a:solidFill>
              </a:rPr>
              <a:t>Go 1.25（外部サービス不要）　·　証明系 Groth16 / BN254（gnark）　·　回路内のハッシュとコミットメントは Poseidon2　·　Committee 署名は回路内で検証（チャレンジは MiMC）</a:t>
            </a:r>
            <a:endParaRPr lang="en-US" sz="1200" dirty="0"/>
          </a:p>
        </p:txBody>
      </p:sp>
      <p:sp>
        <p:nvSpPr>
          <p:cNvPr id="72" name="Text 7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既存のやり方と、何が違うのか</a:t>
            </a:r>
            <a:endParaRPr lang="en-US" sz="2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834640"/>
                <a:gridCol w="1371600"/>
                <a:gridCol w="1554480"/>
                <a:gridCol w="1554480"/>
                <a:gridCol w="1920240"/>
                <a:gridCol w="1676095"/>
              </a:tblGrid>
              <a:tr h="60350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方式</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偽装耐性</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取引先の秘匿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合計点の秘匿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構成変更の扱い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サービスごとの条件</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星評価（プラットフォーム）</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引き継がれる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署名付きスコアの公開</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発行元に再依頼</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条件ごとに再発行</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93268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zkAgent Passport</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Policy が範囲を決める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証明書 1 通で対応</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r>
            </a:tbl>
          </a:graphicData>
        </a:graphic>
      </p:graphicFrame>
      <p:sp>
        <p:nvSpPr>
          <p:cNvPr id="5" name="Text 2"/>
          <p:cNvSpPr txBox="1"/>
          <p:nvPr/>
        </p:nvSpPr>
        <p:spPr>
          <a:xfrm>
            <a:off x="640080" y="544068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解いているのは「偽装をなくすこと」ではなく、偽装耐性を保ったまま何も見せないこと。</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なぜ Committee の署名ではなく、ゼロ知識証明なのか</a:t>
            </a:r>
            <a:endParaRPr lang="en-US" sz="2900" dirty="0"/>
          </a:p>
        </p:txBody>
      </p:sp>
      <p:sp>
        <p:nvSpPr>
          <p:cNvPr id="4" name="Shape 2"/>
          <p:cNvSpPr/>
          <p:nvPr/>
        </p:nvSpPr>
        <p:spPr>
          <a:xfrm>
            <a:off x="640080" y="1783080"/>
            <a:ext cx="5250028" cy="3154680"/>
          </a:xfrm>
          <a:prstGeom prst="roundRect">
            <a:avLst>
              <a:gd name="adj" fmla="val 2319"/>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2075688"/>
            <a:ext cx="4609948" cy="411480"/>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Committee が「12 点以上」と署名したら？</a:t>
            </a:r>
            <a:endParaRPr lang="en-US" sz="1600" dirty="0"/>
          </a:p>
        </p:txBody>
      </p:sp>
      <p:sp>
        <p:nvSpPr>
          <p:cNvPr id="6" name="Text 4"/>
          <p:cNvSpPr txBox="1"/>
          <p:nvPr/>
        </p:nvSpPr>
        <p:spPr>
          <a:xfrm>
            <a:off x="960120"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閾値も Version Policy も、サービスごとに違う</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新しい条件が出るたびに Committee へ依頼し直すことになる</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依頼の履歴そのものが、満たしている閾値を漏らす</a:t>
            </a:r>
            <a:endParaRPr lang="en-US" sz="1400" dirty="0"/>
          </a:p>
        </p:txBody>
      </p:sp>
      <p:sp>
        <p:nvSpPr>
          <p:cNvPr id="7" name="Shape 5"/>
          <p:cNvSpPr/>
          <p:nvPr/>
        </p:nvSpPr>
        <p:spPr>
          <a:xfrm>
            <a:off x="6301588" y="1783080"/>
            <a:ext cx="5250028" cy="3154680"/>
          </a:xfrm>
          <a:prstGeom prst="roundRect">
            <a:avLst>
              <a:gd name="adj" fmla="val 2319"/>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2075688"/>
            <a:ext cx="4609948" cy="411480"/>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証明にすると</a:t>
            </a:r>
            <a:endParaRPr lang="en-US" sz="1600" dirty="0"/>
          </a:p>
        </p:txBody>
      </p:sp>
      <p:sp>
        <p:nvSpPr>
          <p:cNvPr id="9" name="Text 7"/>
          <p:cNvSpPr txBox="1"/>
          <p:nvPr/>
        </p:nvSpPr>
        <p:spPr>
          <a:xfrm>
            <a:off x="6621628"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証明書 1 通で、どんな Policy にも Committee 抜きで答えられる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証明は verifierId・nonce・policyHash・期限に束縛される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他サービスへの転用も、別条件への転用も、再送も落ちる</a:t>
            </a:r>
            <a:endParaRPr lang="en-US" sz="1400" dirty="0"/>
          </a:p>
        </p:txBody>
      </p:sp>
      <p:sp>
        <p:nvSpPr>
          <p:cNvPr id="10" name="Text 8"/>
          <p:cNvSpPr txBox="1"/>
          <p:nvPr/>
        </p:nvSpPr>
        <p:spPr>
          <a:xfrm>
            <a:off x="640080" y="53492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「条件がサービスごとに違う」ことが、ZK を必然にしている。</a:t>
            </a:r>
            <a:endParaRPr lang="en-US" sz="1300" dirty="0"/>
          </a:p>
        </p:txBody>
      </p:sp>
      <p:sp>
        <p:nvSpPr>
          <p:cNvPr id="11" name="Text 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制約 28,596 の内訳</a:t>
            </a:r>
            <a:endParaRPr lang="en-US" sz="2900" dirty="0"/>
          </a:p>
        </p:txBody>
      </p:sp>
      <p:graphicFrame>
        <p:nvGraphicFramePr>
          <p:cNvPr id="4" name="Chart 0" descr=""/>
          <p:cNvGraphicFramePr/>
          <p:nvPr/>
        </p:nvGraphicFramePr>
        <p:xfrm>
          <a:off x="640080" y="1737360"/>
          <a:ext cx="777240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823960" y="1737360"/>
            <a:ext cx="2727655" cy="4206240"/>
          </a:xfrm>
          <a:prstGeom prst="roundRect">
            <a:avLst>
              <a:gd name="adj" fmla="val 2682"/>
            </a:avLst>
          </a:prstGeom>
          <a:solidFill>
            <a:srgbClr val="EDEEF7"/>
          </a:solidFill>
          <a:ln/>
          <a:effectLst>
            <a:outerShdw sx="100000" sy="100000" kx="0" ky="0" algn="bl" rotWithShape="0" blurRad="127000" dist="19050" dir="5400000">
              <a:srgbClr val="2B2F77">
                <a:alpha val="12000"/>
              </a:srgbClr>
            </a:outerShdw>
          </a:effectLst>
        </p:spPr>
      </p:sp>
      <p:sp>
        <p:nvSpPr>
          <p:cNvPr id="6" name="Text 3"/>
          <p:cNvSpPr txBox="1"/>
          <p:nvPr/>
        </p:nvSpPr>
        <p:spPr>
          <a:xfrm>
            <a:off x="9098280" y="1993392"/>
            <a:ext cx="2179015" cy="365760"/>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証明書を隠す代償</a:t>
            </a:r>
            <a:endParaRPr lang="en-US" sz="1600" dirty="0"/>
          </a:p>
        </p:txBody>
      </p:sp>
      <p:sp>
        <p:nvSpPr>
          <p:cNvPr id="7" name="Text 4"/>
          <p:cNvSpPr txBox="1"/>
          <p:nvPr/>
        </p:nvSpPr>
        <p:spPr>
          <a:xfrm>
            <a:off x="9098280" y="2468880"/>
            <a:ext cx="2179015"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Committee 署名の回路内検証だけで 54%。証明書をサービスに渡さないための本体。</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Version Policy が 24%。4 項目それぞれに leaf と深さ 4 の Merkle 経路が要る。</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残りはハッシュと開示。範囲比較は 297 制約しかない。</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公開入力は 20 個。Policy 9・challenge 3・鍵セット ID・公開鍵 3 本（各 2 座標）・nullifier。</a:t>
            </a:r>
            <a:endParaRPr lang="en-US" sz="1200" dirty="0"/>
          </a:p>
        </p:txBody>
      </p:sp>
      <p:sp>
        <p:nvSpPr>
          <p:cNvPr id="8" name="Text 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信頼の前提と、対象外にしたもの</a:t>
            </a:r>
            <a:endParaRPr lang="en-US" sz="2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2468880"/>
                <a:gridCol w="3931920"/>
                <a:gridCol w="4510735"/>
              </a:tblGrid>
              <a:tr h="45720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参加者 / 項目</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何を前提にしているか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破られたらどうなるか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Issuer Registry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登録済み Provider は正しい評価を出す</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Input Gateway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正しく 6 つの検査を行う。平文の評価を見る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Gateway が嘘の評価を通せる。Provider → Committee 直接分散で解消できる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Reputation Committee</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semi-honest。3 ノードは 1 プロセス内のシミュレーション</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2 ノード署名は単独発行を防ぐだけ。悪意ある 2 ノードには無力</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Manifest</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束縛するのは宣言であって、実行ではない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宣言どおりに動いた保証はない。Remote Attestation / TEE と組み合わせる領域</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Groth16 setup</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開発専用の単一者セットアップ</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本番には MPC ceremony が要る。失効機構と真の閾値署名も未実装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Text 2"/>
          <p:cNvSpPr txBox="1"/>
          <p:nvPr/>
        </p:nvSpPr>
        <p:spPr>
          <a:xfrm>
            <a:off x="640080" y="55778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暗号が守っているのはプライバシーであって、信頼そのものではない。</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メンターからの指摘と、その回答</a:t>
            </a:r>
            <a:endParaRPr lang="en-US" sz="2900" dirty="0"/>
          </a:p>
        </p:txBody>
      </p:sp>
      <p:sp>
        <p:nvSpPr>
          <p:cNvPr id="4" name="Text 2"/>
          <p:cNvSpPr txBox="1"/>
          <p:nvPr/>
        </p:nvSpPr>
        <p:spPr>
          <a:xfrm>
            <a:off x="640080" y="1609344"/>
            <a:ext cx="10911535" cy="274320"/>
          </a:xfrm>
          <a:prstGeom prst="rect">
            <a:avLst/>
          </a:prstGeom>
          <a:noFill/>
          <a:ln/>
        </p:spPr>
        <p:txBody>
          <a:bodyPr wrap="square" lIns="0" tIns="0" rIns="0" bIns="0" rtlCol="0" anchor="ctr"/>
          <a:lstStyle/>
          <a:p>
            <a:pPr indent="0" marL="0">
              <a:buNone/>
            </a:pPr>
            <a:r>
              <a:rPr lang="en-US" sz="1100" dirty="0">
                <a:solidFill>
                  <a:srgbClr val="6A6F93"/>
                </a:solidFill>
                <a:latin typeface="Arial" pitchFamily="34" charset="0"/>
                <a:ea typeface="Arial" pitchFamily="34" charset="-122"/>
                <a:cs typeface="Arial" pitchFamily="34" charset="-120"/>
              </a:rPr>
              <a:t>zk-tokyo/advanced-cryptography-2026 Issue #124（SeiyaKobayashi さん、2026-08-21）</a:t>
            </a:r>
            <a:endParaRPr lang="en-US" sz="1100" dirty="0"/>
          </a:p>
        </p:txBody>
      </p:sp>
      <p:sp>
        <p:nvSpPr>
          <p:cNvPr id="5" name="Shape 3"/>
          <p:cNvSpPr/>
          <p:nvPr/>
        </p:nvSpPr>
        <p:spPr>
          <a:xfrm>
            <a:off x="640080" y="1965960"/>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6" name="Shape 4"/>
          <p:cNvSpPr/>
          <p:nvPr/>
        </p:nvSpPr>
        <p:spPr>
          <a:xfrm>
            <a:off x="914400" y="2148840"/>
            <a:ext cx="384048" cy="384048"/>
          </a:xfrm>
          <a:prstGeom prst="ellipse">
            <a:avLst/>
          </a:prstGeom>
          <a:solidFill>
            <a:srgbClr val="2B2F77"/>
          </a:solidFill>
          <a:ln/>
        </p:spPr>
      </p:sp>
      <p:sp>
        <p:nvSpPr>
          <p:cNvPr id="7" name="Text 5"/>
          <p:cNvSpPr txBox="1"/>
          <p:nvPr/>
        </p:nvSpPr>
        <p:spPr>
          <a:xfrm>
            <a:off x="914400"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481328" y="2112264"/>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ステークホルダーと技術スタックを明示した構成図が欲しい（発表にも使える）</a:t>
            </a:r>
            <a:endParaRPr lang="en-US" sz="1350" dirty="0"/>
          </a:p>
        </p:txBody>
      </p:sp>
      <p:sp>
        <p:nvSpPr>
          <p:cNvPr id="9" name="Text 7"/>
          <p:cNvSpPr txBox="1"/>
          <p:nvPr/>
        </p:nvSpPr>
        <p:spPr>
          <a:xfrm>
            <a:off x="1481328" y="2496312"/>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Issue 本文と README に Mermaid の構成図を追加した。本編 6 枚目と、直前のバックアップ「構成の詳細」がその図に当たる。</a:t>
            </a:r>
            <a:endParaRPr lang="en-US" sz="1150" dirty="0"/>
          </a:p>
        </p:txBody>
      </p:sp>
      <p:sp>
        <p:nvSpPr>
          <p:cNvPr id="10" name="Shape 8"/>
          <p:cNvSpPr/>
          <p:nvPr/>
        </p:nvSpPr>
        <p:spPr>
          <a:xfrm>
            <a:off x="640080" y="3364992"/>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1" name="Shape 9"/>
          <p:cNvSpPr/>
          <p:nvPr/>
        </p:nvSpPr>
        <p:spPr>
          <a:xfrm>
            <a:off x="914400" y="3547872"/>
            <a:ext cx="384048" cy="384048"/>
          </a:xfrm>
          <a:prstGeom prst="ellipse">
            <a:avLst/>
          </a:prstGeom>
          <a:solidFill>
            <a:srgbClr val="2B2F77"/>
          </a:solidFill>
          <a:ln/>
        </p:spPr>
      </p:sp>
      <p:sp>
        <p:nvSpPr>
          <p:cNvPr id="12" name="Text 10"/>
          <p:cNvSpPr txBox="1"/>
          <p:nvPr/>
        </p:nvSpPr>
        <p:spPr>
          <a:xfrm>
            <a:off x="91440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81328" y="3511296"/>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Agent は Lambda のような単発実行が主流になる。その場合の「Agent の存在単位」は何か</a:t>
            </a:r>
            <a:endParaRPr lang="en-US" sz="1350" dirty="0"/>
          </a:p>
        </p:txBody>
      </p:sp>
      <p:sp>
        <p:nvSpPr>
          <p:cNvPr id="14" name="Text 12"/>
          <p:cNvSpPr txBox="1"/>
          <p:nvPr/>
        </p:nvSpPr>
        <p:spPr>
          <a:xfrm>
            <a:off x="1481328" y="3895344"/>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実行プロセスではなく「agentSecret の保持 × Manifest の宣言」。同じ鍵と同じ Manifest なら単発実行でも同一 Agent として実績が積まれる。cmd/agent prove は 起動 → 環境変数から鍵を読む → 証明 → 終了 で、nonce の状態は Service 側が持つ。常時稼働は前提にしない。</a:t>
            </a:r>
            <a:endParaRPr lang="en-US" sz="1150" dirty="0"/>
          </a:p>
        </p:txBody>
      </p:sp>
      <p:sp>
        <p:nvSpPr>
          <p:cNvPr id="15" name="Shape 13"/>
          <p:cNvSpPr/>
          <p:nvPr/>
        </p:nvSpPr>
        <p:spPr>
          <a:xfrm>
            <a:off x="640080" y="4764024"/>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914400" y="4946904"/>
            <a:ext cx="384048" cy="384048"/>
          </a:xfrm>
          <a:prstGeom prst="ellipse">
            <a:avLst/>
          </a:prstGeom>
          <a:solidFill>
            <a:srgbClr val="2B2F77"/>
          </a:solidFill>
          <a:ln/>
        </p:spPr>
      </p:sp>
      <p:sp>
        <p:nvSpPr>
          <p:cNvPr id="17" name="Text 15"/>
          <p:cNvSpPr txBox="1"/>
          <p:nvPr/>
        </p:nvSpPr>
        <p:spPr>
          <a:xfrm>
            <a:off x="914400" y="4946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81328" y="4910328"/>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ZK + MPC の計算量ボトルネックを定量評価としてスコープに入れるとよい</a:t>
            </a:r>
            <a:endParaRPr lang="en-US" sz="1350" dirty="0"/>
          </a:p>
        </p:txBody>
      </p:sp>
      <p:sp>
        <p:nvSpPr>
          <p:cNvPr id="19" name="Text 17"/>
          <p:cNvSpPr txBox="1"/>
          <p:nvPr/>
        </p:nvSpPr>
        <p:spPr>
          <a:xfrm>
            <a:off x="1481328" y="5294376"/>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Scope に Performance Evaluation を追加し、go run ./cmd/bench で実測した。制約 28,596（Committee 署名 54% / Version Policy 24%）、証明 55 ms、検証 1 ms 未満、164 bytes。MPC は加算的秘密分散なので集計は軽微で、ボトルネックは証明生成側にある。</a:t>
            </a:r>
            <a:endParaRPr lang="en-US" sz="1150" dirty="0"/>
          </a:p>
        </p:txBody>
      </p:sp>
      <p:sp>
        <p:nvSpPr>
          <p:cNvPr id="20" name="Text 1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想定問答</a:t>
            </a:r>
            <a:endParaRPr lang="en-US" sz="2900" dirty="0"/>
          </a:p>
        </p:txBody>
      </p:sp>
      <p:sp>
        <p:nvSpPr>
          <p:cNvPr id="4" name="Shape 2"/>
          <p:cNvSpPr/>
          <p:nvPr/>
        </p:nvSpPr>
        <p:spPr>
          <a:xfrm>
            <a:off x="640080" y="1737360"/>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896112" y="1943100"/>
            <a:ext cx="384048" cy="384048"/>
          </a:xfrm>
          <a:prstGeom prst="ellipse">
            <a:avLst/>
          </a:prstGeom>
          <a:solidFill>
            <a:srgbClr val="2B2F77"/>
          </a:solidFill>
          <a:ln/>
        </p:spPr>
      </p:sp>
      <p:sp>
        <p:nvSpPr>
          <p:cNvPr id="6" name="Text 4"/>
          <p:cNvSpPr txBox="1"/>
          <p:nvPr/>
        </p:nvSpPr>
        <p:spPr>
          <a:xfrm>
            <a:off x="896112" y="19431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7" name="Text 5"/>
          <p:cNvSpPr txBox="1"/>
          <p:nvPr/>
        </p:nvSpPr>
        <p:spPr>
          <a:xfrm>
            <a:off x="1463040" y="1837944"/>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Gateway が平文を見るのに MPC は要るのか</a:t>
            </a:r>
            <a:endParaRPr lang="en-US" sz="1300" dirty="0"/>
          </a:p>
        </p:txBody>
      </p:sp>
      <p:sp>
        <p:nvSpPr>
          <p:cNvPr id="8" name="Text 6"/>
          <p:cNvSpPr txBox="1"/>
          <p:nvPr/>
        </p:nvSpPr>
        <p:spPr>
          <a:xfrm>
            <a:off x="1463040" y="2130552"/>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Committee のノードから個別評価を隠す防御線。将来 Provider が直接秘密分散する構成への布石で、現構成では限定的だと認める。</a:t>
            </a:r>
            <a:endParaRPr lang="en-US" sz="1150" dirty="0"/>
          </a:p>
        </p:txBody>
      </p:sp>
      <p:sp>
        <p:nvSpPr>
          <p:cNvPr id="9" name="Shape 7"/>
          <p:cNvSpPr/>
          <p:nvPr/>
        </p:nvSpPr>
        <p:spPr>
          <a:xfrm>
            <a:off x="640080" y="2670048"/>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896112" y="2875788"/>
            <a:ext cx="384048" cy="384048"/>
          </a:xfrm>
          <a:prstGeom prst="ellipse">
            <a:avLst/>
          </a:prstGeom>
          <a:solidFill>
            <a:srgbClr val="2B2F77"/>
          </a:solidFill>
          <a:ln/>
        </p:spPr>
      </p:sp>
      <p:sp>
        <p:nvSpPr>
          <p:cNvPr id="11" name="Text 9"/>
          <p:cNvSpPr txBox="1"/>
          <p:nvPr/>
        </p:nvSpPr>
        <p:spPr>
          <a:xfrm>
            <a:off x="896112" y="2875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2" name="Text 10"/>
          <p:cNvSpPr txBox="1"/>
          <p:nvPr/>
        </p:nvSpPr>
        <p:spPr>
          <a:xfrm>
            <a:off x="1463040" y="2770632"/>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Lambda のような単発実行で Agent の単位は？</a:t>
            </a:r>
            <a:endParaRPr lang="en-US" sz="1300" dirty="0"/>
          </a:p>
        </p:txBody>
      </p:sp>
      <p:sp>
        <p:nvSpPr>
          <p:cNvPr id="13" name="Text 11"/>
          <p:cNvSpPr txBox="1"/>
          <p:nvPr/>
        </p:nvSpPr>
        <p:spPr>
          <a:xfrm>
            <a:off x="1463040" y="3063240"/>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実行プロセスではなく agentSecret の保持 × Manifest の宣言。cmd/agent prove は起動 → 証明 → 終了。nonce は Service 側が持つ。</a:t>
            </a:r>
            <a:endParaRPr lang="en-US" sz="1150" dirty="0"/>
          </a:p>
        </p:txBody>
      </p:sp>
      <p:sp>
        <p:nvSpPr>
          <p:cNvPr id="14" name="Shape 12"/>
          <p:cNvSpPr/>
          <p:nvPr/>
        </p:nvSpPr>
        <p:spPr>
          <a:xfrm>
            <a:off x="640080" y="3602736"/>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896112" y="3808476"/>
            <a:ext cx="384048" cy="384048"/>
          </a:xfrm>
          <a:prstGeom prst="ellipse">
            <a:avLst/>
          </a:prstGeom>
          <a:solidFill>
            <a:srgbClr val="2B2F77"/>
          </a:solidFill>
          <a:ln/>
        </p:spPr>
      </p:sp>
      <p:sp>
        <p:nvSpPr>
          <p:cNvPr id="16" name="Text 14"/>
          <p:cNvSpPr txBox="1"/>
          <p:nvPr/>
        </p:nvSpPr>
        <p:spPr>
          <a:xfrm>
            <a:off x="896112" y="38084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7" name="Text 15"/>
          <p:cNvSpPr txBox="1"/>
          <p:nvPr/>
        </p:nvSpPr>
        <p:spPr>
          <a:xfrm>
            <a:off x="1463040" y="3703320"/>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Sybil / Review Farming は防げるか</a:t>
            </a:r>
            <a:endParaRPr lang="en-US" sz="1300" dirty="0"/>
          </a:p>
        </p:txBody>
      </p:sp>
      <p:sp>
        <p:nvSpPr>
          <p:cNvPr id="18" name="Text 16"/>
          <p:cNvSpPr txBox="1"/>
          <p:nvPr/>
        </p:nvSpPr>
        <p:spPr>
          <a:xfrm>
            <a:off x="1463040" y="3995928"/>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防げない。Issuer Registry への信頼に依存する。Gateway の検査は同一 Provider の 2 件目などを弾くが、コストを上げるだけ。</a:t>
            </a:r>
            <a:endParaRPr lang="en-US" sz="1150" dirty="0"/>
          </a:p>
        </p:txBody>
      </p:sp>
      <p:sp>
        <p:nvSpPr>
          <p:cNvPr id="19" name="Shape 17"/>
          <p:cNvSpPr/>
          <p:nvPr/>
        </p:nvSpPr>
        <p:spPr>
          <a:xfrm>
            <a:off x="640080" y="4535424"/>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0" name="Shape 18"/>
          <p:cNvSpPr/>
          <p:nvPr/>
        </p:nvSpPr>
        <p:spPr>
          <a:xfrm>
            <a:off x="896112" y="4741164"/>
            <a:ext cx="384048" cy="384048"/>
          </a:xfrm>
          <a:prstGeom prst="ellipse">
            <a:avLst/>
          </a:prstGeom>
          <a:solidFill>
            <a:srgbClr val="2B2F77"/>
          </a:solidFill>
          <a:ln/>
        </p:spPr>
      </p:sp>
      <p:sp>
        <p:nvSpPr>
          <p:cNvPr id="21" name="Text 19"/>
          <p:cNvSpPr txBox="1"/>
          <p:nvPr/>
        </p:nvSpPr>
        <p:spPr>
          <a:xfrm>
            <a:off x="896112" y="47411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2" name="Text 20"/>
          <p:cNvSpPr txBox="1"/>
          <p:nvPr/>
        </p:nvSpPr>
        <p:spPr>
          <a:xfrm>
            <a:off x="1463040" y="4636008"/>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高スコアなら公開したいのでは</a:t>
            </a:r>
            <a:endParaRPr lang="en-US" sz="1300" dirty="0"/>
          </a:p>
        </p:txBody>
      </p:sp>
      <p:sp>
        <p:nvSpPr>
          <p:cNvPr id="23" name="Text 21"/>
          <p:cNvSpPr txBox="1"/>
          <p:nvPr/>
        </p:nvSpPr>
        <p:spPr>
          <a:xfrm>
            <a:off x="1463040" y="4928616"/>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秘匿の主目的は合計点そのものより、取引先の名前と個別の低評価。B2B では実需がある。</a:t>
            </a:r>
            <a:endParaRPr lang="en-US" sz="1150" dirty="0"/>
          </a:p>
        </p:txBody>
      </p:sp>
      <p:sp>
        <p:nvSpPr>
          <p:cNvPr id="24" name="Shape 22"/>
          <p:cNvSpPr/>
          <p:nvPr/>
        </p:nvSpPr>
        <p:spPr>
          <a:xfrm>
            <a:off x="640080" y="5468112"/>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896112" y="5673852"/>
            <a:ext cx="384048" cy="384048"/>
          </a:xfrm>
          <a:prstGeom prst="ellipse">
            <a:avLst/>
          </a:prstGeom>
          <a:solidFill>
            <a:srgbClr val="2B2F77"/>
          </a:solidFill>
          <a:ln/>
        </p:spPr>
      </p:sp>
      <p:sp>
        <p:nvSpPr>
          <p:cNvPr id="26" name="Text 24"/>
          <p:cNvSpPr txBox="1"/>
          <p:nvPr/>
        </p:nvSpPr>
        <p:spPr>
          <a:xfrm>
            <a:off x="896112" y="56738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7" name="Text 25"/>
          <p:cNvSpPr txBox="1"/>
          <p:nvPr/>
        </p:nvSpPr>
        <p:spPr>
          <a:xfrm>
            <a:off x="1463040" y="5568696"/>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実行時に同じモデルが使われている保証は</a:t>
            </a:r>
            <a:endParaRPr lang="en-US" sz="1300" dirty="0"/>
          </a:p>
        </p:txBody>
      </p:sp>
      <p:sp>
        <p:nvSpPr>
          <p:cNvPr id="28" name="Text 26"/>
          <p:cNvSpPr txBox="1"/>
          <p:nvPr/>
        </p:nvSpPr>
        <p:spPr>
          <a:xfrm>
            <a:off x="1463040" y="5861304"/>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無い。Manifest は宣言への束縛で、Remote Attestation は対象外。TEE とは競合ではなく補完関係。</a:t>
            </a:r>
            <a:endParaRPr lang="en-US" sz="1150" dirty="0"/>
          </a:p>
        </p:txBody>
      </p:sp>
      <p:sp>
        <p:nvSpPr>
          <p:cNvPr id="29" name="Text 2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zkAgent Passport</dc:title>
  <dc:subject>PptxGenJS Presentation</dc:subject>
  <dc:creator>Daisuke Iuchi</dc:creator>
  <cp:lastModifiedBy>Daisuke Iuchi</cp:lastModifiedBy>
  <cp:revision>1</cp:revision>
  <dcterms:created xsi:type="dcterms:W3CDTF">2026-09-12T02:35:05Z</dcterms:created>
  <dcterms:modified xsi:type="dcterms:W3CDTF">2026-09-12T02:35:05Z</dcterms:modified>
</cp:coreProperties>
</file>